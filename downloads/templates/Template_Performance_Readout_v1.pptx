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rgbClr val="004F71"/>
            </a:solidFill>
            <a:ln w="31750" cap="flat">
              <a:solidFill>
                <a:srgbClr val="004F7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1"/>
                    </a:solidFill>
                    <a:latin typeface="Hanken Grotesk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4F71"/>
              </a:solidFill>
              <a:ln w="9525" cap="flat">
                <a:solidFill>
                  <a:srgbClr val="004F7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Oct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</c:v>
                  </c:pt>
                  <c:pt idx="4">
                    <c:v>Feb</c:v>
                  </c:pt>
                  <c:pt idx="5">
                    <c:v>Mar</c:v>
                  </c:pt>
                  <c:pt idx="6">
                    <c:v>Apr</c:v>
                  </c:pt>
                  <c:pt idx="7">
                    <c:v>May</c:v>
                  </c:pt>
                  <c:pt idx="8">
                    <c:v>Jun</c:v>
                  </c:pt>
                  <c:pt idx="9">
                    <c:v>Jul</c:v>
                  </c:pt>
                  <c:pt idx="10">
                    <c:v>Aug</c:v>
                  </c:pt>
                  <c:pt idx="11">
                    <c:v>Sep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</c:v>
                </c:pt>
                <c:pt idx="1">
                  <c:v>39</c:v>
                </c:pt>
                <c:pt idx="2">
                  <c:v>38</c:v>
                </c:pt>
                <c:pt idx="3">
                  <c:v>40</c:v>
                </c:pt>
                <c:pt idx="4">
                  <c:v>41</c:v>
                </c:pt>
                <c:pt idx="5">
                  <c:v>40</c:v>
                </c:pt>
                <c:pt idx="6">
                  <c:v>42</c:v>
                </c:pt>
                <c:pt idx="7">
                  <c:v>43</c:v>
                </c:pt>
                <c:pt idx="8">
                  <c:v>43</c:v>
                </c:pt>
                <c:pt idx="9">
                  <c:v>44</c:v>
                </c:pt>
                <c:pt idx="10">
                  <c:v>45</c:v>
                </c:pt>
                <c:pt idx="11">
                  <c:v>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731"/>
                  </a:solidFill>
                  <a:latin typeface="Hanken Grotesk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30"/>
        </c:scaling>
        <c:delete val="0"/>
        <c:axPos val="l"/>
        <c:majorGridlines>
          <c:spPr>
            <a:ln w="6350" cap="flat">
              <a:solidFill>
                <a:srgbClr val="D9D9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rgbClr val="004F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1"/>
                    </a:solidFill>
                    <a:latin typeface="Hanken Grotes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Q4 '24</c:v>
                  </c:pt>
                  <c:pt idx="1">
                    <c:v>Q1 '25</c:v>
                  </c:pt>
                  <c:pt idx="2">
                    <c:v>Q2 '25</c:v>
                  </c:pt>
                  <c:pt idx="3">
                    <c:v>Q3 '25</c:v>
                  </c:pt>
                  <c:pt idx="4">
                    <c:v>Q4 '25</c:v>
                  </c:pt>
                  <c:pt idx="5">
                    <c:v>Q1 '26</c:v>
                  </c:pt>
                  <c:pt idx="6">
                    <c:v>Q2 '26</c:v>
                  </c:pt>
                  <c:pt idx="7">
                    <c:v>Q3 '26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112</c:v>
                </c:pt>
                <c:pt idx="1">
                  <c:v>118</c:v>
                </c:pt>
                <c:pt idx="2">
                  <c:v>121</c:v>
                </c:pt>
                <c:pt idx="3">
                  <c:v>119</c:v>
                </c:pt>
                <c:pt idx="4">
                  <c:v>131</c:v>
                </c:pt>
                <c:pt idx="5">
                  <c:v>138</c:v>
                </c:pt>
                <c:pt idx="6">
                  <c:v>142</c:v>
                </c:pt>
                <c:pt idx="7">
                  <c:v>155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731"/>
                  </a:solidFill>
                  <a:latin typeface="Hanken Grotes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64CCC9"/>
          </a:solidFill>
          <a:ln w="9525">
            <a:solidFill>
              <a:srgbClr val="64CCC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Template · lorem ipsum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Performance Readout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 exercitation ullamco laboris nisi ut aliquip.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B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TPL-PERFORMANCE-01 · STORY-PERF-01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[Audience] · [Month Year] · Owner: [Name]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TO USE THIS TEMPLATE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ways to turn this template into your deck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Performance Readout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HOW-TO · delete before sharing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/ 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754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A · EDIT BY HAND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Replace every lorem ipsum line and dummy number with your content.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Keep the layouts. Delete slides you have no evidence for.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Put real screenshots behind the grey phone screens.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47548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B · USE YOUR AI TOOL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Attach cx-presentation-system.md, then write: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8463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ECECEA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892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7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 TPL-PERFORMANCE-01 with STORY-PERF-01. Here is my objective, audience and data: …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178308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SLIDE SEQUENCE IN THIS TEMPLATE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214884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148840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402775" y="21488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2478024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77840" y="247802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478024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Performance at a glance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402775" y="247802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SLD-KPI-GRID-01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2807208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77840" y="280720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2807208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KPI / metric overview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402775" y="28072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SLD-KPI-TREND-01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3136392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77840" y="313639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3136392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Trend over time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402775" y="313639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SLD-CHART-FOCUS-01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3465576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77840" y="346557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35040" y="3465576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Key drivers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402775" y="34655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3794760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77840" y="379476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035040" y="3794760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Areas of opportunity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402775" y="37947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SLD-MATRIX-01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77840" y="4123944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577840" y="412394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035040" y="4123944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Recommendations / next steps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402775" y="41239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SLD-RECOMMEND-01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5577840" y="6172200"/>
            <a:ext cx="6156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All copy is lorem ipsum and every number is dummy data.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Elit sed do eiusmod tempor incididunt ut labore 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Performance Readout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/ 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57621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025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9397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2084832"/>
            <a:ext cx="2433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CONTEXT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60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42%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4290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 exercitation ullamco laboris nisi.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07738" y="1783080"/>
            <a:ext cx="357621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82058" y="20025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2093976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176418" y="2084832"/>
            <a:ext cx="2433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FINDING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582058" y="2560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 of 5</a:t>
            </a:r>
            <a:endParaRPr lang="en-US" sz="4200" dirty="0"/>
          </a:p>
        </p:txBody>
      </p:sp>
      <p:sp>
        <p:nvSpPr>
          <p:cNvPr id="18" name="Text 14"/>
          <p:cNvSpPr txBox="1"/>
          <p:nvPr/>
        </p:nvSpPr>
        <p:spPr>
          <a:xfrm>
            <a:off x="4582058" y="34290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 minim veniam quis nostrud exercitation ullamco laboris nisi ut aliquip ex ea commodo consequat duis.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158277" y="1783080"/>
            <a:ext cx="357621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32597" y="20025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093976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26957" y="2084832"/>
            <a:ext cx="2433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IMPACT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32597" y="2560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+18 pts</a:t>
            </a:r>
            <a:endParaRPr lang="en-US" sz="4200" dirty="0"/>
          </a:p>
        </p:txBody>
      </p:sp>
      <p:sp>
        <p:nvSpPr>
          <p:cNvPr id="24" name="Text 19"/>
          <p:cNvSpPr txBox="1"/>
          <p:nvPr/>
        </p:nvSpPr>
        <p:spPr>
          <a:xfrm>
            <a:off x="8432597" y="34290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 commodo consequat duis aute irure dolor in reprehenderit in voluptate.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457200" y="4846320"/>
            <a:ext cx="11277295" cy="1234440"/>
          </a:xfrm>
          <a:prstGeom prst="roundRect">
            <a:avLst>
              <a:gd name="adj" fmla="val 7407"/>
            </a:avLst>
          </a:prstGeom>
          <a:solidFill>
            <a:srgbClr val="002A3A"/>
          </a:solidFill>
          <a:ln w="9525">
            <a:solidFill>
              <a:srgbClr val="002A3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1520" y="5230368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64CCC9"/>
          </a:solidFill>
          <a:ln w="9525">
            <a:solidFill>
              <a:srgbClr val="64CCC9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31520" y="52303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2194560" y="4846320"/>
            <a:ext cx="9052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 curabitur pretium tincidunt lacus nulla gravida orci a odio nullam varius turpis et commodo pharetra est.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PERFORMANCE AT A GLANCE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Laboris nisi ut aliquip ex ea commodo consequat duis aute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Performance Readout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SLD-KPI-GRID-01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/ 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13584" cy="310896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57400"/>
            <a:ext cx="206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Lorem ipsum rate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97480"/>
            <a:ext cx="206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46%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31520" y="359359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657600"/>
            <a:ext cx="219456" cy="2194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15568" y="35935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069080"/>
            <a:ext cx="206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34% → 46% vs baseline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345104" y="1783080"/>
            <a:ext cx="2613584" cy="310896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19424" y="2057400"/>
            <a:ext cx="206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Dolor sit time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3619424" y="2697480"/>
            <a:ext cx="206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–18 days</a:t>
            </a:r>
            <a:endParaRPr lang="en-US" sz="3200" dirty="0"/>
          </a:p>
        </p:txBody>
      </p:sp>
      <p:sp>
        <p:nvSpPr>
          <p:cNvPr id="17" name="Shape 14"/>
          <p:cNvSpPr/>
          <p:nvPr/>
        </p:nvSpPr>
        <p:spPr>
          <a:xfrm>
            <a:off x="3619424" y="359359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864" y="3657600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003472" y="35935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Down (better)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3619424" y="4069080"/>
            <a:ext cx="206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41 → 23 days, median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233008" y="1783080"/>
            <a:ext cx="2613584" cy="310896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07328" y="2057400"/>
            <a:ext cx="206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Amet steps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6507328" y="2697480"/>
            <a:ext cx="206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 → 2</a:t>
            </a:r>
            <a:endParaRPr lang="en-US" sz="3200" dirty="0"/>
          </a:p>
        </p:txBody>
      </p:sp>
      <p:sp>
        <p:nvSpPr>
          <p:cNvPr id="24" name="Shape 20"/>
          <p:cNvSpPr/>
          <p:nvPr/>
        </p:nvSpPr>
        <p:spPr>
          <a:xfrm>
            <a:off x="6507328" y="359359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3657600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891376" y="35935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Down (better)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6507328" y="4069080"/>
            <a:ext cx="206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Consectetur adipiscing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9120911" y="1783080"/>
            <a:ext cx="2613584" cy="310896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395231" y="2057400"/>
            <a:ext cx="206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Elit satisfaction</a:t>
            </a:r>
            <a:endParaRPr lang="en-US" sz="1350" dirty="0"/>
          </a:p>
        </p:txBody>
      </p:sp>
      <p:sp>
        <p:nvSpPr>
          <p:cNvPr id="30" name="Text 25"/>
          <p:cNvSpPr txBox="1"/>
          <p:nvPr/>
        </p:nvSpPr>
        <p:spPr>
          <a:xfrm>
            <a:off x="9395231" y="2697480"/>
            <a:ext cx="206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4.5</a:t>
            </a:r>
            <a:endParaRPr lang="en-US" sz="3200" dirty="0"/>
          </a:p>
        </p:txBody>
      </p:sp>
      <p:sp>
        <p:nvSpPr>
          <p:cNvPr id="31" name="Shape 26"/>
          <p:cNvSpPr/>
          <p:nvPr/>
        </p:nvSpPr>
        <p:spPr>
          <a:xfrm>
            <a:off x="9395231" y="359359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3657600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779279" y="35935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9395231" y="4069080"/>
            <a:ext cx="206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3.9 → 4.5 out of 5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457200" y="5120640"/>
            <a:ext cx="11277295" cy="1005840"/>
          </a:xfrm>
          <a:prstGeom prst="roundRect">
            <a:avLst>
              <a:gd name="adj" fmla="val 10909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731520" y="512064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Definitions  </a:t>
            </a:r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 sit amet consectetur adipiscing elit sed do eiusmod tempor incididunt ut labore et dolore magna aliqua ut enim ad minim.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KPI / METRIC 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Fugiat nulla pariatur excepteur sint occaecat cupidatat non proident sunt 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Performance Readout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SLD-KPI-TREND-01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/ 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926080" cy="43434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LOREM IPSUM RATE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23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46%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493008"/>
            <a:ext cx="219456" cy="2194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15568" y="34290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 6 pts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9776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Q3 2026 vs Q3 2025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 proident sunt in culpa qui officia deserunt mollit anim id est.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657600" y="1783080"/>
            <a:ext cx="51663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3192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Monthly lorem ipsum rate, %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840480" y="2331720"/>
          <a:ext cx="4846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3"/>
          <p:cNvSpPr/>
          <p:nvPr/>
        </p:nvSpPr>
        <p:spPr>
          <a:xfrm>
            <a:off x="9098280" y="1783080"/>
            <a:ext cx="2636215" cy="4343400"/>
          </a:xfrm>
          <a:prstGeom prst="roundRect">
            <a:avLst>
              <a:gd name="adj" fmla="val 4162"/>
            </a:avLst>
          </a:prstGeom>
          <a:solidFill>
            <a:srgbClr val="004F71"/>
          </a:solidFill>
          <a:ln w="9525">
            <a:solidFill>
              <a:srgbClr val="004F7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37260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INSIGHT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9372600" y="23774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Tempor incididunt ut labore et dolore magna aliqua ut enim ad minim.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937260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9372600" y="45262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Sint occaecat cupidatat non proident sunt in culpa qui officia deserunt mollit anim id.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TREND OVER TIME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Pretium tincidunt lacus nulla gravida orci a odio nullam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Performance Readout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SLD-CHART-FOCUS-01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/ 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78638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Lorem ipsum volume by quarter, thousands</a:t>
            </a:r>
            <a:endParaRPr lang="en-US" sz="10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2331720"/>
          <a:ext cx="74980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595360" y="1783080"/>
            <a:ext cx="3139135" cy="4343400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869680" y="2103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+38%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886968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since Q4 2024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869680" y="342900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64CCC9"/>
          </a:solidFill>
          <a:ln w="9525">
            <a:solidFill>
              <a:srgbClr val="64CCC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69680" y="34290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869680" y="388620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 et commodo pharetra est eros bibendum elit nec luctus magna felis sollicitudin mauris integer in mauris eu nibh euismod gravida.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KEY DRIVERS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Felis sollicitudin mauris integer in mauris eu nibh euismod gravida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Performance Readout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/ 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234794"/>
            <a:ext cx="395021" cy="39502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DRIVER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Exercitation ullamco laboris nisi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Dolor sit amet consectetur adipiscing elit sed do eiusmod tempor incididunt ut labore et dolore magna aliqua ut enim ad minim veniam quis nostrud exercitation ullamco laboris nisi ut aliquip.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07738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27778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2234794"/>
            <a:ext cx="395021" cy="39502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27778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DRIVER 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627778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Qui officia deserunt mollit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4627778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Ut aliquip ex ea commodo consequat duis aute irure dolor in reprehenderit in voluptate velit esse cillum dolore eu fugiat nulla pariatur excepteur sint occaecat cupidatat non proident sunt in.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158277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78317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990" y="2234794"/>
            <a:ext cx="395021" cy="39502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78317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DRIVER 3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78317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Mauris eu nibh euismod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8478317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Sunt in culpa qui officia deserunt mollit anim id est laborum curabitur pretium tincidunt lacus nulla gravida orci a odio nullam varius turpis et commodo pharetra est eros bibendum elit.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AREAS OF OPPORTUNITY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Tempor incididunt ut labore et dolore magna aliqua ut enim 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Performance Readout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SLD-MATRIX-01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 / 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5840" y="1783080"/>
            <a:ext cx="65836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801368"/>
            <a:ext cx="3273552" cy="2061972"/>
          </a:xfrm>
          <a:prstGeom prst="roundRect">
            <a:avLst>
              <a:gd name="adj" fmla="val 4435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783080"/>
            <a:ext cx="0" cy="416052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863340"/>
            <a:ext cx="6583680" cy="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Quick wins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Big bets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0005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Fill-ins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0005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Deprioritize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 rot="16200000">
            <a:off x="411480" y="37261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IMPACT ↑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6035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EFFORT →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08022" y="2432304"/>
            <a:ext cx="365760" cy="365760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08022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27248" y="2973172"/>
            <a:ext cx="365760" cy="365760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27248" y="2973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31536" y="2349094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31536" y="23490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66390" y="4512564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66390" y="45125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68189" y="4262933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68189" y="426293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21578" y="5011826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21578" y="501182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2194560"/>
            <a:ext cx="329184" cy="329184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503920" y="21579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046720" y="2834640"/>
            <a:ext cx="329184" cy="329184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503920" y="27980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046720" y="3474720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46720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503920" y="34381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 proident sunt in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 ea commodo consequat duis aute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046720" y="4114800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4672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503920" y="40782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laborum curabitur pretium tincidunt lacus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046720" y="4754880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46720" y="4754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503920" y="47183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Ipsum dolor sit amet consectetur adipiscing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046720" y="5394960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4672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503920" y="53583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Duis aute irure dolor in reprehenderit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RECOMMENDATIONS / NEXT STEPS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 ea commodo consequat duis aute irure dolor 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Performance Readout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SLD-RECOMMEND-01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09 / 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77295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57400"/>
            <a:ext cx="420624" cy="420624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00253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Labore et dolore magna aliqua ut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40487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 pariatur excepteur sint occaecat cupidatat non proident sunt in culpa qui officia deserunt mollit anim id est laborum curabitur pretium.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357055" y="2258568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57055" y="22585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Evidence: slide 03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11277295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520440"/>
            <a:ext cx="420624" cy="420624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655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 voluptate velit esse cillum dolore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6791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Felis sollicitudin mauris integer in mauris eu nibh euismod gravida lorem ipsum dolor sit amet consectetur adipiscing elit sed do eiusmod tempor.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357055" y="3721608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57055" y="3721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Evidence: slide 04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709160"/>
            <a:ext cx="11277295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983480"/>
            <a:ext cx="420624" cy="420624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2861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Pretium tincidunt lacus nulla gravida orci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3095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 ea commodo consequat duis aute irure dolor in reprehenderit in voluptate velit esse cillum dolore eu fugiat nulla pariatur excepteur sint.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357055" y="5184648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57055" y="5184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Evidence: slide 05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Readout — template</dc:title>
  <dc:subject>PptxGenJS Presentation</dc:subject>
  <dc:creator>CX Presentation System</dc:creator>
  <cp:lastModifiedBy>CX Presentation System</cp:lastModifiedBy>
  <cp:revision>1</cp:revision>
  <dcterms:created xsi:type="dcterms:W3CDTF">2026-09-26T00:59:38Z</dcterms:created>
  <dcterms:modified xsi:type="dcterms:W3CDTF">2026-09-26T00:59:38Z</dcterms:modified>
</cp:coreProperties>
</file>