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9.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Rate</c:v>
                </c:pt>
              </c:strCache>
            </c:strRef>
          </c:tx>
          <c:spPr>
            <a:solidFill>
              <a:srgbClr val="004F71"/>
            </a:solidFill>
            <a:effectLst/>
          </c:spPr>
          <c:invertIfNegative val="0"/>
          <c:dLbls>
            <c:numFmt formatCode="0.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Control</c:v>
                  </c:pt>
                  <c:pt idx="1">
                    <c:v>Variant</c:v>
                  </c:pt>
                </c:lvl>
              </c:multiLvlStrCache>
            </c:multiLvlStrRef>
          </c:cat>
          <c:val>
            <c:numRef>
              <c:f>Sheet1!$B$2:$B$3</c:f>
              <c:numCache>
                <c:formatCode>General</c:formatCode>
                <c:ptCount val="2"/>
                <c:pt idx="0">
                  <c:v>10.2</c:v>
                </c:pt>
                <c:pt idx="1">
                  <c:v>12.9</c:v>
                </c:pt>
              </c:numCache>
            </c:numRef>
          </c:val>
        </c:ser>
        <c:dLbls>
          <c:numFmt formatCode="0.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15"/>
          <c:min val="0"/>
        </c:scaling>
        <c:delete val="0"/>
        <c:axPos val="b"/>
        <c:majorGridlines>
          <c:spPr>
            <a:ln w="6350" cap="flat">
              <a:solidFill>
                <a:srgbClr val="D9D9D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Lorem</c:v>
                </c:pt>
              </c:strCache>
            </c:strRef>
          </c:tx>
          <c:spPr>
            <a:solidFill>
              <a:srgbClr val="004F71"/>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Sheet1!$B$2:$B$3</c:f>
              <c:numCache>
                <c:formatCode>General</c:formatCode>
                <c:ptCount val="2"/>
                <c:pt idx="0">
                  <c:v>34</c:v>
                </c:pt>
                <c:pt idx="1">
                  <c:v>46</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A3A"/>
        </a:solidFill>
      </p:bgPr>
    </p:bg>
    <p:spTree>
      <p:nvGrpSpPr>
        <p:cNvPr id="1" name=""/>
        <p:cNvGrpSpPr/>
        <p:nvPr/>
      </p:nvGrpSpPr>
      <p:grpSpPr>
        <a:xfrm>
          <a:off x="0" y="0"/>
          <a:ext cx="0" cy="0"/>
          <a:chOff x="0" y="0"/>
          <a:chExt cx="0" cy="0"/>
        </a:xfrm>
      </p:grpSpPr>
      <p:sp>
        <p:nvSpPr>
          <p:cNvPr id="2" name="Shape 0"/>
          <p:cNvSpPr/>
          <p:nvPr/>
        </p:nvSpPr>
        <p:spPr>
          <a:xfrm>
            <a:off x="457200" y="1234440"/>
            <a:ext cx="2286000" cy="365760"/>
          </a:xfrm>
          <a:prstGeom prst="roundRect">
            <a:avLst>
              <a:gd name="adj" fmla="val 20000"/>
            </a:avLst>
          </a:prstGeom>
          <a:solidFill>
            <a:srgbClr val="64CCC9"/>
          </a:solidFill>
          <a:ln w="9525">
            <a:solidFill>
              <a:srgbClr val="64CCC9"/>
            </a:solidFill>
            <a:prstDash val="solid"/>
          </a:ln>
        </p:spPr>
      </p:sp>
      <p:sp>
        <p:nvSpPr>
          <p:cNvPr id="3" name="Text 1"/>
          <p:cNvSpPr txBox="1"/>
          <p:nvPr/>
        </p:nvSpPr>
        <p:spPr>
          <a:xfrm>
            <a:off x="457200" y="1234440"/>
            <a:ext cx="2286000" cy="36576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Template · lorem ipsum</a:t>
            </a:r>
            <a:endParaRPr lang="en-US" sz="1050" dirty="0"/>
          </a:p>
        </p:txBody>
      </p:sp>
      <p:sp>
        <p:nvSpPr>
          <p:cNvPr id="4" name="Text 2"/>
          <p:cNvSpPr txBox="1"/>
          <p:nvPr/>
        </p:nvSpPr>
        <p:spPr>
          <a:xfrm>
            <a:off x="457200" y="1783080"/>
            <a:ext cx="10972800" cy="1463040"/>
          </a:xfrm>
          <a:prstGeom prst="rect">
            <a:avLst/>
          </a:prstGeom>
          <a:noFill/>
          <a:ln/>
        </p:spPr>
        <p:txBody>
          <a:bodyPr wrap="square" lIns="0" tIns="0" rIns="0" bIns="0" rtlCol="0" anchor="t"/>
          <a:lstStyle/>
          <a:p>
            <a:pPr indent="0" marL="0">
              <a:buNone/>
            </a:pPr>
            <a:r>
              <a:rPr lang="en-US" sz="4400" b="1" dirty="0">
                <a:solidFill>
                  <a:srgbClr val="FFFFFF"/>
                </a:solidFill>
                <a:latin typeface="Bricolage Grotesque" pitchFamily="34" charset="0"/>
                <a:ea typeface="Bricolage Grotesque" pitchFamily="34" charset="-122"/>
                <a:cs typeface="Bricolage Grotesque" pitchFamily="34" charset="-120"/>
              </a:rPr>
              <a:t>Experiment Readout · Mixed</a:t>
            </a:r>
            <a:endParaRPr lang="en-US" sz="4400" dirty="0"/>
          </a:p>
        </p:txBody>
      </p:sp>
      <p:sp>
        <p:nvSpPr>
          <p:cNvPr id="5" name="Text 3"/>
          <p:cNvSpPr txBox="1"/>
          <p:nvPr/>
        </p:nvSpPr>
        <p:spPr>
          <a:xfrm>
            <a:off x="457200" y="3383280"/>
            <a:ext cx="7863840" cy="914400"/>
          </a:xfrm>
          <a:prstGeom prst="rect">
            <a:avLst/>
          </a:prstGeom>
          <a:noFill/>
          <a:ln/>
        </p:spPr>
        <p:txBody>
          <a:bodyPr wrap="square" lIns="0" tIns="0" rIns="0" bIns="0" rtlCol="0" anchor="t"/>
          <a:lstStyle/>
          <a:p>
            <a:pPr indent="0" marL="0">
              <a:buNone/>
            </a:pPr>
            <a:r>
              <a:rPr lang="en-US" sz="1800" dirty="0">
                <a:solidFill>
                  <a:srgbClr val="CCEBF8"/>
                </a:solidFill>
                <a:latin typeface="Hanken Grotesk" pitchFamily="34" charset="0"/>
                <a:ea typeface="Hanken Grotesk" pitchFamily="34" charset="-122"/>
                <a:cs typeface="Hanken Grotesk" pitchFamily="34" charset="-120"/>
              </a:rPr>
              <a:t>Labore et dolore magna aliqua ut enim ad minim veniam quis nostrud exercitation ullamco laboris nisi ut aliquip.</a:t>
            </a:r>
            <a:endParaRPr lang="en-US" sz="1800" dirty="0"/>
          </a:p>
        </p:txBody>
      </p:sp>
      <p:sp>
        <p:nvSpPr>
          <p:cNvPr id="6" name="Text 4"/>
          <p:cNvSpPr txBox="1"/>
          <p:nvPr/>
        </p:nvSpPr>
        <p:spPr>
          <a:xfrm>
            <a:off x="457200" y="4572000"/>
            <a:ext cx="7315200" cy="320040"/>
          </a:xfrm>
          <a:prstGeom prst="rect">
            <a:avLst/>
          </a:prstGeom>
          <a:noFill/>
          <a:ln/>
        </p:spPr>
        <p:txBody>
          <a:bodyPr wrap="square" lIns="0" tIns="0" rIns="0" bIns="0" rtlCol="0" anchor="t"/>
          <a:lstStyle/>
          <a:p>
            <a:pPr indent="0" marL="0">
              <a:buNone/>
            </a:pPr>
            <a:r>
              <a:rPr lang="en-US" sz="1200" dirty="0">
                <a:solidFill>
                  <a:srgbClr val="CCEBF8"/>
                </a:solidFill>
                <a:latin typeface="IBM Plex Mono" pitchFamily="34" charset="0"/>
                <a:ea typeface="IBM Plex Mono" pitchFamily="34" charset="-122"/>
                <a:cs typeface="IBM Plex Mono" pitchFamily="34" charset="-120"/>
              </a:rPr>
              <a:t>TPL-EXPERIMENT-01 · STORY-EXP-01</a:t>
            </a:r>
            <a:endParaRPr lang="en-US" sz="1200" dirty="0"/>
          </a:p>
        </p:txBody>
      </p:sp>
      <p:sp>
        <p:nvSpPr>
          <p:cNvPr id="7" name="Text 5"/>
          <p:cNvSpPr txBox="1"/>
          <p:nvPr/>
        </p:nvSpPr>
        <p:spPr>
          <a:xfrm>
            <a:off x="457200" y="5989320"/>
            <a:ext cx="7315200" cy="320040"/>
          </a:xfrm>
          <a:prstGeom prst="rect">
            <a:avLst/>
          </a:prstGeom>
          <a:noFill/>
          <a:ln/>
        </p:spPr>
        <p:txBody>
          <a:bodyPr wrap="square" lIns="0" tIns="0" rIns="0" bIns="0" rtlCol="0" anchor="t"/>
          <a:lstStyle/>
          <a:p>
            <a:pPr indent="0" marL="0">
              <a:buNone/>
            </a:pPr>
            <a:r>
              <a:rPr lang="en-US" sz="1350" dirty="0">
                <a:solidFill>
                  <a:srgbClr val="CCEBF8"/>
                </a:solidFill>
                <a:latin typeface="Hanken Grotesk" pitchFamily="34" charset="0"/>
                <a:ea typeface="Hanken Grotesk" pitchFamily="34" charset="-122"/>
                <a:cs typeface="Hanken Grotesk" pitchFamily="34" charset="-120"/>
              </a:rPr>
              <a:t>[Audience] · [Month Year] · Owner: [Name]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HOW TO USE THIS TEMPLATE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Two ways to turn this template into your deck</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HOW-TO · delete before sharing</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02 / 11</a:t>
            </a:r>
            <a:endParaRPr lang="en-US" sz="1050" dirty="0"/>
          </a:p>
        </p:txBody>
      </p:sp>
      <p:sp>
        <p:nvSpPr>
          <p:cNvPr id="7" name="Shape 5"/>
          <p:cNvSpPr/>
          <p:nvPr/>
        </p:nvSpPr>
        <p:spPr>
          <a:xfrm>
            <a:off x="457200" y="1783080"/>
            <a:ext cx="4754880" cy="2011680"/>
          </a:xfrm>
          <a:prstGeom prst="roundRect">
            <a:avLst>
              <a:gd name="adj" fmla="val 5455"/>
            </a:avLst>
          </a:prstGeom>
          <a:solidFill>
            <a:srgbClr val="FFFFFF"/>
          </a:solidFill>
          <a:ln w="9525">
            <a:solidFill>
              <a:srgbClr val="D9D9D6"/>
            </a:solidFill>
            <a:prstDash val="solid"/>
          </a:ln>
        </p:spPr>
      </p:sp>
      <p:sp>
        <p:nvSpPr>
          <p:cNvPr id="8" name="Text 6"/>
          <p:cNvSpPr txBox="1"/>
          <p:nvPr/>
        </p:nvSpPr>
        <p:spPr>
          <a:xfrm>
            <a:off x="731520" y="2011680"/>
            <a:ext cx="420624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OPTION A · EDIT BY HAND</a:t>
            </a:r>
            <a:endParaRPr lang="en-US" sz="1050" dirty="0"/>
          </a:p>
        </p:txBody>
      </p:sp>
      <p:sp>
        <p:nvSpPr>
          <p:cNvPr id="9" name="Text 7"/>
          <p:cNvSpPr txBox="1"/>
          <p:nvPr/>
        </p:nvSpPr>
        <p:spPr>
          <a:xfrm>
            <a:off x="731520" y="2331720"/>
            <a:ext cx="420624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Replace every lorem ipsum line and dummy number with your content.</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Keep the layouts. Delete slides you have no evidence for.</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Put real screenshots behind the grey phone screens.</a:t>
            </a:r>
            <a:endParaRPr lang="en-US" sz="1350" dirty="0"/>
          </a:p>
        </p:txBody>
      </p:sp>
      <p:sp>
        <p:nvSpPr>
          <p:cNvPr id="10" name="Shape 8"/>
          <p:cNvSpPr/>
          <p:nvPr/>
        </p:nvSpPr>
        <p:spPr>
          <a:xfrm>
            <a:off x="457200" y="3977640"/>
            <a:ext cx="4754880" cy="2148840"/>
          </a:xfrm>
          <a:prstGeom prst="roundRect">
            <a:avLst>
              <a:gd name="adj" fmla="val 5106"/>
            </a:avLst>
          </a:prstGeom>
          <a:solidFill>
            <a:srgbClr val="FFFFFF"/>
          </a:solidFill>
          <a:ln w="9525">
            <a:solidFill>
              <a:srgbClr val="D9D9D6"/>
            </a:solidFill>
            <a:prstDash val="solid"/>
          </a:ln>
        </p:spPr>
      </p:sp>
      <p:sp>
        <p:nvSpPr>
          <p:cNvPr id="11" name="Text 9"/>
          <p:cNvSpPr txBox="1"/>
          <p:nvPr/>
        </p:nvSpPr>
        <p:spPr>
          <a:xfrm>
            <a:off x="731520" y="4206240"/>
            <a:ext cx="420624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OPTION B · USE YOUR AI TOOL</a:t>
            </a:r>
            <a:endParaRPr lang="en-US" sz="1050" dirty="0"/>
          </a:p>
        </p:txBody>
      </p:sp>
      <p:sp>
        <p:nvSpPr>
          <p:cNvPr id="12" name="Text 10"/>
          <p:cNvSpPr txBox="1"/>
          <p:nvPr/>
        </p:nvSpPr>
        <p:spPr>
          <a:xfrm>
            <a:off x="731520" y="4526280"/>
            <a:ext cx="4206240" cy="2743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Attach cx-presentation-system.md, then write:</a:t>
            </a:r>
            <a:endParaRPr lang="en-US" sz="1350" dirty="0"/>
          </a:p>
        </p:txBody>
      </p:sp>
      <p:sp>
        <p:nvSpPr>
          <p:cNvPr id="13" name="Shape 11"/>
          <p:cNvSpPr/>
          <p:nvPr/>
        </p:nvSpPr>
        <p:spPr>
          <a:xfrm>
            <a:off x="731520" y="4846320"/>
            <a:ext cx="4206240" cy="1097280"/>
          </a:xfrm>
          <a:prstGeom prst="roundRect">
            <a:avLst>
              <a:gd name="adj" fmla="val 6667"/>
            </a:avLst>
          </a:prstGeom>
          <a:solidFill>
            <a:srgbClr val="ECECEA"/>
          </a:solidFill>
          <a:ln w="9525">
            <a:solidFill>
              <a:srgbClr val="D9D9D6"/>
            </a:solidFill>
            <a:prstDash val="solid"/>
          </a:ln>
        </p:spPr>
      </p:sp>
      <p:sp>
        <p:nvSpPr>
          <p:cNvPr id="14" name="Text 12"/>
          <p:cNvSpPr txBox="1"/>
          <p:nvPr/>
        </p:nvSpPr>
        <p:spPr>
          <a:xfrm>
            <a:off x="868680" y="4892040"/>
            <a:ext cx="3931920" cy="1005840"/>
          </a:xfrm>
          <a:prstGeom prst="rect">
            <a:avLst/>
          </a:prstGeom>
          <a:noFill/>
          <a:ln/>
        </p:spPr>
        <p:txBody>
          <a:bodyPr wrap="square" lIns="0" tIns="0" rIns="0" bIns="0" rtlCol="0" anchor="ctr"/>
          <a:lstStyle/>
          <a:p>
            <a:pPr indent="0" marL="0">
              <a:buNone/>
            </a:pPr>
            <a:r>
              <a:rPr lang="en-US" sz="1000" dirty="0">
                <a:solidFill>
                  <a:srgbClr val="222731"/>
                </a:solidFill>
                <a:latin typeface="IBM Plex Mono" pitchFamily="34" charset="0"/>
                <a:ea typeface="IBM Plex Mono" pitchFamily="34" charset="-122"/>
                <a:cs typeface="IBM Plex Mono" pitchFamily="34" charset="-120"/>
              </a:rPr>
              <a:t>Use TPL-EXPERIMENT-01 with STORY-EXP-01, evidence mode Mixed. Here is my objective, audience and data: …</a:t>
            </a:r>
            <a:endParaRPr lang="en-US" sz="1000" dirty="0"/>
          </a:p>
        </p:txBody>
      </p:sp>
      <p:sp>
        <p:nvSpPr>
          <p:cNvPr id="15" name="Text 13"/>
          <p:cNvSpPr txBox="1"/>
          <p:nvPr/>
        </p:nvSpPr>
        <p:spPr>
          <a:xfrm>
            <a:off x="5577840" y="1783080"/>
            <a:ext cx="6156655"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SLIDE SEQUENCE IN THIS TEMPLATE</a:t>
            </a:r>
            <a:endParaRPr lang="en-US" sz="1050" dirty="0"/>
          </a:p>
        </p:txBody>
      </p:sp>
      <p:sp>
        <p:nvSpPr>
          <p:cNvPr id="16" name="Text 14"/>
          <p:cNvSpPr txBox="1"/>
          <p:nvPr/>
        </p:nvSpPr>
        <p:spPr>
          <a:xfrm>
            <a:off x="5577840" y="214884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03</a:t>
            </a:r>
            <a:endParaRPr lang="en-US" sz="1000" dirty="0"/>
          </a:p>
        </p:txBody>
      </p:sp>
      <p:sp>
        <p:nvSpPr>
          <p:cNvPr id="17" name="Text 15"/>
          <p:cNvSpPr txBox="1"/>
          <p:nvPr/>
        </p:nvSpPr>
        <p:spPr>
          <a:xfrm>
            <a:off x="6035040" y="214884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overview</a:t>
            </a:r>
            <a:endParaRPr lang="en-US" sz="1250" dirty="0"/>
          </a:p>
        </p:txBody>
      </p:sp>
      <p:sp>
        <p:nvSpPr>
          <p:cNvPr id="18" name="Text 16"/>
          <p:cNvSpPr txBox="1"/>
          <p:nvPr/>
        </p:nvSpPr>
        <p:spPr>
          <a:xfrm>
            <a:off x="9402775" y="2148840"/>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SLD-EXEC-SUMMARY-01</a:t>
            </a:r>
            <a:endParaRPr lang="en-US" sz="1000" dirty="0"/>
          </a:p>
        </p:txBody>
      </p:sp>
      <p:sp>
        <p:nvSpPr>
          <p:cNvPr id="19" name="Shape 17"/>
          <p:cNvSpPr/>
          <p:nvPr/>
        </p:nvSpPr>
        <p:spPr>
          <a:xfrm>
            <a:off x="5577840" y="2478024"/>
            <a:ext cx="6156655" cy="0"/>
          </a:xfrm>
          <a:prstGeom prst="line">
            <a:avLst/>
          </a:prstGeom>
          <a:noFill/>
          <a:ln w="6350">
            <a:solidFill>
              <a:srgbClr val="D9D9D6"/>
            </a:solidFill>
            <a:prstDash val="solid"/>
          </a:ln>
        </p:spPr>
      </p:sp>
      <p:sp>
        <p:nvSpPr>
          <p:cNvPr id="20" name="Text 18"/>
          <p:cNvSpPr txBox="1"/>
          <p:nvPr/>
        </p:nvSpPr>
        <p:spPr>
          <a:xfrm>
            <a:off x="5577840" y="247802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04</a:t>
            </a:r>
            <a:endParaRPr lang="en-US" sz="1000" dirty="0"/>
          </a:p>
        </p:txBody>
      </p:sp>
      <p:sp>
        <p:nvSpPr>
          <p:cNvPr id="21" name="Text 19"/>
          <p:cNvSpPr txBox="1"/>
          <p:nvPr/>
        </p:nvSpPr>
        <p:spPr>
          <a:xfrm>
            <a:off x="6035040" y="247802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Problem / opportunity</a:t>
            </a:r>
            <a:endParaRPr lang="en-US" sz="1250" dirty="0"/>
          </a:p>
        </p:txBody>
      </p:sp>
      <p:sp>
        <p:nvSpPr>
          <p:cNvPr id="22" name="Text 20"/>
          <p:cNvSpPr txBox="1"/>
          <p:nvPr/>
        </p:nvSpPr>
        <p:spPr>
          <a:xfrm>
            <a:off x="9402775" y="2478024"/>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SLD-INSIGHT-01</a:t>
            </a:r>
            <a:endParaRPr lang="en-US" sz="1000" dirty="0"/>
          </a:p>
        </p:txBody>
      </p:sp>
      <p:sp>
        <p:nvSpPr>
          <p:cNvPr id="23" name="Shape 21"/>
          <p:cNvSpPr/>
          <p:nvPr/>
        </p:nvSpPr>
        <p:spPr>
          <a:xfrm>
            <a:off x="5577840" y="2807208"/>
            <a:ext cx="6156655" cy="0"/>
          </a:xfrm>
          <a:prstGeom prst="line">
            <a:avLst/>
          </a:prstGeom>
          <a:noFill/>
          <a:ln w="6350">
            <a:solidFill>
              <a:srgbClr val="D9D9D6"/>
            </a:solidFill>
            <a:prstDash val="solid"/>
          </a:ln>
        </p:spPr>
      </p:sp>
      <p:sp>
        <p:nvSpPr>
          <p:cNvPr id="24" name="Text 22"/>
          <p:cNvSpPr txBox="1"/>
          <p:nvPr/>
        </p:nvSpPr>
        <p:spPr>
          <a:xfrm>
            <a:off x="5577840" y="280720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05</a:t>
            </a:r>
            <a:endParaRPr lang="en-US" sz="1000" dirty="0"/>
          </a:p>
        </p:txBody>
      </p:sp>
      <p:sp>
        <p:nvSpPr>
          <p:cNvPr id="25" name="Text 23"/>
          <p:cNvSpPr txBox="1"/>
          <p:nvPr/>
        </p:nvSpPr>
        <p:spPr>
          <a:xfrm>
            <a:off x="6035040" y="280720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Hypothesis</a:t>
            </a:r>
            <a:endParaRPr lang="en-US" sz="1250" dirty="0"/>
          </a:p>
        </p:txBody>
      </p:sp>
      <p:sp>
        <p:nvSpPr>
          <p:cNvPr id="26" name="Text 24"/>
          <p:cNvSpPr txBox="1"/>
          <p:nvPr/>
        </p:nvSpPr>
        <p:spPr>
          <a:xfrm>
            <a:off x="9402775" y="2807208"/>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SLD-STATEMENT-01</a:t>
            </a:r>
            <a:endParaRPr lang="en-US" sz="1000" dirty="0"/>
          </a:p>
        </p:txBody>
      </p:sp>
      <p:sp>
        <p:nvSpPr>
          <p:cNvPr id="27" name="Shape 25"/>
          <p:cNvSpPr/>
          <p:nvPr/>
        </p:nvSpPr>
        <p:spPr>
          <a:xfrm>
            <a:off x="5577840" y="3136392"/>
            <a:ext cx="6156655" cy="0"/>
          </a:xfrm>
          <a:prstGeom prst="line">
            <a:avLst/>
          </a:prstGeom>
          <a:noFill/>
          <a:ln w="6350">
            <a:solidFill>
              <a:srgbClr val="D9D9D6"/>
            </a:solidFill>
            <a:prstDash val="solid"/>
          </a:ln>
        </p:spPr>
      </p:sp>
      <p:sp>
        <p:nvSpPr>
          <p:cNvPr id="28" name="Text 26"/>
          <p:cNvSpPr txBox="1"/>
          <p:nvPr/>
        </p:nvSpPr>
        <p:spPr>
          <a:xfrm>
            <a:off x="5577840" y="313639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06</a:t>
            </a:r>
            <a:endParaRPr lang="en-US" sz="1000" dirty="0"/>
          </a:p>
        </p:txBody>
      </p:sp>
      <p:sp>
        <p:nvSpPr>
          <p:cNvPr id="29" name="Text 27"/>
          <p:cNvSpPr txBox="1"/>
          <p:nvPr/>
        </p:nvSpPr>
        <p:spPr>
          <a:xfrm>
            <a:off x="6035040" y="313639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design</a:t>
            </a:r>
            <a:endParaRPr lang="en-US" sz="1250" dirty="0"/>
          </a:p>
        </p:txBody>
      </p:sp>
      <p:sp>
        <p:nvSpPr>
          <p:cNvPr id="30" name="Text 28"/>
          <p:cNvSpPr txBox="1"/>
          <p:nvPr/>
        </p:nvSpPr>
        <p:spPr>
          <a:xfrm>
            <a:off x="9402775" y="3136392"/>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SLD-PROCESS-01</a:t>
            </a:r>
            <a:endParaRPr lang="en-US" sz="1000" dirty="0"/>
          </a:p>
        </p:txBody>
      </p:sp>
      <p:sp>
        <p:nvSpPr>
          <p:cNvPr id="31" name="Shape 29"/>
          <p:cNvSpPr/>
          <p:nvPr/>
        </p:nvSpPr>
        <p:spPr>
          <a:xfrm>
            <a:off x="5577840" y="3465576"/>
            <a:ext cx="6156655" cy="0"/>
          </a:xfrm>
          <a:prstGeom prst="line">
            <a:avLst/>
          </a:prstGeom>
          <a:noFill/>
          <a:ln w="6350">
            <a:solidFill>
              <a:srgbClr val="D9D9D6"/>
            </a:solidFill>
            <a:prstDash val="solid"/>
          </a:ln>
        </p:spPr>
      </p:sp>
      <p:sp>
        <p:nvSpPr>
          <p:cNvPr id="32" name="Text 30"/>
          <p:cNvSpPr txBox="1"/>
          <p:nvPr/>
        </p:nvSpPr>
        <p:spPr>
          <a:xfrm>
            <a:off x="5577840" y="346557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07</a:t>
            </a:r>
            <a:endParaRPr lang="en-US" sz="1000" dirty="0"/>
          </a:p>
        </p:txBody>
      </p:sp>
      <p:sp>
        <p:nvSpPr>
          <p:cNvPr id="33" name="Text 31"/>
          <p:cNvSpPr txBox="1"/>
          <p:nvPr/>
        </p:nvSpPr>
        <p:spPr>
          <a:xfrm>
            <a:off x="6035040" y="346557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Variants / experience</a:t>
            </a:r>
            <a:endParaRPr lang="en-US" sz="1250" dirty="0"/>
          </a:p>
        </p:txBody>
      </p:sp>
      <p:sp>
        <p:nvSpPr>
          <p:cNvPr id="34" name="Text 32"/>
          <p:cNvSpPr txBox="1"/>
          <p:nvPr/>
        </p:nvSpPr>
        <p:spPr>
          <a:xfrm>
            <a:off x="9402775" y="3465576"/>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SLD-VARIANTS-01</a:t>
            </a:r>
            <a:endParaRPr lang="en-US" sz="1000" dirty="0"/>
          </a:p>
        </p:txBody>
      </p:sp>
      <p:sp>
        <p:nvSpPr>
          <p:cNvPr id="35" name="Shape 33"/>
          <p:cNvSpPr/>
          <p:nvPr/>
        </p:nvSpPr>
        <p:spPr>
          <a:xfrm>
            <a:off x="5577840" y="3794760"/>
            <a:ext cx="6156655" cy="0"/>
          </a:xfrm>
          <a:prstGeom prst="line">
            <a:avLst/>
          </a:prstGeom>
          <a:noFill/>
          <a:ln w="6350">
            <a:solidFill>
              <a:srgbClr val="D9D9D6"/>
            </a:solidFill>
            <a:prstDash val="solid"/>
          </a:ln>
        </p:spPr>
      </p:sp>
      <p:sp>
        <p:nvSpPr>
          <p:cNvPr id="36" name="Text 34"/>
          <p:cNvSpPr txBox="1"/>
          <p:nvPr/>
        </p:nvSpPr>
        <p:spPr>
          <a:xfrm>
            <a:off x="5577840" y="379476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08</a:t>
            </a:r>
            <a:endParaRPr lang="en-US" sz="1000" dirty="0"/>
          </a:p>
        </p:txBody>
      </p:sp>
      <p:sp>
        <p:nvSpPr>
          <p:cNvPr id="37" name="Text 35"/>
          <p:cNvSpPr txBox="1"/>
          <p:nvPr/>
        </p:nvSpPr>
        <p:spPr>
          <a:xfrm>
            <a:off x="6035040" y="379476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Results · Mixed</a:t>
            </a:r>
            <a:endParaRPr lang="en-US" sz="1250" dirty="0"/>
          </a:p>
        </p:txBody>
      </p:sp>
      <p:sp>
        <p:nvSpPr>
          <p:cNvPr id="38" name="Text 36"/>
          <p:cNvSpPr txBox="1"/>
          <p:nvPr/>
        </p:nvSpPr>
        <p:spPr>
          <a:xfrm>
            <a:off x="9402775" y="3794760"/>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SLD-KPI-TREND-01</a:t>
            </a:r>
            <a:endParaRPr lang="en-US" sz="1000" dirty="0"/>
          </a:p>
        </p:txBody>
      </p:sp>
      <p:sp>
        <p:nvSpPr>
          <p:cNvPr id="39" name="Shape 37"/>
          <p:cNvSpPr/>
          <p:nvPr/>
        </p:nvSpPr>
        <p:spPr>
          <a:xfrm>
            <a:off x="5577840" y="4123944"/>
            <a:ext cx="6156655" cy="0"/>
          </a:xfrm>
          <a:prstGeom prst="line">
            <a:avLst/>
          </a:prstGeom>
          <a:noFill/>
          <a:ln w="6350">
            <a:solidFill>
              <a:srgbClr val="D9D9D6"/>
            </a:solidFill>
            <a:prstDash val="solid"/>
          </a:ln>
        </p:spPr>
      </p:sp>
      <p:sp>
        <p:nvSpPr>
          <p:cNvPr id="40" name="Text 38"/>
          <p:cNvSpPr txBox="1"/>
          <p:nvPr/>
        </p:nvSpPr>
        <p:spPr>
          <a:xfrm>
            <a:off x="5577840" y="412394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09</a:t>
            </a:r>
            <a:endParaRPr lang="en-US" sz="1000" dirty="0"/>
          </a:p>
        </p:txBody>
      </p:sp>
      <p:sp>
        <p:nvSpPr>
          <p:cNvPr id="41" name="Text 39"/>
          <p:cNvSpPr txBox="1"/>
          <p:nvPr/>
        </p:nvSpPr>
        <p:spPr>
          <a:xfrm>
            <a:off x="6035040" y="412394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What we learned</a:t>
            </a:r>
            <a:endParaRPr lang="en-US" sz="1250" dirty="0"/>
          </a:p>
        </p:txBody>
      </p:sp>
      <p:sp>
        <p:nvSpPr>
          <p:cNvPr id="42" name="Text 40"/>
          <p:cNvSpPr txBox="1"/>
          <p:nvPr/>
        </p:nvSpPr>
        <p:spPr>
          <a:xfrm>
            <a:off x="9402775" y="4123944"/>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SLD-3COL-01</a:t>
            </a:r>
            <a:endParaRPr lang="en-US" sz="1000" dirty="0"/>
          </a:p>
        </p:txBody>
      </p:sp>
      <p:sp>
        <p:nvSpPr>
          <p:cNvPr id="43" name="Shape 41"/>
          <p:cNvSpPr/>
          <p:nvPr/>
        </p:nvSpPr>
        <p:spPr>
          <a:xfrm>
            <a:off x="5577840" y="4453128"/>
            <a:ext cx="6156655" cy="0"/>
          </a:xfrm>
          <a:prstGeom prst="line">
            <a:avLst/>
          </a:prstGeom>
          <a:noFill/>
          <a:ln w="6350">
            <a:solidFill>
              <a:srgbClr val="D9D9D6"/>
            </a:solidFill>
            <a:prstDash val="solid"/>
          </a:ln>
        </p:spPr>
      </p:sp>
      <p:sp>
        <p:nvSpPr>
          <p:cNvPr id="44" name="Text 42"/>
          <p:cNvSpPr txBox="1"/>
          <p:nvPr/>
        </p:nvSpPr>
        <p:spPr>
          <a:xfrm>
            <a:off x="5577840" y="445312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10</a:t>
            </a:r>
            <a:endParaRPr lang="en-US" sz="1000" dirty="0"/>
          </a:p>
        </p:txBody>
      </p:sp>
      <p:sp>
        <p:nvSpPr>
          <p:cNvPr id="45" name="Text 43"/>
          <p:cNvSpPr txBox="1"/>
          <p:nvPr/>
        </p:nvSpPr>
        <p:spPr>
          <a:xfrm>
            <a:off x="6035040" y="445312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Implications</a:t>
            </a:r>
            <a:endParaRPr lang="en-US" sz="1250" dirty="0"/>
          </a:p>
        </p:txBody>
      </p:sp>
      <p:sp>
        <p:nvSpPr>
          <p:cNvPr id="46" name="Text 44"/>
          <p:cNvSpPr txBox="1"/>
          <p:nvPr/>
        </p:nvSpPr>
        <p:spPr>
          <a:xfrm>
            <a:off x="9402775" y="4453128"/>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SLD-2COL-01</a:t>
            </a:r>
            <a:endParaRPr lang="en-US" sz="1000" dirty="0"/>
          </a:p>
        </p:txBody>
      </p:sp>
      <p:sp>
        <p:nvSpPr>
          <p:cNvPr id="47" name="Shape 45"/>
          <p:cNvSpPr/>
          <p:nvPr/>
        </p:nvSpPr>
        <p:spPr>
          <a:xfrm>
            <a:off x="5577840" y="4782312"/>
            <a:ext cx="6156655" cy="0"/>
          </a:xfrm>
          <a:prstGeom prst="line">
            <a:avLst/>
          </a:prstGeom>
          <a:noFill/>
          <a:ln w="6350">
            <a:solidFill>
              <a:srgbClr val="D9D9D6"/>
            </a:solidFill>
            <a:prstDash val="solid"/>
          </a:ln>
        </p:spPr>
      </p:sp>
      <p:sp>
        <p:nvSpPr>
          <p:cNvPr id="48" name="Text 46"/>
          <p:cNvSpPr txBox="1"/>
          <p:nvPr/>
        </p:nvSpPr>
        <p:spPr>
          <a:xfrm>
            <a:off x="5577840" y="478231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11</a:t>
            </a:r>
            <a:endParaRPr lang="en-US" sz="1000" dirty="0"/>
          </a:p>
        </p:txBody>
      </p:sp>
      <p:sp>
        <p:nvSpPr>
          <p:cNvPr id="49" name="Text 47"/>
          <p:cNvSpPr txBox="1"/>
          <p:nvPr/>
        </p:nvSpPr>
        <p:spPr>
          <a:xfrm>
            <a:off x="6035040" y="478231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Next steps</a:t>
            </a:r>
            <a:endParaRPr lang="en-US" sz="1250" dirty="0"/>
          </a:p>
        </p:txBody>
      </p:sp>
      <p:sp>
        <p:nvSpPr>
          <p:cNvPr id="50" name="Text 48"/>
          <p:cNvSpPr txBox="1"/>
          <p:nvPr/>
        </p:nvSpPr>
        <p:spPr>
          <a:xfrm>
            <a:off x="9402775" y="4782312"/>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SLD-NEXT-STEPS-01</a:t>
            </a:r>
            <a:endParaRPr lang="en-US" sz="1000" dirty="0"/>
          </a:p>
        </p:txBody>
      </p:sp>
      <p:sp>
        <p:nvSpPr>
          <p:cNvPr id="51" name="Text 49"/>
          <p:cNvSpPr txBox="1"/>
          <p:nvPr/>
        </p:nvSpPr>
        <p:spPr>
          <a:xfrm>
            <a:off x="5577840" y="6172200"/>
            <a:ext cx="6156655" cy="228600"/>
          </a:xfrm>
          <a:prstGeom prst="rect">
            <a:avLst/>
          </a:prstGeom>
          <a:noFill/>
          <a:ln/>
        </p:spPr>
        <p:txBody>
          <a:bodyPr wrap="square" lIns="0" tIns="0" rIns="0" bIns="0" rtlCol="0" anchor="t"/>
          <a:lstStyle/>
          <a:p>
            <a:pPr indent="0" marL="0">
              <a:buNone/>
            </a:pPr>
            <a:r>
              <a:rPr lang="en-US" sz="1050" b="1" dirty="0">
                <a:solidFill>
                  <a:srgbClr val="A84600"/>
                </a:solidFill>
                <a:latin typeface="Hanken Grotesk" pitchFamily="34" charset="0"/>
                <a:ea typeface="Hanken Grotesk" pitchFamily="34" charset="-122"/>
                <a:cs typeface="Hanken Grotesk" pitchFamily="34" charset="-120"/>
              </a:rPr>
              <a:t>All copy is lorem ipsum and every number is dummy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EXPERIMENT OVERVIEW</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Elit sed do eiusmod tempor incididunt ut labore et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SLD-EXEC-SUMMARY-01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03 / 11</a:t>
            </a:r>
            <a:endParaRPr lang="en-US" sz="1050" dirty="0"/>
          </a:p>
        </p:txBody>
      </p:sp>
      <p:sp>
        <p:nvSpPr>
          <p:cNvPr id="7" name="Shape 5"/>
          <p:cNvSpPr/>
          <p:nvPr/>
        </p:nvSpPr>
        <p:spPr>
          <a:xfrm>
            <a:off x="457200" y="1783080"/>
            <a:ext cx="3576218" cy="2788920"/>
          </a:xfrm>
          <a:prstGeom prst="roundRect">
            <a:avLst>
              <a:gd name="adj" fmla="val 3934"/>
            </a:avLst>
          </a:prstGeom>
          <a:solidFill>
            <a:srgbClr val="FFFFFF"/>
          </a:solidFill>
          <a:ln w="9525">
            <a:solidFill>
              <a:srgbClr val="D9D9D6"/>
            </a:solidFill>
            <a:prstDash val="solid"/>
          </a:ln>
        </p:spPr>
      </p:sp>
      <p:sp>
        <p:nvSpPr>
          <p:cNvPr id="8" name="Shape 6"/>
          <p:cNvSpPr/>
          <p:nvPr/>
        </p:nvSpPr>
        <p:spPr>
          <a:xfrm>
            <a:off x="731520" y="2002536"/>
            <a:ext cx="457200" cy="457200"/>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822960" y="2093976"/>
            <a:ext cx="274320" cy="274320"/>
          </a:xfrm>
          <a:prstGeom prst="rect">
            <a:avLst/>
          </a:prstGeom>
        </p:spPr>
      </p:pic>
      <p:sp>
        <p:nvSpPr>
          <p:cNvPr id="10" name="Text 7"/>
          <p:cNvSpPr txBox="1"/>
          <p:nvPr/>
        </p:nvSpPr>
        <p:spPr>
          <a:xfrm>
            <a:off x="1325880"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CONTEXT</a:t>
            </a:r>
            <a:endParaRPr lang="en-US" sz="1050" dirty="0"/>
          </a:p>
        </p:txBody>
      </p:sp>
      <p:sp>
        <p:nvSpPr>
          <p:cNvPr id="11" name="Text 8"/>
          <p:cNvSpPr txBox="1"/>
          <p:nvPr/>
        </p:nvSpPr>
        <p:spPr>
          <a:xfrm>
            <a:off x="731520"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42%</a:t>
            </a:r>
            <a:endParaRPr lang="en-US" sz="4200" dirty="0"/>
          </a:p>
        </p:txBody>
      </p:sp>
      <p:sp>
        <p:nvSpPr>
          <p:cNvPr id="12" name="Text 9"/>
          <p:cNvSpPr txBox="1"/>
          <p:nvPr/>
        </p:nvSpPr>
        <p:spPr>
          <a:xfrm>
            <a:off x="731520"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Labore et dolore magna aliqua ut enim ad minim veniam quis nostrud exercitation ullamco laboris nisi.</a:t>
            </a:r>
            <a:endParaRPr lang="en-US" sz="1350" dirty="0"/>
          </a:p>
        </p:txBody>
      </p:sp>
      <p:sp>
        <p:nvSpPr>
          <p:cNvPr id="13" name="Shape 10"/>
          <p:cNvSpPr/>
          <p:nvPr/>
        </p:nvSpPr>
        <p:spPr>
          <a:xfrm>
            <a:off x="4307738" y="1783080"/>
            <a:ext cx="3576218" cy="2788920"/>
          </a:xfrm>
          <a:prstGeom prst="roundRect">
            <a:avLst>
              <a:gd name="adj" fmla="val 3934"/>
            </a:avLst>
          </a:prstGeom>
          <a:solidFill>
            <a:srgbClr val="FFFFFF"/>
          </a:solidFill>
          <a:ln w="9525">
            <a:solidFill>
              <a:srgbClr val="D9D9D6"/>
            </a:solidFill>
            <a:prstDash val="solid"/>
          </a:ln>
        </p:spPr>
      </p:sp>
      <p:sp>
        <p:nvSpPr>
          <p:cNvPr id="14" name="Shape 11"/>
          <p:cNvSpPr/>
          <p:nvPr/>
        </p:nvSpPr>
        <p:spPr>
          <a:xfrm>
            <a:off x="4582058" y="2002536"/>
            <a:ext cx="457200" cy="457200"/>
          </a:xfrm>
          <a:prstGeom prst="roundRect">
            <a:avLst>
              <a:gd name="adj" fmla="val 30000"/>
            </a:avLst>
          </a:prstGeom>
          <a:solidFill>
            <a:srgbClr val="E5F5FC"/>
          </a:solidFill>
          <a:ln w="9525">
            <a:solidFill>
              <a:srgbClr val="E5F5FC"/>
            </a:solidFill>
            <a:prstDash val="solid"/>
          </a:ln>
        </p:spPr>
      </p:sp>
      <p:pic>
        <p:nvPicPr>
          <p:cNvPr id="15" name="Image 1" descr="preencoded.png">    </p:cNvPr>
          <p:cNvPicPr>
            <a:picLocks noChangeAspect="1"/>
          </p:cNvPicPr>
          <p:nvPr/>
        </p:nvPicPr>
        <p:blipFill>
          <a:blip r:embed="rId2"/>
          <a:stretch>
            <a:fillRect/>
          </a:stretch>
        </p:blipFill>
        <p:spPr>
          <a:xfrm>
            <a:off x="4673498" y="2093976"/>
            <a:ext cx="274320" cy="274320"/>
          </a:xfrm>
          <a:prstGeom prst="rect">
            <a:avLst/>
          </a:prstGeom>
        </p:spPr>
      </p:pic>
      <p:sp>
        <p:nvSpPr>
          <p:cNvPr id="16" name="Text 12"/>
          <p:cNvSpPr txBox="1"/>
          <p:nvPr/>
        </p:nvSpPr>
        <p:spPr>
          <a:xfrm>
            <a:off x="5176418"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FINDING</a:t>
            </a:r>
            <a:endParaRPr lang="en-US" sz="1050" dirty="0"/>
          </a:p>
        </p:txBody>
      </p:sp>
      <p:sp>
        <p:nvSpPr>
          <p:cNvPr id="17" name="Text 13"/>
          <p:cNvSpPr txBox="1"/>
          <p:nvPr/>
        </p:nvSpPr>
        <p:spPr>
          <a:xfrm>
            <a:off x="4582058"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3 of 5</a:t>
            </a:r>
            <a:endParaRPr lang="en-US" sz="4200" dirty="0"/>
          </a:p>
        </p:txBody>
      </p:sp>
      <p:sp>
        <p:nvSpPr>
          <p:cNvPr id="18" name="Text 14"/>
          <p:cNvSpPr txBox="1"/>
          <p:nvPr/>
        </p:nvSpPr>
        <p:spPr>
          <a:xfrm>
            <a:off x="4582058"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 exercitation ullamco laboris nisi ut aliquip ex ea commodo consequat duis.</a:t>
            </a:r>
            <a:endParaRPr lang="en-US" sz="1350" dirty="0"/>
          </a:p>
        </p:txBody>
      </p:sp>
      <p:sp>
        <p:nvSpPr>
          <p:cNvPr id="19" name="Shape 15"/>
          <p:cNvSpPr/>
          <p:nvPr/>
        </p:nvSpPr>
        <p:spPr>
          <a:xfrm>
            <a:off x="8158277" y="1783080"/>
            <a:ext cx="3576218" cy="2788920"/>
          </a:xfrm>
          <a:prstGeom prst="roundRect">
            <a:avLst>
              <a:gd name="adj" fmla="val 3934"/>
            </a:avLst>
          </a:prstGeom>
          <a:solidFill>
            <a:srgbClr val="FFFFFF"/>
          </a:solidFill>
          <a:ln w="9525">
            <a:solidFill>
              <a:srgbClr val="D9D9D6"/>
            </a:solidFill>
            <a:prstDash val="solid"/>
          </a:ln>
        </p:spPr>
      </p:sp>
      <p:sp>
        <p:nvSpPr>
          <p:cNvPr id="20" name="Shape 16"/>
          <p:cNvSpPr/>
          <p:nvPr/>
        </p:nvSpPr>
        <p:spPr>
          <a:xfrm>
            <a:off x="8432597" y="2002536"/>
            <a:ext cx="457200" cy="457200"/>
          </a:xfrm>
          <a:prstGeom prst="roundRect">
            <a:avLst>
              <a:gd name="adj" fmla="val 30000"/>
            </a:avLst>
          </a:prstGeom>
          <a:solidFill>
            <a:srgbClr val="E5F5FC"/>
          </a:solidFill>
          <a:ln w="9525">
            <a:solidFill>
              <a:srgbClr val="E5F5FC"/>
            </a:solidFill>
            <a:prstDash val="solid"/>
          </a:ln>
        </p:spPr>
      </p:sp>
      <p:pic>
        <p:nvPicPr>
          <p:cNvPr id="21" name="Image 2" descr="preencoded.png">    </p:cNvPr>
          <p:cNvPicPr>
            <a:picLocks noChangeAspect="1"/>
          </p:cNvPicPr>
          <p:nvPr/>
        </p:nvPicPr>
        <p:blipFill>
          <a:blip r:embed="rId3"/>
          <a:stretch>
            <a:fillRect/>
          </a:stretch>
        </p:blipFill>
        <p:spPr>
          <a:xfrm>
            <a:off x="8524037" y="2093976"/>
            <a:ext cx="274320" cy="274320"/>
          </a:xfrm>
          <a:prstGeom prst="rect">
            <a:avLst/>
          </a:prstGeom>
        </p:spPr>
      </p:pic>
      <p:sp>
        <p:nvSpPr>
          <p:cNvPr id="22" name="Text 17"/>
          <p:cNvSpPr txBox="1"/>
          <p:nvPr/>
        </p:nvSpPr>
        <p:spPr>
          <a:xfrm>
            <a:off x="9026957"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IMPACT</a:t>
            </a:r>
            <a:endParaRPr lang="en-US" sz="1050" dirty="0"/>
          </a:p>
        </p:txBody>
      </p:sp>
      <p:sp>
        <p:nvSpPr>
          <p:cNvPr id="23" name="Text 18"/>
          <p:cNvSpPr txBox="1"/>
          <p:nvPr/>
        </p:nvSpPr>
        <p:spPr>
          <a:xfrm>
            <a:off x="8432597"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+18 pts</a:t>
            </a:r>
            <a:endParaRPr lang="en-US" sz="4200" dirty="0"/>
          </a:p>
        </p:txBody>
      </p:sp>
      <p:sp>
        <p:nvSpPr>
          <p:cNvPr id="24" name="Text 19"/>
          <p:cNvSpPr txBox="1"/>
          <p:nvPr/>
        </p:nvSpPr>
        <p:spPr>
          <a:xfrm>
            <a:off x="8432597"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Laboris nisi ut aliquip ex ea commodo consequat duis aute irure dolor in reprehenderit in voluptate.</a:t>
            </a:r>
            <a:endParaRPr lang="en-US" sz="1350" dirty="0"/>
          </a:p>
        </p:txBody>
      </p:sp>
      <p:sp>
        <p:nvSpPr>
          <p:cNvPr id="25" name="Shape 20"/>
          <p:cNvSpPr/>
          <p:nvPr/>
        </p:nvSpPr>
        <p:spPr>
          <a:xfrm>
            <a:off x="457200" y="4846320"/>
            <a:ext cx="11277295" cy="1234440"/>
          </a:xfrm>
          <a:prstGeom prst="roundRect">
            <a:avLst>
              <a:gd name="adj" fmla="val 7407"/>
            </a:avLst>
          </a:prstGeom>
          <a:solidFill>
            <a:srgbClr val="002A3A"/>
          </a:solidFill>
          <a:ln w="9525">
            <a:solidFill>
              <a:srgbClr val="002A3A"/>
            </a:solidFill>
            <a:prstDash val="solid"/>
          </a:ln>
        </p:spPr>
      </p:sp>
      <p:sp>
        <p:nvSpPr>
          <p:cNvPr id="26" name="Shape 21"/>
          <p:cNvSpPr/>
          <p:nvPr/>
        </p:nvSpPr>
        <p:spPr>
          <a:xfrm>
            <a:off x="731520" y="5230368"/>
            <a:ext cx="1188720" cy="457200"/>
          </a:xfrm>
          <a:prstGeom prst="roundRect">
            <a:avLst>
              <a:gd name="adj" fmla="val 16000"/>
            </a:avLst>
          </a:prstGeom>
          <a:solidFill>
            <a:srgbClr val="64CCC9"/>
          </a:solidFill>
          <a:ln w="9525">
            <a:solidFill>
              <a:srgbClr val="64CCC9"/>
            </a:solidFill>
            <a:prstDash val="solid"/>
          </a:ln>
        </p:spPr>
      </p:sp>
      <p:sp>
        <p:nvSpPr>
          <p:cNvPr id="27" name="Text 22"/>
          <p:cNvSpPr txBox="1"/>
          <p:nvPr/>
        </p:nvSpPr>
        <p:spPr>
          <a:xfrm>
            <a:off x="731520" y="5230368"/>
            <a:ext cx="1188720" cy="45720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THE ASK</a:t>
            </a:r>
            <a:endParaRPr lang="en-US" sz="1050" dirty="0"/>
          </a:p>
        </p:txBody>
      </p:sp>
      <p:sp>
        <p:nvSpPr>
          <p:cNvPr id="28" name="Text 23"/>
          <p:cNvSpPr txBox="1"/>
          <p:nvPr/>
        </p:nvSpPr>
        <p:spPr>
          <a:xfrm>
            <a:off x="2194560" y="4846320"/>
            <a:ext cx="9052560" cy="1234440"/>
          </a:xfrm>
          <a:prstGeom prst="rect">
            <a:avLst/>
          </a:prstGeom>
          <a:noFill/>
          <a:ln/>
        </p:spPr>
        <p:txBody>
          <a:bodyPr wrap="square" lIns="0" tIns="0" rIns="0" bIns="0" rtlCol="0" anchor="ctr"/>
          <a:lstStyle/>
          <a:p>
            <a:pPr indent="0" marL="0">
              <a:buNone/>
            </a:pPr>
            <a:r>
              <a:rPr lang="en-US" sz="1600" dirty="0">
                <a:solidFill>
                  <a:srgbClr val="FFFFFF"/>
                </a:solidFill>
                <a:latin typeface="Hanken Grotesk" pitchFamily="34" charset="0"/>
                <a:ea typeface="Hanken Grotesk" pitchFamily="34" charset="-122"/>
                <a:cs typeface="Hanken Grotesk" pitchFamily="34" charset="-120"/>
              </a:rPr>
              <a:t>Deserunt mollit anim id est laborum curabitur pretium tincidunt lacus nulla gravida orci a odio nullam varius turpis et commodo pharetra est.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PROBLEM / OPPORTUNITY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SLD-INSIGHT-01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04 / 11</a:t>
            </a:r>
            <a:endParaRPr lang="en-US" sz="1050" dirty="0"/>
          </a:p>
        </p:txBody>
      </p:sp>
      <p:sp>
        <p:nvSpPr>
          <p:cNvPr id="7" name="Shape 5"/>
          <p:cNvSpPr/>
          <p:nvPr/>
        </p:nvSpPr>
        <p:spPr>
          <a:xfrm>
            <a:off x="457200" y="1783080"/>
            <a:ext cx="5120640" cy="4343400"/>
          </a:xfrm>
          <a:prstGeom prst="roundRect">
            <a:avLst>
              <a:gd name="adj" fmla="val 2526"/>
            </a:avLst>
          </a:prstGeom>
          <a:solidFill>
            <a:srgbClr val="004F71"/>
          </a:solidFill>
          <a:ln w="9525">
            <a:solidFill>
              <a:srgbClr val="004F71"/>
            </a:solidFill>
            <a:prstDash val="solid"/>
          </a:ln>
        </p:spPr>
      </p:sp>
      <p:sp>
        <p:nvSpPr>
          <p:cNvPr id="8" name="Shape 6"/>
          <p:cNvSpPr/>
          <p:nvPr/>
        </p:nvSpPr>
        <p:spPr>
          <a:xfrm>
            <a:off x="822960" y="2148840"/>
            <a:ext cx="548640" cy="548640"/>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932688" y="2258568"/>
            <a:ext cx="329184" cy="329184"/>
          </a:xfrm>
          <a:prstGeom prst="rect">
            <a:avLst/>
          </a:prstGeom>
        </p:spPr>
      </p:pic>
      <p:sp>
        <p:nvSpPr>
          <p:cNvPr id="10" name="Text 7"/>
          <p:cNvSpPr txBox="1"/>
          <p:nvPr/>
        </p:nvSpPr>
        <p:spPr>
          <a:xfrm>
            <a:off x="822960" y="2926080"/>
            <a:ext cx="4389120" cy="274320"/>
          </a:xfrm>
          <a:prstGeom prst="rect">
            <a:avLst/>
          </a:prstGeom>
          <a:noFill/>
          <a:ln/>
        </p:spPr>
        <p:txBody>
          <a:bodyPr wrap="square" lIns="0" tIns="0" rIns="0" bIns="0" rtlCol="0" anchor="t"/>
          <a:lstStyle/>
          <a:p>
            <a:pPr indent="0" marL="0">
              <a:buNone/>
            </a:pPr>
            <a:r>
              <a:rPr lang="en-US" sz="1050" b="1" spc="100" kern="0" dirty="0">
                <a:solidFill>
                  <a:srgbClr val="CCEBF8"/>
                </a:solidFill>
                <a:latin typeface="Hanken Grotesk" pitchFamily="34" charset="0"/>
                <a:ea typeface="Hanken Grotesk" pitchFamily="34" charset="-122"/>
                <a:cs typeface="Hanken Grotesk" pitchFamily="34" charset="-120"/>
              </a:rPr>
              <a:t>INSIGHT</a:t>
            </a:r>
            <a:endParaRPr lang="en-US" sz="1050" dirty="0"/>
          </a:p>
        </p:txBody>
      </p:sp>
      <p:sp>
        <p:nvSpPr>
          <p:cNvPr id="11" name="Text 8"/>
          <p:cNvSpPr txBox="1"/>
          <p:nvPr/>
        </p:nvSpPr>
        <p:spPr>
          <a:xfrm>
            <a:off x="822960" y="3246120"/>
            <a:ext cx="4389120" cy="1371600"/>
          </a:xfrm>
          <a:prstGeom prst="rect">
            <a:avLst/>
          </a:prstGeom>
          <a:noFill/>
          <a:ln/>
        </p:spPr>
        <p:txBody>
          <a:bodyPr wrap="square" lIns="0" tIns="0" rIns="0" bIns="0" rtlCol="0" anchor="t"/>
          <a:lstStyle/>
          <a:p>
            <a:pPr indent="0" marL="0">
              <a:buNone/>
            </a:pPr>
            <a:r>
              <a:rPr lang="en-US" sz="2200" b="1" dirty="0">
                <a:solidFill>
                  <a:srgbClr val="FFFFFF"/>
                </a:solidFill>
                <a:latin typeface="Bricolage Grotesque" pitchFamily="34" charset="0"/>
                <a:ea typeface="Bricolage Grotesque" pitchFamily="34" charset="-122"/>
                <a:cs typeface="Bricolage Grotesque" pitchFamily="34" charset="-120"/>
              </a:rPr>
              <a:t>Ad minim veniam quis nostrud exercitation ullamco laboris nisi ut aliquip ex ea commodo.</a:t>
            </a:r>
            <a:endParaRPr lang="en-US" sz="2200" dirty="0"/>
          </a:p>
        </p:txBody>
      </p:sp>
      <p:sp>
        <p:nvSpPr>
          <p:cNvPr id="12" name="Text 9"/>
          <p:cNvSpPr txBox="1"/>
          <p:nvPr/>
        </p:nvSpPr>
        <p:spPr>
          <a:xfrm>
            <a:off x="822960" y="4800600"/>
            <a:ext cx="4389120" cy="274320"/>
          </a:xfrm>
          <a:prstGeom prst="rect">
            <a:avLst/>
          </a:prstGeom>
          <a:noFill/>
          <a:ln/>
        </p:spPr>
        <p:txBody>
          <a:bodyPr wrap="square" lIns="0" tIns="0" rIns="0" bIns="0" rtlCol="0" anchor="t"/>
          <a:lstStyle/>
          <a:p>
            <a:pPr indent="0" marL="0">
              <a:buNone/>
            </a:pPr>
            <a:r>
              <a:rPr lang="en-US" sz="1050" b="1" spc="100" kern="0" dirty="0">
                <a:solidFill>
                  <a:srgbClr val="CCEBF8"/>
                </a:solidFill>
                <a:latin typeface="Hanken Grotesk" pitchFamily="34" charset="0"/>
                <a:ea typeface="Hanken Grotesk" pitchFamily="34" charset="-122"/>
                <a:cs typeface="Hanken Grotesk" pitchFamily="34" charset="-120"/>
              </a:rPr>
              <a:t>IMPLICATION</a:t>
            </a:r>
            <a:endParaRPr lang="en-US" sz="1050" dirty="0"/>
          </a:p>
        </p:txBody>
      </p:sp>
      <p:sp>
        <p:nvSpPr>
          <p:cNvPr id="13" name="Text 10"/>
          <p:cNvSpPr txBox="1"/>
          <p:nvPr/>
        </p:nvSpPr>
        <p:spPr>
          <a:xfrm>
            <a:off x="822960" y="5102352"/>
            <a:ext cx="4389120" cy="868680"/>
          </a:xfrm>
          <a:prstGeom prst="rect">
            <a:avLst/>
          </a:prstGeom>
          <a:noFill/>
          <a:ln/>
        </p:spPr>
        <p:txBody>
          <a:bodyPr wrap="square" lIns="0" tIns="0" rIns="0" bIns="0" rtlCol="0" anchor="t"/>
          <a:lstStyle/>
          <a:p>
            <a:pPr indent="0" marL="0">
              <a:buNone/>
            </a:pPr>
            <a:r>
              <a:rPr lang="en-US" sz="1350" dirty="0">
                <a:solidFill>
                  <a:srgbClr val="FFFFFF"/>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a:t>
            </a:r>
            <a:endParaRPr lang="en-US" sz="1350" dirty="0"/>
          </a:p>
        </p:txBody>
      </p:sp>
      <p:sp>
        <p:nvSpPr>
          <p:cNvPr id="14" name="Shape 11"/>
          <p:cNvSpPr/>
          <p:nvPr/>
        </p:nvSpPr>
        <p:spPr>
          <a:xfrm>
            <a:off x="5897880" y="1783080"/>
            <a:ext cx="5836615" cy="1335024"/>
          </a:xfrm>
          <a:prstGeom prst="roundRect">
            <a:avLst>
              <a:gd name="adj" fmla="val 8219"/>
            </a:avLst>
          </a:prstGeom>
          <a:solidFill>
            <a:srgbClr val="FFFFFF"/>
          </a:solidFill>
          <a:ln w="9525">
            <a:solidFill>
              <a:srgbClr val="D9D9D6"/>
            </a:solidFill>
            <a:prstDash val="solid"/>
          </a:ln>
        </p:spPr>
      </p:sp>
      <p:sp>
        <p:nvSpPr>
          <p:cNvPr id="15" name="Text 12"/>
          <p:cNvSpPr txBox="1"/>
          <p:nvPr/>
        </p:nvSpPr>
        <p:spPr>
          <a:xfrm>
            <a:off x="6172200" y="1965960"/>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1 in 3</a:t>
            </a:r>
            <a:endParaRPr lang="en-US" sz="3200" dirty="0"/>
          </a:p>
        </p:txBody>
      </p:sp>
      <p:sp>
        <p:nvSpPr>
          <p:cNvPr id="16" name="Text 13"/>
          <p:cNvSpPr txBox="1"/>
          <p:nvPr/>
        </p:nvSpPr>
        <p:spPr>
          <a:xfrm>
            <a:off x="8275320" y="1984248"/>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Laboris nisi ut aliquip ex ea commodo.</a:t>
            </a:r>
            <a:endParaRPr lang="en-US" sz="1350" dirty="0"/>
          </a:p>
        </p:txBody>
      </p:sp>
      <p:sp>
        <p:nvSpPr>
          <p:cNvPr id="17" name="Text 14"/>
          <p:cNvSpPr txBox="1"/>
          <p:nvPr/>
        </p:nvSpPr>
        <p:spPr>
          <a:xfrm>
            <a:off x="6172200" y="2724912"/>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Lorem · order data · n = 4,200</a:t>
            </a:r>
            <a:endParaRPr lang="en-US" sz="1050" dirty="0"/>
          </a:p>
        </p:txBody>
      </p:sp>
      <p:sp>
        <p:nvSpPr>
          <p:cNvPr id="18" name="Shape 15"/>
          <p:cNvSpPr/>
          <p:nvPr/>
        </p:nvSpPr>
        <p:spPr>
          <a:xfrm>
            <a:off x="5897880" y="3264408"/>
            <a:ext cx="5836615" cy="1335024"/>
          </a:xfrm>
          <a:prstGeom prst="roundRect">
            <a:avLst>
              <a:gd name="adj" fmla="val 8219"/>
            </a:avLst>
          </a:prstGeom>
          <a:solidFill>
            <a:srgbClr val="FFFFFF"/>
          </a:solidFill>
          <a:ln w="9525">
            <a:solidFill>
              <a:srgbClr val="D9D9D6"/>
            </a:solidFill>
            <a:prstDash val="solid"/>
          </a:ln>
        </p:spPr>
      </p:sp>
      <p:sp>
        <p:nvSpPr>
          <p:cNvPr id="19" name="Text 16"/>
          <p:cNvSpPr txBox="1"/>
          <p:nvPr/>
        </p:nvSpPr>
        <p:spPr>
          <a:xfrm>
            <a:off x="6172200" y="3447288"/>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62%</a:t>
            </a:r>
            <a:endParaRPr lang="en-US" sz="3200" dirty="0"/>
          </a:p>
        </p:txBody>
      </p:sp>
      <p:sp>
        <p:nvSpPr>
          <p:cNvPr id="20" name="Text 17"/>
          <p:cNvSpPr txBox="1"/>
          <p:nvPr/>
        </p:nvSpPr>
        <p:spPr>
          <a:xfrm>
            <a:off x="8275320" y="3465576"/>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350" dirty="0"/>
          </a:p>
        </p:txBody>
      </p:sp>
      <p:sp>
        <p:nvSpPr>
          <p:cNvPr id="21" name="Text 18"/>
          <p:cNvSpPr txBox="1"/>
          <p:nvPr/>
        </p:nvSpPr>
        <p:spPr>
          <a:xfrm>
            <a:off x="6172200" y="4206240"/>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Survey · online · n = 1,200</a:t>
            </a:r>
            <a:endParaRPr lang="en-US" sz="1050" dirty="0"/>
          </a:p>
        </p:txBody>
      </p:sp>
      <p:sp>
        <p:nvSpPr>
          <p:cNvPr id="22" name="Shape 19"/>
          <p:cNvSpPr/>
          <p:nvPr/>
        </p:nvSpPr>
        <p:spPr>
          <a:xfrm>
            <a:off x="5897880" y="4745736"/>
            <a:ext cx="5836615" cy="1335024"/>
          </a:xfrm>
          <a:prstGeom prst="roundRect">
            <a:avLst>
              <a:gd name="adj" fmla="val 8219"/>
            </a:avLst>
          </a:prstGeom>
          <a:solidFill>
            <a:srgbClr val="FFFFFF"/>
          </a:solidFill>
          <a:ln w="9525">
            <a:solidFill>
              <a:srgbClr val="D9D9D6"/>
            </a:solidFill>
            <a:prstDash val="solid"/>
          </a:ln>
        </p:spPr>
      </p:sp>
      <p:sp>
        <p:nvSpPr>
          <p:cNvPr id="23" name="Text 20"/>
          <p:cNvSpPr txBox="1"/>
          <p:nvPr/>
        </p:nvSpPr>
        <p:spPr>
          <a:xfrm>
            <a:off x="6172200" y="4928616"/>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5 steps</a:t>
            </a:r>
            <a:endParaRPr lang="en-US" sz="3200" dirty="0"/>
          </a:p>
        </p:txBody>
      </p:sp>
      <p:sp>
        <p:nvSpPr>
          <p:cNvPr id="24" name="Text 21"/>
          <p:cNvSpPr txBox="1"/>
          <p:nvPr/>
        </p:nvSpPr>
        <p:spPr>
          <a:xfrm>
            <a:off x="8275320" y="4946904"/>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350" dirty="0"/>
          </a:p>
        </p:txBody>
      </p:sp>
      <p:sp>
        <p:nvSpPr>
          <p:cNvPr id="25" name="Text 22"/>
          <p:cNvSpPr txBox="1"/>
          <p:nvPr/>
        </p:nvSpPr>
        <p:spPr>
          <a:xfrm>
            <a:off x="6172200" y="5687568"/>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Journey audit · 3 channels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HYPOTHESIS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Lorem ipsum hypothesis stated as one testable sentence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SLD-STATEMENT-01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05 / 11</a:t>
            </a:r>
            <a:endParaRPr lang="en-US" sz="1050" dirty="0"/>
          </a:p>
        </p:txBody>
      </p:sp>
      <p:sp>
        <p:nvSpPr>
          <p:cNvPr id="7" name="Shape 5"/>
          <p:cNvSpPr/>
          <p:nvPr/>
        </p:nvSpPr>
        <p:spPr>
          <a:xfrm>
            <a:off x="457200" y="1783080"/>
            <a:ext cx="11277295" cy="3291840"/>
          </a:xfrm>
          <a:prstGeom prst="roundRect">
            <a:avLst>
              <a:gd name="adj" fmla="val 3889"/>
            </a:avLst>
          </a:prstGeom>
          <a:solidFill>
            <a:srgbClr val="004F71"/>
          </a:solidFill>
          <a:ln w="9525">
            <a:solidFill>
              <a:srgbClr val="004F71"/>
            </a:solidFill>
            <a:prstDash val="solid"/>
          </a:ln>
        </p:spPr>
      </p:sp>
      <p:sp>
        <p:nvSpPr>
          <p:cNvPr id="8" name="Shape 6"/>
          <p:cNvSpPr/>
          <p:nvPr/>
        </p:nvSpPr>
        <p:spPr>
          <a:xfrm>
            <a:off x="868680" y="2148840"/>
            <a:ext cx="1554480" cy="310896"/>
          </a:xfrm>
          <a:prstGeom prst="roundRect">
            <a:avLst>
              <a:gd name="adj" fmla="val 23529"/>
            </a:avLst>
          </a:prstGeom>
          <a:solidFill>
            <a:srgbClr val="64CCC9"/>
          </a:solidFill>
          <a:ln w="9525">
            <a:solidFill>
              <a:srgbClr val="64CCC9"/>
            </a:solidFill>
            <a:prstDash val="solid"/>
          </a:ln>
        </p:spPr>
      </p:sp>
      <p:sp>
        <p:nvSpPr>
          <p:cNvPr id="9" name="Text 7"/>
          <p:cNvSpPr txBox="1"/>
          <p:nvPr/>
        </p:nvSpPr>
        <p:spPr>
          <a:xfrm>
            <a:off x="868680" y="2148840"/>
            <a:ext cx="1554480" cy="310896"/>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HYPOTHESIS</a:t>
            </a:r>
            <a:endParaRPr lang="en-US" sz="1050" dirty="0"/>
          </a:p>
        </p:txBody>
      </p:sp>
      <p:sp>
        <p:nvSpPr>
          <p:cNvPr id="10" name="Text 8"/>
          <p:cNvSpPr txBox="1"/>
          <p:nvPr/>
        </p:nvSpPr>
        <p:spPr>
          <a:xfrm>
            <a:off x="868680" y="2651760"/>
            <a:ext cx="10454335" cy="2103120"/>
          </a:xfrm>
          <a:prstGeom prst="rect">
            <a:avLst/>
          </a:prstGeom>
          <a:noFill/>
          <a:ln/>
        </p:spPr>
        <p:txBody>
          <a:bodyPr wrap="square" lIns="0" tIns="0" rIns="0" bIns="0" rtlCol="0" anchor="ctr"/>
          <a:lstStyle/>
          <a:p>
            <a:pPr indent="0" marL="0">
              <a:buNone/>
            </a:pPr>
            <a:r>
              <a:rPr lang="en-US" sz="3000" b="1" dirty="0">
                <a:solidFill>
                  <a:srgbClr val="FFFFFF"/>
                </a:solidFill>
                <a:latin typeface="Bricolage Grotesque" pitchFamily="34" charset="0"/>
                <a:ea typeface="Bricolage Grotesque" pitchFamily="34" charset="-122"/>
                <a:cs typeface="Bricolage Grotesque" pitchFamily="34" charset="-120"/>
              </a:rPr>
              <a:t>We believe that laboris nisi ut aliquip ex ea commodo consequat duis aute will est eros bibendum elit nec luctus magna felis.</a:t>
            </a:r>
            <a:endParaRPr lang="en-US" sz="3000" dirty="0"/>
          </a:p>
        </p:txBody>
      </p:sp>
      <p:sp>
        <p:nvSpPr>
          <p:cNvPr id="11" name="Text 9"/>
          <p:cNvSpPr txBox="1"/>
          <p:nvPr/>
        </p:nvSpPr>
        <p:spPr>
          <a:xfrm>
            <a:off x="457200"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WE'LL KNOW IT WORKED WHEN</a:t>
            </a:r>
            <a:endParaRPr lang="en-US" sz="1050" dirty="0"/>
          </a:p>
        </p:txBody>
      </p:sp>
      <p:sp>
        <p:nvSpPr>
          <p:cNvPr id="12" name="Text 10"/>
          <p:cNvSpPr txBox="1"/>
          <p:nvPr/>
        </p:nvSpPr>
        <p:spPr>
          <a:xfrm>
            <a:off x="457200"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Dolor in reprehenderit in voluptate velit esse cillum dolore eu fugiat nulla pariatur excepteur.</a:t>
            </a:r>
            <a:endParaRPr lang="en-US" sz="1350" dirty="0"/>
          </a:p>
        </p:txBody>
      </p:sp>
      <p:sp>
        <p:nvSpPr>
          <p:cNvPr id="13" name="Text 11"/>
          <p:cNvSpPr txBox="1"/>
          <p:nvPr/>
        </p:nvSpPr>
        <p:spPr>
          <a:xfrm>
            <a:off x="4307738"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14" name="Text 12"/>
          <p:cNvSpPr txBox="1"/>
          <p:nvPr/>
        </p:nvSpPr>
        <p:spPr>
          <a:xfrm>
            <a:off x="4307738"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Lorem ipsum rate, +2 pts or more</a:t>
            </a:r>
            <a:endParaRPr lang="en-US" sz="1350" dirty="0"/>
          </a:p>
        </p:txBody>
      </p:sp>
      <p:sp>
        <p:nvSpPr>
          <p:cNvPr id="15" name="Text 13"/>
          <p:cNvSpPr txBox="1"/>
          <p:nvPr/>
        </p:nvSpPr>
        <p:spPr>
          <a:xfrm>
            <a:off x="8158277"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16" name="Text 14"/>
          <p:cNvSpPr txBox="1"/>
          <p:nvPr/>
        </p:nvSpPr>
        <p:spPr>
          <a:xfrm>
            <a:off x="8158277"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Sed do eiusmod tempor incididunt ut labore et.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EXPERIMENT DESIGN</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Pretium tincidunt lacus nulla gravida orci a odio nullam</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SLD-PROCESS-01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06 / 11</a:t>
            </a:r>
            <a:endParaRPr lang="en-US" sz="1050" dirty="0"/>
          </a:p>
        </p:txBody>
      </p:sp>
      <p:sp>
        <p:nvSpPr>
          <p:cNvPr id="7" name="Shape 5"/>
          <p:cNvSpPr/>
          <p:nvPr/>
        </p:nvSpPr>
        <p:spPr>
          <a:xfrm>
            <a:off x="1188720" y="2514600"/>
            <a:ext cx="9814255" cy="0"/>
          </a:xfrm>
          <a:prstGeom prst="line">
            <a:avLst/>
          </a:prstGeom>
          <a:noFill/>
          <a:ln w="25400">
            <a:solidFill>
              <a:srgbClr val="D9D9D6"/>
            </a:solidFill>
            <a:prstDash val="solid"/>
          </a:ln>
        </p:spPr>
      </p:sp>
      <p:sp>
        <p:nvSpPr>
          <p:cNvPr id="8" name="Shape 6"/>
          <p:cNvSpPr/>
          <p:nvPr/>
        </p:nvSpPr>
        <p:spPr>
          <a:xfrm>
            <a:off x="914400" y="2240280"/>
            <a:ext cx="548640" cy="548640"/>
          </a:xfrm>
          <a:prstGeom prst="ellipse">
            <a:avLst/>
          </a:prstGeom>
          <a:solidFill>
            <a:srgbClr val="004F71"/>
          </a:solidFill>
          <a:ln w="12700">
            <a:solidFill>
              <a:srgbClr val="004F71"/>
            </a:solidFill>
            <a:prstDash val="solid"/>
          </a:ln>
        </p:spPr>
      </p:sp>
      <p:sp>
        <p:nvSpPr>
          <p:cNvPr id="9" name="Text 7"/>
          <p:cNvSpPr txBox="1"/>
          <p:nvPr/>
        </p:nvSpPr>
        <p:spPr>
          <a:xfrm>
            <a:off x="914400"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0" name="Text 8"/>
          <p:cNvSpPr txBox="1"/>
          <p:nvPr/>
        </p:nvSpPr>
        <p:spPr>
          <a:xfrm>
            <a:off x="182880"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Recruit</a:t>
            </a:r>
            <a:endParaRPr lang="en-US" sz="1500" dirty="0"/>
          </a:p>
        </p:txBody>
      </p:sp>
      <p:sp>
        <p:nvSpPr>
          <p:cNvPr id="11" name="Text 9"/>
          <p:cNvSpPr txBox="1"/>
          <p:nvPr/>
        </p:nvSpPr>
        <p:spPr>
          <a:xfrm>
            <a:off x="182880"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Consequat duis aute irure dolor in reprehenderit in voluptate.</a:t>
            </a:r>
            <a:endParaRPr lang="en-US" sz="1150" dirty="0"/>
          </a:p>
        </p:txBody>
      </p:sp>
      <p:sp>
        <p:nvSpPr>
          <p:cNvPr id="12" name="Shape 10"/>
          <p:cNvSpPr/>
          <p:nvPr/>
        </p:nvSpPr>
        <p:spPr>
          <a:xfrm>
            <a:off x="3367964" y="2240280"/>
            <a:ext cx="548640" cy="548640"/>
          </a:xfrm>
          <a:prstGeom prst="ellipse">
            <a:avLst/>
          </a:prstGeom>
          <a:solidFill>
            <a:srgbClr val="004F71"/>
          </a:solidFill>
          <a:ln w="12700">
            <a:solidFill>
              <a:srgbClr val="004F71"/>
            </a:solidFill>
            <a:prstDash val="solid"/>
          </a:ln>
        </p:spPr>
      </p:sp>
      <p:sp>
        <p:nvSpPr>
          <p:cNvPr id="13" name="Text 11"/>
          <p:cNvSpPr txBox="1"/>
          <p:nvPr/>
        </p:nvSpPr>
        <p:spPr>
          <a:xfrm>
            <a:off x="3367964"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4" name="Text 12"/>
          <p:cNvSpPr txBox="1"/>
          <p:nvPr/>
        </p:nvSpPr>
        <p:spPr>
          <a:xfrm>
            <a:off x="2636444"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Randomize</a:t>
            </a:r>
            <a:endParaRPr lang="en-US" sz="1500" dirty="0"/>
          </a:p>
        </p:txBody>
      </p:sp>
      <p:sp>
        <p:nvSpPr>
          <p:cNvPr id="15" name="Text 13"/>
          <p:cNvSpPr txBox="1"/>
          <p:nvPr/>
        </p:nvSpPr>
        <p:spPr>
          <a:xfrm>
            <a:off x="2636444"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Non proident sunt in culpa qui officia deserunt mollit.</a:t>
            </a:r>
            <a:endParaRPr lang="en-US" sz="1150" dirty="0"/>
          </a:p>
        </p:txBody>
      </p:sp>
      <p:sp>
        <p:nvSpPr>
          <p:cNvPr id="16" name="Shape 14"/>
          <p:cNvSpPr/>
          <p:nvPr/>
        </p:nvSpPr>
        <p:spPr>
          <a:xfrm>
            <a:off x="5821528" y="2240280"/>
            <a:ext cx="548640" cy="548640"/>
          </a:xfrm>
          <a:prstGeom prst="ellipse">
            <a:avLst/>
          </a:prstGeom>
          <a:solidFill>
            <a:srgbClr val="004F71"/>
          </a:solidFill>
          <a:ln w="12700">
            <a:solidFill>
              <a:srgbClr val="004F71"/>
            </a:solidFill>
            <a:prstDash val="solid"/>
          </a:ln>
        </p:spPr>
      </p:sp>
      <p:sp>
        <p:nvSpPr>
          <p:cNvPr id="17" name="Text 15"/>
          <p:cNvSpPr txBox="1"/>
          <p:nvPr/>
        </p:nvSpPr>
        <p:spPr>
          <a:xfrm>
            <a:off x="5821528"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18" name="Text 16"/>
          <p:cNvSpPr txBox="1"/>
          <p:nvPr/>
        </p:nvSpPr>
        <p:spPr>
          <a:xfrm>
            <a:off x="5090008"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Expose</a:t>
            </a:r>
            <a:endParaRPr lang="en-US" sz="1500" dirty="0"/>
          </a:p>
        </p:txBody>
      </p:sp>
      <p:sp>
        <p:nvSpPr>
          <p:cNvPr id="19" name="Text 17"/>
          <p:cNvSpPr txBox="1"/>
          <p:nvPr/>
        </p:nvSpPr>
        <p:spPr>
          <a:xfrm>
            <a:off x="5090008"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Odio nullam varius turpis et commodo pharetra est eros.</a:t>
            </a:r>
            <a:endParaRPr lang="en-US" sz="1150" dirty="0"/>
          </a:p>
        </p:txBody>
      </p:sp>
      <p:sp>
        <p:nvSpPr>
          <p:cNvPr id="20" name="Shape 18"/>
          <p:cNvSpPr/>
          <p:nvPr/>
        </p:nvSpPr>
        <p:spPr>
          <a:xfrm>
            <a:off x="8275091" y="2240280"/>
            <a:ext cx="548640" cy="548640"/>
          </a:xfrm>
          <a:prstGeom prst="ellipse">
            <a:avLst/>
          </a:prstGeom>
          <a:solidFill>
            <a:srgbClr val="004F71"/>
          </a:solidFill>
          <a:ln w="12700">
            <a:solidFill>
              <a:srgbClr val="004F71"/>
            </a:solidFill>
            <a:prstDash val="solid"/>
          </a:ln>
        </p:spPr>
      </p:sp>
      <p:sp>
        <p:nvSpPr>
          <p:cNvPr id="21" name="Text 19"/>
          <p:cNvSpPr txBox="1"/>
          <p:nvPr/>
        </p:nvSpPr>
        <p:spPr>
          <a:xfrm>
            <a:off x="8275091"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4</a:t>
            </a:r>
            <a:endParaRPr lang="en-US" sz="1050" dirty="0"/>
          </a:p>
        </p:txBody>
      </p:sp>
      <p:sp>
        <p:nvSpPr>
          <p:cNvPr id="22" name="Text 20"/>
          <p:cNvSpPr txBox="1"/>
          <p:nvPr/>
        </p:nvSpPr>
        <p:spPr>
          <a:xfrm>
            <a:off x="7543571"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Measure</a:t>
            </a:r>
            <a:endParaRPr lang="en-US" sz="1500" dirty="0"/>
          </a:p>
        </p:txBody>
      </p:sp>
      <p:sp>
        <p:nvSpPr>
          <p:cNvPr id="23" name="Text 21"/>
          <p:cNvSpPr txBox="1"/>
          <p:nvPr/>
        </p:nvSpPr>
        <p:spPr>
          <a:xfrm>
            <a:off x="7543571"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Nibh euismod gravida lorem ipsum dolor sit amet consectetur.</a:t>
            </a:r>
            <a:endParaRPr lang="en-US" sz="1150" dirty="0"/>
          </a:p>
        </p:txBody>
      </p:sp>
      <p:sp>
        <p:nvSpPr>
          <p:cNvPr id="24" name="Shape 22"/>
          <p:cNvSpPr/>
          <p:nvPr/>
        </p:nvSpPr>
        <p:spPr>
          <a:xfrm>
            <a:off x="10728655" y="2240280"/>
            <a:ext cx="548640" cy="548640"/>
          </a:xfrm>
          <a:prstGeom prst="ellipse">
            <a:avLst/>
          </a:prstGeom>
          <a:solidFill>
            <a:srgbClr val="004F71"/>
          </a:solidFill>
          <a:ln w="12700">
            <a:solidFill>
              <a:srgbClr val="004F71"/>
            </a:solidFill>
            <a:prstDash val="solid"/>
          </a:ln>
        </p:spPr>
      </p:sp>
      <p:sp>
        <p:nvSpPr>
          <p:cNvPr id="25" name="Text 23"/>
          <p:cNvSpPr txBox="1"/>
          <p:nvPr/>
        </p:nvSpPr>
        <p:spPr>
          <a:xfrm>
            <a:off x="10728655"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5</a:t>
            </a:r>
            <a:endParaRPr lang="en-US" sz="1050" dirty="0"/>
          </a:p>
        </p:txBody>
      </p:sp>
      <p:sp>
        <p:nvSpPr>
          <p:cNvPr id="26" name="Text 24"/>
          <p:cNvSpPr txBox="1"/>
          <p:nvPr/>
        </p:nvSpPr>
        <p:spPr>
          <a:xfrm>
            <a:off x="9997135"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Decide</a:t>
            </a:r>
            <a:endParaRPr lang="en-US" sz="1500" dirty="0"/>
          </a:p>
        </p:txBody>
      </p:sp>
      <p:sp>
        <p:nvSpPr>
          <p:cNvPr id="27" name="Text 25"/>
          <p:cNvSpPr txBox="1"/>
          <p:nvPr/>
        </p:nvSpPr>
        <p:spPr>
          <a:xfrm>
            <a:off x="9997135"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Aliqua ut enim ad minim veniam quis nostrud exercitation.</a:t>
            </a:r>
            <a:endParaRPr lang="en-US" sz="1150" dirty="0"/>
          </a:p>
        </p:txBody>
      </p:sp>
      <p:sp>
        <p:nvSpPr>
          <p:cNvPr id="28" name="Shape 26"/>
          <p:cNvSpPr/>
          <p:nvPr/>
        </p:nvSpPr>
        <p:spPr>
          <a:xfrm>
            <a:off x="457200" y="4617720"/>
            <a:ext cx="11277295" cy="1508760"/>
          </a:xfrm>
          <a:prstGeom prst="roundRect">
            <a:avLst>
              <a:gd name="adj" fmla="val 7273"/>
            </a:avLst>
          </a:prstGeom>
          <a:solidFill>
            <a:srgbClr val="ECECEA"/>
          </a:solidFill>
          <a:ln w="9525">
            <a:solidFill>
              <a:srgbClr val="ECECEA"/>
            </a:solidFill>
            <a:prstDash val="solid"/>
          </a:ln>
        </p:spPr>
      </p:sp>
      <p:sp>
        <p:nvSpPr>
          <p:cNvPr id="29" name="Text 27"/>
          <p:cNvSpPr txBox="1"/>
          <p:nvPr/>
        </p:nvSpPr>
        <p:spPr>
          <a:xfrm>
            <a:off x="731520"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AUDIENCE</a:t>
            </a:r>
            <a:endParaRPr lang="en-US" sz="1050" dirty="0"/>
          </a:p>
        </p:txBody>
      </p:sp>
      <p:sp>
        <p:nvSpPr>
          <p:cNvPr id="30" name="Text 28"/>
          <p:cNvSpPr txBox="1"/>
          <p:nvPr/>
        </p:nvSpPr>
        <p:spPr>
          <a:xfrm>
            <a:off x="731520"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n = 12,000</a:t>
            </a:r>
            <a:endParaRPr lang="en-US" sz="1700" dirty="0"/>
          </a:p>
        </p:txBody>
      </p:sp>
      <p:sp>
        <p:nvSpPr>
          <p:cNvPr id="31" name="Text 29"/>
          <p:cNvSpPr txBox="1"/>
          <p:nvPr/>
        </p:nvSpPr>
        <p:spPr>
          <a:xfrm>
            <a:off x="2877251"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SPLIT</a:t>
            </a:r>
            <a:endParaRPr lang="en-US" sz="1050" dirty="0"/>
          </a:p>
        </p:txBody>
      </p:sp>
      <p:sp>
        <p:nvSpPr>
          <p:cNvPr id="32" name="Text 30"/>
          <p:cNvSpPr txBox="1"/>
          <p:nvPr/>
        </p:nvSpPr>
        <p:spPr>
          <a:xfrm>
            <a:off x="2877251"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50 / 50</a:t>
            </a:r>
            <a:endParaRPr lang="en-US" sz="1700" dirty="0"/>
          </a:p>
        </p:txBody>
      </p:sp>
      <p:sp>
        <p:nvSpPr>
          <p:cNvPr id="33" name="Text 31"/>
          <p:cNvSpPr txBox="1"/>
          <p:nvPr/>
        </p:nvSpPr>
        <p:spPr>
          <a:xfrm>
            <a:off x="5022982"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DURATION</a:t>
            </a:r>
            <a:endParaRPr lang="en-US" sz="1050" dirty="0"/>
          </a:p>
        </p:txBody>
      </p:sp>
      <p:sp>
        <p:nvSpPr>
          <p:cNvPr id="34" name="Text 32"/>
          <p:cNvSpPr txBox="1"/>
          <p:nvPr/>
        </p:nvSpPr>
        <p:spPr>
          <a:xfrm>
            <a:off x="5022982"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4 weeks</a:t>
            </a:r>
            <a:endParaRPr lang="en-US" sz="1700" dirty="0"/>
          </a:p>
        </p:txBody>
      </p:sp>
      <p:sp>
        <p:nvSpPr>
          <p:cNvPr id="35" name="Text 33"/>
          <p:cNvSpPr txBox="1"/>
          <p:nvPr/>
        </p:nvSpPr>
        <p:spPr>
          <a:xfrm>
            <a:off x="7168713"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36" name="Text 34"/>
          <p:cNvSpPr txBox="1"/>
          <p:nvPr/>
        </p:nvSpPr>
        <p:spPr>
          <a:xfrm>
            <a:off x="7168713"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Lorem ipsum rate</a:t>
            </a:r>
            <a:endParaRPr lang="en-US" sz="1700" dirty="0"/>
          </a:p>
        </p:txBody>
      </p:sp>
      <p:sp>
        <p:nvSpPr>
          <p:cNvPr id="37" name="Text 35"/>
          <p:cNvSpPr txBox="1"/>
          <p:nvPr/>
        </p:nvSpPr>
        <p:spPr>
          <a:xfrm>
            <a:off x="9314444"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38" name="Text 36"/>
          <p:cNvSpPr txBox="1"/>
          <p:nvPr/>
        </p:nvSpPr>
        <p:spPr>
          <a:xfrm>
            <a:off x="9314444"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Dolor opt-out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VARIANTS / EXPERIENCE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Felis sollicitudin mauris integer in mauris eu nibh euismod gravida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SLD-VARIANTS-01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07 / 11</a:t>
            </a:r>
            <a:endParaRPr lang="en-US" sz="1050" dirty="0"/>
          </a:p>
        </p:txBody>
      </p:sp>
      <p:sp>
        <p:nvSpPr>
          <p:cNvPr id="7" name="Shape 5"/>
          <p:cNvSpPr/>
          <p:nvPr/>
        </p:nvSpPr>
        <p:spPr>
          <a:xfrm>
            <a:off x="640080" y="1737360"/>
            <a:ext cx="1463040" cy="310896"/>
          </a:xfrm>
          <a:prstGeom prst="roundRect">
            <a:avLst>
              <a:gd name="adj" fmla="val 23529"/>
            </a:avLst>
          </a:prstGeom>
          <a:solidFill>
            <a:srgbClr val="FFFFFF"/>
          </a:solidFill>
          <a:ln w="9525">
            <a:solidFill>
              <a:srgbClr val="FFFFFF"/>
            </a:solidFill>
            <a:prstDash val="solid"/>
          </a:ln>
        </p:spPr>
      </p:sp>
      <p:sp>
        <p:nvSpPr>
          <p:cNvPr id="8" name="Text 6"/>
          <p:cNvSpPr txBox="1"/>
          <p:nvPr/>
        </p:nvSpPr>
        <p:spPr>
          <a:xfrm>
            <a:off x="640080" y="1737360"/>
            <a:ext cx="1463040" cy="310896"/>
          </a:xfrm>
          <a:prstGeom prst="rect">
            <a:avLst/>
          </a:prstGeom>
          <a:noFill/>
          <a:ln/>
        </p:spPr>
        <p:txBody>
          <a:bodyPr wrap="square" lIns="0" tIns="0" rIns="0" bIns="0" rtlCol="0" anchor="ctr"/>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Control</a:t>
            </a:r>
            <a:endParaRPr lang="en-US" sz="1050" dirty="0"/>
          </a:p>
        </p:txBody>
      </p:sp>
      <p:sp>
        <p:nvSpPr>
          <p:cNvPr id="9" name="Shape 7"/>
          <p:cNvSpPr/>
          <p:nvPr/>
        </p:nvSpPr>
        <p:spPr>
          <a:xfrm>
            <a:off x="766466" y="2219605"/>
            <a:ext cx="1464162" cy="3104265"/>
          </a:xfrm>
          <a:prstGeom prst="roundRect">
            <a:avLst>
              <a:gd name="adj" fmla="val 14000"/>
            </a:avLst>
          </a:prstGeom>
          <a:solidFill>
            <a:srgbClr val="ECECEA"/>
          </a:solidFill>
          <a:ln w="9525">
            <a:solidFill>
              <a:srgbClr val="ECECEA"/>
            </a:solidFill>
            <a:prstDash val="solid"/>
          </a:ln>
        </p:spPr>
      </p:sp>
      <p:sp>
        <p:nvSpPr>
          <p:cNvPr id="10" name="Text 8"/>
          <p:cNvSpPr txBox="1"/>
          <p:nvPr/>
        </p:nvSpPr>
        <p:spPr>
          <a:xfrm>
            <a:off x="857906"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Control</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685800" y="2148840"/>
            <a:ext cx="1623060" cy="3246120"/>
          </a:xfrm>
          <a:prstGeom prst="rect">
            <a:avLst/>
          </a:prstGeom>
        </p:spPr>
      </p:pic>
      <p:sp>
        <p:nvSpPr>
          <p:cNvPr id="12" name="Text 9"/>
          <p:cNvSpPr txBox="1"/>
          <p:nvPr/>
        </p:nvSpPr>
        <p:spPr>
          <a:xfrm>
            <a:off x="2537460"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Ad minim veniam quis nostrud exercitation ullamco laboris.</a:t>
            </a:r>
            <a:endParaRPr lang="en-US" sz="1350" dirty="0"/>
          </a:p>
        </p:txBody>
      </p:sp>
      <p:sp>
        <p:nvSpPr>
          <p:cNvPr id="13" name="Text 10"/>
          <p:cNvSpPr txBox="1"/>
          <p:nvPr/>
        </p:nvSpPr>
        <p:spPr>
          <a:xfrm>
            <a:off x="2537460" y="3886200"/>
            <a:ext cx="1404518" cy="548640"/>
          </a:xfrm>
          <a:prstGeom prst="rect">
            <a:avLst/>
          </a:prstGeom>
          <a:noFill/>
          <a:ln/>
        </p:spPr>
        <p:txBody>
          <a:bodyPr wrap="square" lIns="0" tIns="0" rIns="0" bIns="0" rtlCol="0" anchor="t"/>
          <a:lstStyle/>
          <a:p>
            <a:pPr indent="0" marL="0">
              <a:buNone/>
            </a:pPr>
            <a:r>
              <a:rPr lang="en-US" sz="2600" b="1" dirty="0">
                <a:solidFill>
                  <a:srgbClr val="63666A"/>
                </a:solidFill>
                <a:latin typeface="Bricolage Grotesque" pitchFamily="34" charset="0"/>
                <a:ea typeface="Bricolage Grotesque" pitchFamily="34" charset="-122"/>
                <a:cs typeface="Bricolage Grotesque" pitchFamily="34" charset="-120"/>
              </a:rPr>
              <a:t>10.2%</a:t>
            </a:r>
            <a:endParaRPr lang="en-US" sz="2600" dirty="0"/>
          </a:p>
        </p:txBody>
      </p:sp>
      <p:sp>
        <p:nvSpPr>
          <p:cNvPr id="14" name="Text 11"/>
          <p:cNvSpPr txBox="1"/>
          <p:nvPr/>
        </p:nvSpPr>
        <p:spPr>
          <a:xfrm>
            <a:off x="2537460"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Baseline</a:t>
            </a:r>
            <a:endParaRPr lang="en-US" sz="1050" dirty="0"/>
          </a:p>
        </p:txBody>
      </p:sp>
      <p:sp>
        <p:nvSpPr>
          <p:cNvPr id="15" name="Shape 12"/>
          <p:cNvSpPr/>
          <p:nvPr/>
        </p:nvSpPr>
        <p:spPr>
          <a:xfrm>
            <a:off x="4399178" y="1737360"/>
            <a:ext cx="1463040" cy="310896"/>
          </a:xfrm>
          <a:prstGeom prst="roundRect">
            <a:avLst>
              <a:gd name="adj" fmla="val 23529"/>
            </a:avLst>
          </a:prstGeom>
          <a:solidFill>
            <a:srgbClr val="FFFFFF"/>
          </a:solidFill>
          <a:ln w="9525">
            <a:solidFill>
              <a:srgbClr val="FFFFFF"/>
            </a:solidFill>
            <a:prstDash val="solid"/>
          </a:ln>
        </p:spPr>
      </p:sp>
      <p:sp>
        <p:nvSpPr>
          <p:cNvPr id="16" name="Text 13"/>
          <p:cNvSpPr txBox="1"/>
          <p:nvPr/>
        </p:nvSpPr>
        <p:spPr>
          <a:xfrm>
            <a:off x="4399178" y="1737360"/>
            <a:ext cx="1463040" cy="310896"/>
          </a:xfrm>
          <a:prstGeom prst="rect">
            <a:avLst/>
          </a:prstGeom>
          <a:noFill/>
          <a:ln/>
        </p:spPr>
        <p:txBody>
          <a:bodyPr wrap="square" lIns="0" tIns="0" rIns="0" bIns="0" rtlCol="0" anchor="ctr"/>
          <a:lstStyle/>
          <a:p>
            <a:pPr algn="ctr" indent="0" marL="0">
              <a:buNone/>
            </a:pPr>
            <a:r>
              <a:rPr lang="en-US" sz="1050" b="1" dirty="0">
                <a:solidFill>
                  <a:srgbClr val="004F71"/>
                </a:solidFill>
                <a:latin typeface="Hanken Grotesk" pitchFamily="34" charset="0"/>
                <a:ea typeface="Hanken Grotesk" pitchFamily="34" charset="-122"/>
                <a:cs typeface="Hanken Grotesk" pitchFamily="34" charset="-120"/>
              </a:rPr>
              <a:t>Variant A</a:t>
            </a:r>
            <a:endParaRPr lang="en-US" sz="1050" dirty="0"/>
          </a:p>
        </p:txBody>
      </p:sp>
      <p:sp>
        <p:nvSpPr>
          <p:cNvPr id="17" name="Shape 14"/>
          <p:cNvSpPr/>
          <p:nvPr/>
        </p:nvSpPr>
        <p:spPr>
          <a:xfrm>
            <a:off x="4525564" y="2219605"/>
            <a:ext cx="1464162" cy="3104265"/>
          </a:xfrm>
          <a:prstGeom prst="roundRect">
            <a:avLst>
              <a:gd name="adj" fmla="val 14000"/>
            </a:avLst>
          </a:prstGeom>
          <a:solidFill>
            <a:srgbClr val="ECECEA"/>
          </a:solidFill>
          <a:ln w="9525">
            <a:solidFill>
              <a:srgbClr val="ECECEA"/>
            </a:solidFill>
            <a:prstDash val="solid"/>
          </a:ln>
        </p:spPr>
      </p:sp>
      <p:sp>
        <p:nvSpPr>
          <p:cNvPr id="18" name="Text 15"/>
          <p:cNvSpPr txBox="1"/>
          <p:nvPr/>
        </p:nvSpPr>
        <p:spPr>
          <a:xfrm>
            <a:off x="4617004"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A</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9" name="Image 1" descr="preencoded.png">    </p:cNvPr>
          <p:cNvPicPr>
            <a:picLocks noChangeAspect="1"/>
          </p:cNvPicPr>
          <p:nvPr/>
        </p:nvPicPr>
        <p:blipFill>
          <a:blip r:embed="rId2"/>
          <a:stretch>
            <a:fillRect/>
          </a:stretch>
        </p:blipFill>
        <p:spPr>
          <a:xfrm>
            <a:off x="4444898" y="2148840"/>
            <a:ext cx="1623060" cy="3246120"/>
          </a:xfrm>
          <a:prstGeom prst="rect">
            <a:avLst/>
          </a:prstGeom>
        </p:spPr>
      </p:pic>
      <p:sp>
        <p:nvSpPr>
          <p:cNvPr id="20" name="Text 16"/>
          <p:cNvSpPr txBox="1"/>
          <p:nvPr/>
        </p:nvSpPr>
        <p:spPr>
          <a:xfrm>
            <a:off x="6296558"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Fugiat nulla pariatur excepteur sint occaecat cupidatat non.</a:t>
            </a:r>
            <a:endParaRPr lang="en-US" sz="1350" dirty="0"/>
          </a:p>
        </p:txBody>
      </p:sp>
      <p:sp>
        <p:nvSpPr>
          <p:cNvPr id="21" name="Text 17"/>
          <p:cNvSpPr txBox="1"/>
          <p:nvPr/>
        </p:nvSpPr>
        <p:spPr>
          <a:xfrm>
            <a:off x="6296558" y="3886200"/>
            <a:ext cx="1404518" cy="548640"/>
          </a:xfrm>
          <a:prstGeom prst="rect">
            <a:avLst/>
          </a:prstGeom>
          <a:noFill/>
          <a:ln/>
        </p:spPr>
        <p:txBody>
          <a:bodyPr wrap="square" lIns="0" tIns="0" rIns="0" bIns="0" rtlCol="0" anchor="t"/>
          <a:lstStyle/>
          <a:p>
            <a:pPr indent="0" marL="0">
              <a:buNone/>
            </a:pPr>
            <a:r>
              <a:rPr lang="en-US" sz="2600" b="1" dirty="0">
                <a:solidFill>
                  <a:srgbClr val="004F71"/>
                </a:solidFill>
                <a:latin typeface="Bricolage Grotesque" pitchFamily="34" charset="0"/>
                <a:ea typeface="Bricolage Grotesque" pitchFamily="34" charset="-122"/>
                <a:cs typeface="Bricolage Grotesque" pitchFamily="34" charset="-120"/>
              </a:rPr>
              <a:t>11.6%</a:t>
            </a:r>
            <a:endParaRPr lang="en-US" sz="2600" dirty="0"/>
          </a:p>
        </p:txBody>
      </p:sp>
      <p:sp>
        <p:nvSpPr>
          <p:cNvPr id="22" name="Text 18"/>
          <p:cNvSpPr txBox="1"/>
          <p:nvPr/>
        </p:nvSpPr>
        <p:spPr>
          <a:xfrm>
            <a:off x="6296558"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+1.4 pts vs control</a:t>
            </a:r>
            <a:endParaRPr lang="en-US" sz="1050" dirty="0"/>
          </a:p>
        </p:txBody>
      </p:sp>
      <p:sp>
        <p:nvSpPr>
          <p:cNvPr id="23" name="Shape 19"/>
          <p:cNvSpPr/>
          <p:nvPr/>
        </p:nvSpPr>
        <p:spPr>
          <a:xfrm>
            <a:off x="8158277" y="1737360"/>
            <a:ext cx="1463040" cy="310896"/>
          </a:xfrm>
          <a:prstGeom prst="roundRect">
            <a:avLst>
              <a:gd name="adj" fmla="val 23529"/>
            </a:avLst>
          </a:prstGeom>
          <a:solidFill>
            <a:srgbClr val="FFFFFF"/>
          </a:solidFill>
          <a:ln w="9525">
            <a:solidFill>
              <a:srgbClr val="FFFFFF"/>
            </a:solidFill>
            <a:prstDash val="solid"/>
          </a:ln>
        </p:spPr>
      </p:sp>
      <p:sp>
        <p:nvSpPr>
          <p:cNvPr id="24" name="Text 20"/>
          <p:cNvSpPr txBox="1"/>
          <p:nvPr/>
        </p:nvSpPr>
        <p:spPr>
          <a:xfrm>
            <a:off x="8158277" y="1737360"/>
            <a:ext cx="1463040" cy="310896"/>
          </a:xfrm>
          <a:prstGeom prst="rect">
            <a:avLst/>
          </a:prstGeom>
          <a:noFill/>
          <a:ln/>
        </p:spPr>
        <p:txBody>
          <a:bodyPr wrap="square" lIns="0" tIns="0" rIns="0" bIns="0" rtlCol="0" anchor="ctr"/>
          <a:lstStyle/>
          <a:p>
            <a:pPr algn="ctr" indent="0" marL="0">
              <a:buNone/>
            </a:pPr>
            <a:r>
              <a:rPr lang="en-US" sz="1050" b="1" dirty="0">
                <a:solidFill>
                  <a:srgbClr val="0077A8"/>
                </a:solidFill>
                <a:latin typeface="Hanken Grotesk" pitchFamily="34" charset="0"/>
                <a:ea typeface="Hanken Grotesk" pitchFamily="34" charset="-122"/>
                <a:cs typeface="Hanken Grotesk" pitchFamily="34" charset="-120"/>
              </a:rPr>
              <a:t>Variant B</a:t>
            </a:r>
            <a:endParaRPr lang="en-US" sz="1050" dirty="0"/>
          </a:p>
        </p:txBody>
      </p:sp>
      <p:sp>
        <p:nvSpPr>
          <p:cNvPr id="25" name="Shape 21"/>
          <p:cNvSpPr/>
          <p:nvPr/>
        </p:nvSpPr>
        <p:spPr>
          <a:xfrm>
            <a:off x="8284663" y="2219605"/>
            <a:ext cx="1464162" cy="3104265"/>
          </a:xfrm>
          <a:prstGeom prst="roundRect">
            <a:avLst>
              <a:gd name="adj" fmla="val 14000"/>
            </a:avLst>
          </a:prstGeom>
          <a:solidFill>
            <a:srgbClr val="ECECEA"/>
          </a:solidFill>
          <a:ln w="9525">
            <a:solidFill>
              <a:srgbClr val="ECECEA"/>
            </a:solidFill>
            <a:prstDash val="solid"/>
          </a:ln>
        </p:spPr>
      </p:sp>
      <p:sp>
        <p:nvSpPr>
          <p:cNvPr id="26" name="Text 22"/>
          <p:cNvSpPr txBox="1"/>
          <p:nvPr/>
        </p:nvSpPr>
        <p:spPr>
          <a:xfrm>
            <a:off x="8376103"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B</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27" name="Image 2" descr="preencoded.png">    </p:cNvPr>
          <p:cNvPicPr>
            <a:picLocks noChangeAspect="1"/>
          </p:cNvPicPr>
          <p:nvPr/>
        </p:nvPicPr>
        <p:blipFill>
          <a:blip r:embed="rId3"/>
          <a:stretch>
            <a:fillRect/>
          </a:stretch>
        </p:blipFill>
        <p:spPr>
          <a:xfrm>
            <a:off x="8203997" y="2148840"/>
            <a:ext cx="1623060" cy="3246120"/>
          </a:xfrm>
          <a:prstGeom prst="rect">
            <a:avLst/>
          </a:prstGeom>
        </p:spPr>
      </p:pic>
      <p:sp>
        <p:nvSpPr>
          <p:cNvPr id="28" name="Text 23"/>
          <p:cNvSpPr txBox="1"/>
          <p:nvPr/>
        </p:nvSpPr>
        <p:spPr>
          <a:xfrm>
            <a:off x="10055657"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Odio nullam varius turpis et commodo pharetra est.</a:t>
            </a:r>
            <a:endParaRPr lang="en-US" sz="1350" dirty="0"/>
          </a:p>
        </p:txBody>
      </p:sp>
      <p:sp>
        <p:nvSpPr>
          <p:cNvPr id="29" name="Text 24"/>
          <p:cNvSpPr txBox="1"/>
          <p:nvPr/>
        </p:nvSpPr>
        <p:spPr>
          <a:xfrm>
            <a:off x="10055657" y="3886200"/>
            <a:ext cx="1404518" cy="548640"/>
          </a:xfrm>
          <a:prstGeom prst="rect">
            <a:avLst/>
          </a:prstGeom>
          <a:noFill/>
          <a:ln/>
        </p:spPr>
        <p:txBody>
          <a:bodyPr wrap="square" lIns="0" tIns="0" rIns="0" bIns="0" rtlCol="0" anchor="t"/>
          <a:lstStyle/>
          <a:p>
            <a:pPr indent="0" marL="0">
              <a:buNone/>
            </a:pPr>
            <a:r>
              <a:rPr lang="en-US" sz="2600" b="1" dirty="0">
                <a:solidFill>
                  <a:srgbClr val="0077A8"/>
                </a:solidFill>
                <a:latin typeface="Bricolage Grotesque" pitchFamily="34" charset="0"/>
                <a:ea typeface="Bricolage Grotesque" pitchFamily="34" charset="-122"/>
                <a:cs typeface="Bricolage Grotesque" pitchFamily="34" charset="-120"/>
              </a:rPr>
              <a:t>12.9%</a:t>
            </a:r>
            <a:endParaRPr lang="en-US" sz="2600" dirty="0"/>
          </a:p>
        </p:txBody>
      </p:sp>
      <p:sp>
        <p:nvSpPr>
          <p:cNvPr id="30" name="Text 25"/>
          <p:cNvSpPr txBox="1"/>
          <p:nvPr/>
        </p:nvSpPr>
        <p:spPr>
          <a:xfrm>
            <a:off x="10055657"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+2.7 pts vs control</a:t>
            </a:r>
            <a:endParaRPr lang="en-US" sz="1050" dirty="0"/>
          </a:p>
        </p:txBody>
      </p:sp>
      <p:sp>
        <p:nvSpPr>
          <p:cNvPr id="31" name="Shape 26"/>
          <p:cNvSpPr/>
          <p:nvPr/>
        </p:nvSpPr>
        <p:spPr>
          <a:xfrm>
            <a:off x="457200" y="5577840"/>
            <a:ext cx="11277295" cy="640080"/>
          </a:xfrm>
          <a:prstGeom prst="roundRect">
            <a:avLst>
              <a:gd name="adj" fmla="val 17143"/>
            </a:avLst>
          </a:prstGeom>
          <a:solidFill>
            <a:srgbClr val="ECECEA"/>
          </a:solidFill>
          <a:ln w="9525">
            <a:solidFill>
              <a:srgbClr val="ECECEA"/>
            </a:solidFill>
            <a:prstDash val="solid"/>
          </a:ln>
        </p:spPr>
      </p:sp>
      <p:sp>
        <p:nvSpPr>
          <p:cNvPr id="32" name="Text 27"/>
          <p:cNvSpPr txBox="1"/>
          <p:nvPr/>
        </p:nvSpPr>
        <p:spPr>
          <a:xfrm>
            <a:off x="731520" y="5577840"/>
            <a:ext cx="10728655"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What changed  </a:t>
            </a:r>
            <a:pPr indent="0" marL="0">
              <a:buNone/>
            </a:pPr>
            <a:r>
              <a:rPr lang="en-US" sz="1350" dirty="0">
                <a:solidFill>
                  <a:srgbClr val="63666A"/>
                </a:solidFill>
                <a:latin typeface="Hanken Grotesk" pitchFamily="34" charset="0"/>
                <a:ea typeface="Hanken Grotesk" pitchFamily="34" charset="-122"/>
                <a:cs typeface="Hanken Grotesk" pitchFamily="34" charset="-120"/>
              </a:rPr>
              <a:t>Nostrud exercitation ullamco laboris nisi ut aliquip ex ea commodo consequat duis aute irure dolor in reprehenderit in voluptate velit.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RESULTS · MIXED</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Tempor incididunt ut labore et dolore magna aliqua ut enim ad</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SLD-KPI-TREND-01 · SLD-2COL-01 · metric left, quote right</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08 / 11</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31520" y="205740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LOREM IPSUM RATE</a:t>
            </a:r>
            <a:endParaRPr lang="en-US" sz="1050" dirty="0"/>
          </a:p>
        </p:txBody>
      </p:sp>
      <p:sp>
        <p:nvSpPr>
          <p:cNvPr id="9" name="Text 7"/>
          <p:cNvSpPr txBox="1"/>
          <p:nvPr/>
        </p:nvSpPr>
        <p:spPr>
          <a:xfrm>
            <a:off x="731520" y="2377440"/>
            <a:ext cx="4572000" cy="82296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+2.7 pts</a:t>
            </a:r>
            <a:endParaRPr lang="en-US" sz="4200" dirty="0"/>
          </a:p>
        </p:txBody>
      </p:sp>
      <p:sp>
        <p:nvSpPr>
          <p:cNvPr id="10" name="Text 8"/>
          <p:cNvSpPr txBox="1"/>
          <p:nvPr/>
        </p:nvSpPr>
        <p:spPr>
          <a:xfrm>
            <a:off x="731520" y="3200400"/>
            <a:ext cx="49377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Variant 12.9% vs control 10.2% · p = 0.01</a:t>
            </a:r>
            <a:endParaRPr lang="en-US" sz="1050" dirty="0"/>
          </a:p>
        </p:txBody>
      </p:sp>
      <p:graphicFrame>
        <p:nvGraphicFramePr>
          <p:cNvPr id="11" name="Chart 0" descr=""/>
          <p:cNvGraphicFramePr/>
          <p:nvPr/>
        </p:nvGraphicFramePr>
        <p:xfrm>
          <a:off x="640080" y="3566160"/>
          <a:ext cx="5120640" cy="242316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3" name="Shape 10"/>
          <p:cNvSpPr/>
          <p:nvPr/>
        </p:nvSpPr>
        <p:spPr>
          <a:xfrm>
            <a:off x="6583680" y="2103120"/>
            <a:ext cx="512064" cy="512064"/>
          </a:xfrm>
          <a:prstGeom prst="roundRect">
            <a:avLst>
              <a:gd name="adj" fmla="val 30000"/>
            </a:avLst>
          </a:prstGeom>
          <a:solidFill>
            <a:srgbClr val="E5F5FC"/>
          </a:solidFill>
          <a:ln w="9525">
            <a:solidFill>
              <a:srgbClr val="E5F5FC"/>
            </a:solidFill>
            <a:prstDash val="solid"/>
          </a:ln>
        </p:spPr>
      </p:sp>
      <p:pic>
        <p:nvPicPr>
          <p:cNvPr id="14" name="Image 0" descr="preencoded.png">    </p:cNvPr>
          <p:cNvPicPr>
            <a:picLocks noChangeAspect="1"/>
          </p:cNvPicPr>
          <p:nvPr/>
        </p:nvPicPr>
        <p:blipFill>
          <a:blip r:embed="rId2"/>
          <a:stretch>
            <a:fillRect/>
          </a:stretch>
        </p:blipFill>
        <p:spPr>
          <a:xfrm>
            <a:off x="6686093" y="2205533"/>
            <a:ext cx="307238" cy="307238"/>
          </a:xfrm>
          <a:prstGeom prst="rect">
            <a:avLst/>
          </a:prstGeom>
        </p:spPr>
      </p:pic>
      <p:sp>
        <p:nvSpPr>
          <p:cNvPr id="15" name="Text 11"/>
          <p:cNvSpPr txBox="1"/>
          <p:nvPr/>
        </p:nvSpPr>
        <p:spPr>
          <a:xfrm>
            <a:off x="6583680" y="2743200"/>
            <a:ext cx="4785055" cy="2103120"/>
          </a:xfrm>
          <a:prstGeom prst="rect">
            <a:avLst/>
          </a:prstGeom>
          <a:noFill/>
          <a:ln/>
        </p:spPr>
        <p:txBody>
          <a:bodyPr wrap="square" lIns="0" tIns="0" rIns="0" bIns="0" rtlCol="0" anchor="t"/>
          <a:lstStyle/>
          <a:p>
            <a:pPr indent="0" marL="0">
              <a:buNone/>
            </a:pPr>
            <a:r>
              <a:rPr lang="en-US" sz="1900"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 irure dolor in reprehenderit in voluptate velit esse cillum dolore eu fugiat nulla pariatur excepteur sint.”</a:t>
            </a:r>
            <a:endParaRPr lang="en-US" sz="1900" dirty="0"/>
          </a:p>
        </p:txBody>
      </p:sp>
      <p:sp>
        <p:nvSpPr>
          <p:cNvPr id="16" name="Text 12"/>
          <p:cNvSpPr txBox="1"/>
          <p:nvPr/>
        </p:nvSpPr>
        <p:spPr>
          <a:xfrm>
            <a:off x="6583680" y="5120640"/>
            <a:ext cx="4572000" cy="731520"/>
          </a:xfrm>
          <a:prstGeom prst="rect">
            <a:avLst/>
          </a:prstGeom>
          <a:noFill/>
          <a:ln/>
        </p:spPr>
        <p:txBody>
          <a:bodyPr wrap="square" lIns="0" tIns="0" rIns="0" bIns="0" rtlCol="0" anchor="t"/>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Participant 7</a:t>
            </a:r>
            <a:endParaRPr lang="en-US" sz="1350" dirty="0"/>
          </a:p>
          <a:p>
            <a:pPr indent="0" marL="0">
              <a:buNone/>
            </a:pPr>
            <a:r>
              <a:rPr lang="en-US" sz="1050" dirty="0">
                <a:solidFill>
                  <a:srgbClr val="63666A"/>
                </a:solidFill>
                <a:latin typeface="Hanken Grotesk" pitchFamily="34" charset="0"/>
                <a:ea typeface="Hanken Grotesk" pitchFamily="34" charset="-122"/>
                <a:cs typeface="Hanken Grotesk" pitchFamily="34" charset="-120"/>
              </a:rPr>
              <a:t>Segment B · variant group · interview</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WHAT WE LEARNED</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Ex ea commodo consequat duis aute irure dolor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SLD-3COL-01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09 / 11</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77240" y="2103120"/>
            <a:ext cx="658368" cy="658368"/>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908914" y="2234794"/>
            <a:ext cx="395021" cy="395021"/>
          </a:xfrm>
          <a:prstGeom prst="rect">
            <a:avLst/>
          </a:prstGeom>
        </p:spPr>
      </p:pic>
      <p:sp>
        <p:nvSpPr>
          <p:cNvPr id="10" name="Text 7"/>
          <p:cNvSpPr txBox="1"/>
          <p:nvPr/>
        </p:nvSpPr>
        <p:spPr>
          <a:xfrm>
            <a:off x="777240"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1</a:t>
            </a:r>
            <a:endParaRPr lang="en-US" sz="1050" dirty="0"/>
          </a:p>
        </p:txBody>
      </p:sp>
      <p:sp>
        <p:nvSpPr>
          <p:cNvPr id="11" name="Text 8"/>
          <p:cNvSpPr txBox="1"/>
          <p:nvPr/>
        </p:nvSpPr>
        <p:spPr>
          <a:xfrm>
            <a:off x="777240"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Varius turpis et commodo</a:t>
            </a:r>
            <a:endParaRPr lang="en-US" sz="2000" dirty="0"/>
          </a:p>
        </p:txBody>
      </p:sp>
      <p:sp>
        <p:nvSpPr>
          <p:cNvPr id="12" name="Text 9"/>
          <p:cNvSpPr txBox="1"/>
          <p:nvPr/>
        </p:nvSpPr>
        <p:spPr>
          <a:xfrm>
            <a:off x="777240"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Pharetra est eros bibendum elit nec luctus magna felis sollicitudin mauris integer in mauris eu nibh euismod gravida lorem ipsum dolor sit amet consectetur adipiscing elit sed do eiusmod tempor.</a:t>
            </a:r>
            <a:endParaRPr lang="en-US" sz="1350" dirty="0"/>
          </a:p>
        </p:txBody>
      </p:sp>
      <p:sp>
        <p:nvSpPr>
          <p:cNvPr id="13" name="Shape 10"/>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4" name="Shape 11"/>
          <p:cNvSpPr/>
          <p:nvPr/>
        </p:nvSpPr>
        <p:spPr>
          <a:xfrm>
            <a:off x="4627778" y="2103120"/>
            <a:ext cx="658368" cy="658368"/>
          </a:xfrm>
          <a:prstGeom prst="roundRect">
            <a:avLst>
              <a:gd name="adj" fmla="val 30000"/>
            </a:avLst>
          </a:prstGeom>
          <a:solidFill>
            <a:srgbClr val="E5F5FC"/>
          </a:solidFill>
          <a:ln w="9525">
            <a:solidFill>
              <a:srgbClr val="E5F5FC"/>
            </a:solidFill>
            <a:prstDash val="solid"/>
          </a:ln>
        </p:spPr>
      </p:sp>
      <p:pic>
        <p:nvPicPr>
          <p:cNvPr id="15" name="Image 1" descr="preencoded.png">    </p:cNvPr>
          <p:cNvPicPr>
            <a:picLocks noChangeAspect="1"/>
          </p:cNvPicPr>
          <p:nvPr/>
        </p:nvPicPr>
        <p:blipFill>
          <a:blip r:embed="rId2"/>
          <a:stretch>
            <a:fillRect/>
          </a:stretch>
        </p:blipFill>
        <p:spPr>
          <a:xfrm>
            <a:off x="4759452" y="2234794"/>
            <a:ext cx="395021" cy="395021"/>
          </a:xfrm>
          <a:prstGeom prst="rect">
            <a:avLst/>
          </a:prstGeom>
        </p:spPr>
      </p:pic>
      <p:sp>
        <p:nvSpPr>
          <p:cNvPr id="16" name="Text 12"/>
          <p:cNvSpPr txBox="1"/>
          <p:nvPr/>
        </p:nvSpPr>
        <p:spPr>
          <a:xfrm>
            <a:off x="4627778"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2</a:t>
            </a:r>
            <a:endParaRPr lang="en-US" sz="1050" dirty="0"/>
          </a:p>
        </p:txBody>
      </p:sp>
      <p:sp>
        <p:nvSpPr>
          <p:cNvPr id="17" name="Text 13"/>
          <p:cNvSpPr txBox="1"/>
          <p:nvPr/>
        </p:nvSpPr>
        <p:spPr>
          <a:xfrm>
            <a:off x="4627778"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Ut labore et dolore</a:t>
            </a:r>
            <a:endParaRPr lang="en-US" sz="2000" dirty="0"/>
          </a:p>
        </p:txBody>
      </p:sp>
      <p:sp>
        <p:nvSpPr>
          <p:cNvPr id="18" name="Text 14"/>
          <p:cNvSpPr txBox="1"/>
          <p:nvPr/>
        </p:nvSpPr>
        <p:spPr>
          <a:xfrm>
            <a:off x="4627778"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Eiusmod tempor incididunt ut labore et dolore magna aliqua ut enim ad minim veniam quis nostrud exercitation ullamco laboris nisi ut aliquip ex ea commodo consequat duis aute irure dolor.</a:t>
            </a:r>
            <a:endParaRPr lang="en-US" sz="1350" dirty="0"/>
          </a:p>
        </p:txBody>
      </p:sp>
      <p:sp>
        <p:nvSpPr>
          <p:cNvPr id="19" name="Shape 15"/>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20" name="Shape 16"/>
          <p:cNvSpPr/>
          <p:nvPr/>
        </p:nvSpPr>
        <p:spPr>
          <a:xfrm>
            <a:off x="8478317" y="2103120"/>
            <a:ext cx="658368" cy="658368"/>
          </a:xfrm>
          <a:prstGeom prst="roundRect">
            <a:avLst>
              <a:gd name="adj" fmla="val 30000"/>
            </a:avLst>
          </a:prstGeom>
          <a:solidFill>
            <a:srgbClr val="E5F5FC"/>
          </a:solidFill>
          <a:ln w="9525">
            <a:solidFill>
              <a:srgbClr val="E5F5FC"/>
            </a:solidFill>
            <a:prstDash val="solid"/>
          </a:ln>
        </p:spPr>
      </p:sp>
      <p:pic>
        <p:nvPicPr>
          <p:cNvPr id="21" name="Image 2" descr="preencoded.png">    </p:cNvPr>
          <p:cNvPicPr>
            <a:picLocks noChangeAspect="1"/>
          </p:cNvPicPr>
          <p:nvPr/>
        </p:nvPicPr>
        <p:blipFill>
          <a:blip r:embed="rId3"/>
          <a:stretch>
            <a:fillRect/>
          </a:stretch>
        </p:blipFill>
        <p:spPr>
          <a:xfrm>
            <a:off x="8609990" y="2234794"/>
            <a:ext cx="395021" cy="395021"/>
          </a:xfrm>
          <a:prstGeom prst="rect">
            <a:avLst/>
          </a:prstGeom>
        </p:spPr>
      </p:pic>
      <p:sp>
        <p:nvSpPr>
          <p:cNvPr id="22" name="Text 17"/>
          <p:cNvSpPr txBox="1"/>
          <p:nvPr/>
        </p:nvSpPr>
        <p:spPr>
          <a:xfrm>
            <a:off x="8478317"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3</a:t>
            </a:r>
            <a:endParaRPr lang="en-US" sz="1050" dirty="0"/>
          </a:p>
        </p:txBody>
      </p:sp>
      <p:sp>
        <p:nvSpPr>
          <p:cNvPr id="23" name="Text 18"/>
          <p:cNvSpPr txBox="1"/>
          <p:nvPr/>
        </p:nvSpPr>
        <p:spPr>
          <a:xfrm>
            <a:off x="8478317"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Eu fugiat nulla pariatur</a:t>
            </a:r>
            <a:endParaRPr lang="en-US" sz="2000" dirty="0"/>
          </a:p>
        </p:txBody>
      </p:sp>
      <p:sp>
        <p:nvSpPr>
          <p:cNvPr id="24" name="Text 19"/>
          <p:cNvSpPr txBox="1"/>
          <p:nvPr/>
        </p:nvSpPr>
        <p:spPr>
          <a:xfrm>
            <a:off x="8478317"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Irure dolor in reprehenderit in voluptate velit esse cillum dolore eu fugiat nulla pariatur excepteur sint occaecat cupidatat non proident sunt in culpa qui officia deserunt mollit anim id est.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IMPLICATIONS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Sint occaecat cupidatat non proident sunt in culpa qui officia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SLD-2COL-01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10 / 11</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7724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MESSAGE</a:t>
            </a:r>
            <a:endParaRPr lang="en-US" sz="1050" dirty="0"/>
          </a:p>
        </p:txBody>
      </p:sp>
      <p:sp>
        <p:nvSpPr>
          <p:cNvPr id="9" name="Text 7"/>
          <p:cNvSpPr txBox="1"/>
          <p:nvPr/>
        </p:nvSpPr>
        <p:spPr>
          <a:xfrm>
            <a:off x="777240" y="2423160"/>
            <a:ext cx="4846320" cy="11887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 culpa.</a:t>
            </a:r>
            <a:endParaRPr lang="en-US" sz="2000" dirty="0"/>
          </a:p>
        </p:txBody>
      </p:sp>
      <p:sp>
        <p:nvSpPr>
          <p:cNvPr id="10" name="Text 8"/>
          <p:cNvSpPr txBox="1"/>
          <p:nvPr/>
        </p:nvSpPr>
        <p:spPr>
          <a:xfrm>
            <a:off x="777240" y="3749040"/>
            <a:ext cx="4846320" cy="210312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 ut enim ad minim veniam quis nostrud exercitation ullamco laboris nisi ut aliquip ex ea commodo consequat duis aute irure dolor in reprehenderit in voluptate.</a:t>
            </a:r>
            <a:endParaRPr lang="en-US" sz="1350" dirty="0"/>
          </a:p>
        </p:txBody>
      </p:sp>
      <p:sp>
        <p:nvSpPr>
          <p:cNvPr id="11"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2" name="Text 10"/>
          <p:cNvSpPr txBox="1"/>
          <p:nvPr/>
        </p:nvSpPr>
        <p:spPr>
          <a:xfrm>
            <a:off x="658368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EVIDENCE</a:t>
            </a:r>
            <a:endParaRPr lang="en-US" sz="1050" dirty="0"/>
          </a:p>
        </p:txBody>
      </p:sp>
      <p:graphicFrame>
        <p:nvGraphicFramePr>
          <p:cNvPr id="13" name="Chart 0" descr=""/>
          <p:cNvGraphicFramePr/>
          <p:nvPr/>
        </p:nvGraphicFramePr>
        <p:xfrm>
          <a:off x="6492240" y="2468880"/>
          <a:ext cx="4967935" cy="25603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583680" y="5257800"/>
            <a:ext cx="457200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Source: [placeholder] · method · n = 1,200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NEXT STEPS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Gravida orci a odio nullam varius turpis et commodo pharetra est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Mixed</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SLD-NEXT-STEPS-01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11 / 11</a:t>
            </a:r>
            <a:endParaRPr lang="en-US" sz="1050" dirty="0"/>
          </a:p>
        </p:txBody>
      </p:sp>
      <p:sp>
        <p:nvSpPr>
          <p:cNvPr id="7" name="Shape 5"/>
          <p:cNvSpPr/>
          <p:nvPr/>
        </p:nvSpPr>
        <p:spPr>
          <a:xfrm>
            <a:off x="457200" y="1783080"/>
            <a:ext cx="3383280" cy="4343400"/>
          </a:xfrm>
          <a:prstGeom prst="roundRect">
            <a:avLst>
              <a:gd name="adj" fmla="val 3243"/>
            </a:avLst>
          </a:prstGeom>
          <a:solidFill>
            <a:srgbClr val="002A3A"/>
          </a:solidFill>
          <a:ln w="9525">
            <a:solidFill>
              <a:srgbClr val="002A3A"/>
            </a:solidFill>
            <a:prstDash val="solid"/>
          </a:ln>
        </p:spPr>
      </p:sp>
      <p:sp>
        <p:nvSpPr>
          <p:cNvPr id="8" name="Shape 6"/>
          <p:cNvSpPr/>
          <p:nvPr/>
        </p:nvSpPr>
        <p:spPr>
          <a:xfrm>
            <a:off x="777240" y="2103120"/>
            <a:ext cx="1828800" cy="365760"/>
          </a:xfrm>
          <a:prstGeom prst="roundRect">
            <a:avLst>
              <a:gd name="adj" fmla="val 20000"/>
            </a:avLst>
          </a:prstGeom>
          <a:solidFill>
            <a:srgbClr val="64CCC9"/>
          </a:solidFill>
          <a:ln w="9525">
            <a:solidFill>
              <a:srgbClr val="64CCC9"/>
            </a:solidFill>
            <a:prstDash val="solid"/>
          </a:ln>
        </p:spPr>
      </p:sp>
      <p:sp>
        <p:nvSpPr>
          <p:cNvPr id="9" name="Text 7"/>
          <p:cNvSpPr txBox="1"/>
          <p:nvPr/>
        </p:nvSpPr>
        <p:spPr>
          <a:xfrm>
            <a:off x="777240" y="2103120"/>
            <a:ext cx="1828800" cy="36576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Decision needed</a:t>
            </a:r>
            <a:endParaRPr lang="en-US" sz="1050" dirty="0"/>
          </a:p>
        </p:txBody>
      </p:sp>
      <p:sp>
        <p:nvSpPr>
          <p:cNvPr id="10" name="Text 8"/>
          <p:cNvSpPr txBox="1"/>
          <p:nvPr/>
        </p:nvSpPr>
        <p:spPr>
          <a:xfrm>
            <a:off x="777240" y="2651760"/>
            <a:ext cx="2743200" cy="1463040"/>
          </a:xfrm>
          <a:prstGeom prst="rect">
            <a:avLst/>
          </a:prstGeom>
          <a:noFill/>
          <a:ln/>
        </p:spPr>
        <p:txBody>
          <a:bodyPr wrap="square" lIns="0" tIns="0" rIns="0" bIns="0" rtlCol="0" anchor="t"/>
          <a:lstStyle/>
          <a:p>
            <a:pPr indent="0" marL="0">
              <a:buNone/>
            </a:pPr>
            <a:r>
              <a:rPr lang="en-US" sz="2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a:t>
            </a:r>
            <a:endParaRPr lang="en-US" sz="2000" dirty="0"/>
          </a:p>
        </p:txBody>
      </p:sp>
      <p:sp>
        <p:nvSpPr>
          <p:cNvPr id="11" name="Text 9"/>
          <p:cNvSpPr txBox="1"/>
          <p:nvPr/>
        </p:nvSpPr>
        <p:spPr>
          <a:xfrm>
            <a:off x="777240" y="4297680"/>
            <a:ext cx="2743200" cy="1645920"/>
          </a:xfrm>
          <a:prstGeom prst="rect">
            <a:avLst/>
          </a:prstGeom>
          <a:noFill/>
          <a:ln/>
        </p:spPr>
        <p:txBody>
          <a:bodyPr wrap="square" lIns="0" tIns="0" rIns="0" bIns="0" rtlCol="0" anchor="t"/>
          <a:lstStyle/>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Scope: [lorem ipsum]</a:t>
            </a:r>
            <a:endParaRPr lang="en-US" sz="1350" dirty="0"/>
          </a:p>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Owner: [role]</a:t>
            </a:r>
            <a:endParaRPr lang="en-US" sz="1350" dirty="0"/>
          </a:p>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Resources: [dolor sit]</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0" y="1783080"/>
          <a:ext cx="7619695" cy="914400"/>
        </p:xfrm>
        <a:graphic>
          <a:graphicData uri="http://schemas.openxmlformats.org/drawingml/2006/table">
            <a:tbl>
              <a:tblPr/>
              <a:tblGrid>
                <a:gridCol w="731520"/>
                <a:gridCol w="3687775"/>
                <a:gridCol w="2011680"/>
                <a:gridCol w="1188720"/>
              </a:tblGrid>
              <a:tr h="457200">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STEP</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ACTION</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OWNER</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DATE</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1</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Leadership</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Oct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2</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Fugiat nulla pariatur excepteur sint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Design</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Nov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3</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Odio nullam varius turpis et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Product · Eng</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Dec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4</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Amet consectetur adipiscing elit sed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Ops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Jan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5</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Ex ea commodo consequat duis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Analytics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Mar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Readout · Mixed — template</dc:title>
  <dc:subject>PptxGenJS Presentation</dc:subject>
  <dc:creator>CX Presentation System</dc:creator>
  <cp:lastModifiedBy>CX Presentation System</cp:lastModifiedBy>
  <cp:revision>1</cp:revision>
  <dcterms:created xsi:type="dcterms:W3CDTF">2026-09-26T00:59:38Z</dcterms:created>
  <dcterms:modified xsi:type="dcterms:W3CDTF">2026-09-26T00:59:38Z</dcterms:modified>
</cp:coreProperties>
</file>