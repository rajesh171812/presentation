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Control</c:v>
                </c:pt>
              </c:strCache>
            </c:strRef>
          </c:tx>
          <c:spPr>
            <a:solidFill>
              <a:srgbClr val="A6A8A9"/>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Sheet1!$A$2:$A$6</c:f>
              <c:multiLvlStrCache>
                <c:ptCount val="5"/>
                <c:lvl>
                  <c:pt idx="0">
                    <c:v>Opened</c:v>
                  </c:pt>
                  <c:pt idx="1">
                    <c:v>Started</c:v>
                  </c:pt>
                  <c:pt idx="2">
                    <c:v>Completed form</c:v>
                  </c:pt>
                  <c:pt idx="3">
                    <c:v>Ordered</c:v>
                  </c:pt>
                  <c:pt idx="4">
                    <c:v>Returned</c:v>
                  </c:pt>
                </c:lvl>
              </c:multiLvlStrCache>
            </c:multiLvlStrRef>
          </c:cat>
          <c:val>
            <c:numRef>
              <c:f>Sheet1!$B$2:$B$6</c:f>
              <c:numCache>
                <c:formatCode>General</c:formatCode>
                <c:ptCount val="5"/>
                <c:pt idx="0">
                  <c:v>100</c:v>
                </c:pt>
                <c:pt idx="1">
                  <c:v>64</c:v>
                </c:pt>
                <c:pt idx="2">
                  <c:v>41</c:v>
                </c:pt>
                <c:pt idx="3">
                  <c:v>30</c:v>
                </c:pt>
                <c:pt idx="4">
                  <c:v>22</c:v>
                </c:pt>
              </c:numCache>
            </c:numRef>
          </c:val>
        </c:ser>
        <c:ser>
          <c:idx val="1"/>
          <c:order val="1"/>
          <c:tx>
            <c:strRef>
              <c:f>Sheet1!$C$1</c:f>
              <c:strCache>
                <c:ptCount val="1"/>
                <c:pt idx="0">
                  <c:v>Variant</c:v>
                </c:pt>
              </c:strCache>
            </c:strRef>
          </c:tx>
          <c:spPr>
            <a:solidFill>
              <a:srgbClr val="004F71"/>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Sheet1!$A$2:$A$6</c:f>
              <c:multiLvlStrCache>
                <c:ptCount val="5"/>
                <c:lvl>
                  <c:pt idx="0">
                    <c:v>Opened</c:v>
                  </c:pt>
                  <c:pt idx="1">
                    <c:v>Started</c:v>
                  </c:pt>
                  <c:pt idx="2">
                    <c:v>Completed form</c:v>
                  </c:pt>
                  <c:pt idx="3">
                    <c:v>Ordered</c:v>
                  </c:pt>
                  <c:pt idx="4">
                    <c:v>Returned</c:v>
                  </c:pt>
                </c:lvl>
              </c:multiLvlStrCache>
            </c:multiLvlStrRef>
          </c:cat>
          <c:val>
            <c:numRef>
              <c:f>Sheet1!$C$2:$C$6</c:f>
              <c:numCache>
                <c:formatCode>General</c:formatCode>
                <c:ptCount val="5"/>
                <c:pt idx="0">
                  <c:v>100</c:v>
                </c:pt>
                <c:pt idx="1">
                  <c:v>71</c:v>
                </c:pt>
                <c:pt idx="2">
                  <c:v>52</c:v>
                </c:pt>
                <c:pt idx="3">
                  <c:v>39</c:v>
                </c:pt>
                <c:pt idx="4">
                  <c:v>29</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legend>
      <c:legendPos val="b"/>
      <c:overlay val="0"/>
      <c:txPr>
        <a:bodyPr/>
        <a:lstStyle/>
        <a:p>
          <a:pPr>
            <a:defRPr sz="1000">
              <a:latin typeface="Hanken Grotesk"/>
              <a:cs typeface="Hanken Grotesk"/>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Control</c:v>
                </c:pt>
              </c:strCache>
            </c:strRef>
          </c:tx>
          <c:spPr>
            <a:solidFill>
              <a:srgbClr val="A6A8A9"/>
            </a:solidFill>
            <a:ln w="31750" cap="flat">
              <a:solidFill>
                <a:srgbClr val="A6A8A9"/>
              </a:solidFill>
              <a:prstDash val="solid"/>
              <a:round/>
            </a:ln>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0"/>
            <c:showCatName val="0"/>
            <c:showSerName val="0"/>
            <c:showPercent val="0"/>
            <c:showBubbleSize val="0"/>
            <c:showLeaderLines val="0"/>
          </c:dLbls>
          <c:marker>
            <c:symbol val="circle"/>
            <c:size val="6"/>
            <c:spPr>
              <a:solidFill>
                <a:srgbClr val="A6A8A9"/>
              </a:solidFill>
              <a:ln w="9525" cap="flat">
                <a:solidFill>
                  <a:srgbClr val="A6A8A9"/>
                </a:solidFill>
                <a:prstDash val="solid"/>
                <a:round/>
              </a:ln>
              <a:effectLst/>
            </c:spPr>
          </c:marker>
          <c:cat>
            <c:multiLvlStrRef>
              <c:f>Sheet1!$A$2:$A$5</c:f>
              <c:multiLvlStrCache>
                <c:ptCount val="4"/>
                <c:lvl>
                  <c:pt idx="0">
                    <c:v>W1</c:v>
                  </c:pt>
                  <c:pt idx="1">
                    <c:v>W2</c:v>
                  </c:pt>
                  <c:pt idx="2">
                    <c:v>W3</c:v>
                  </c:pt>
                  <c:pt idx="3">
                    <c:v>W4</c:v>
                  </c:pt>
                </c:lvl>
              </c:multiLvlStrCache>
            </c:multiLvlStrRef>
          </c:cat>
          <c:val>
            <c:numRef>
              <c:f>Sheet1!$B$2:$B$5</c:f>
              <c:numCache>
                <c:formatCode>General</c:formatCode>
                <c:ptCount val="4"/>
                <c:pt idx="0">
                  <c:v>40</c:v>
                </c:pt>
                <c:pt idx="1">
                  <c:v>41</c:v>
                </c:pt>
                <c:pt idx="2">
                  <c:v>41</c:v>
                </c:pt>
                <c:pt idx="3">
                  <c:v>42</c:v>
                </c:pt>
              </c:numCache>
            </c:numRef>
          </c:val>
          <c:smooth val="0"/>
        </c:ser>
        <c:ser>
          <c:idx val="1"/>
          <c:order val="1"/>
          <c:tx>
            <c:strRef>
              <c:f>Sheet1!$C$1</c:f>
              <c:strCache>
                <c:ptCount val="1"/>
                <c:pt idx="0">
                  <c:v>Variant</c:v>
                </c:pt>
              </c:strCache>
            </c:strRef>
          </c:tx>
          <c:spPr>
            <a:solidFill>
              <a:srgbClr val="004F71"/>
            </a:solidFill>
            <a:ln w="31750" cap="flat">
              <a:solidFill>
                <a:srgbClr val="004F71"/>
              </a:solidFill>
              <a:prstDash val="solid"/>
              <a:round/>
            </a:ln>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0"/>
            <c:showCatName val="0"/>
            <c:showSerName val="0"/>
            <c:showPercent val="0"/>
            <c:showBubbleSize val="0"/>
            <c:showLeaderLines val="0"/>
          </c:dLbls>
          <c:marker>
            <c:symbol val="circle"/>
            <c:size val="6"/>
            <c:spPr>
              <a:solidFill>
                <a:srgbClr val="004F71"/>
              </a:solidFill>
              <a:ln w="9525" cap="flat">
                <a:solidFill>
                  <a:srgbClr val="004F71"/>
                </a:solidFill>
                <a:prstDash val="solid"/>
                <a:round/>
              </a:ln>
              <a:effectLst/>
            </c:spPr>
          </c:marker>
          <c:cat>
            <c:multiLvlStrRef>
              <c:f>Sheet1!$A$2:$A$5</c:f>
              <c:multiLvlStrCache>
                <c:ptCount val="4"/>
                <c:lvl>
                  <c:pt idx="0">
                    <c:v>W1</c:v>
                  </c:pt>
                  <c:pt idx="1">
                    <c:v>W2</c:v>
                  </c:pt>
                  <c:pt idx="2">
                    <c:v>W3</c:v>
                  </c:pt>
                  <c:pt idx="3">
                    <c:v>W4</c:v>
                  </c:pt>
                </c:lvl>
              </c:multiLvlStrCache>
            </c:multiLvlStrRef>
          </c:cat>
          <c:val>
            <c:numRef>
              <c:f>Sheet1!$C$2:$C$5</c:f>
              <c:numCache>
                <c:formatCode>General</c:formatCode>
                <c:ptCount val="4"/>
                <c:pt idx="0">
                  <c:v>43</c:v>
                </c:pt>
                <c:pt idx="1">
                  <c:v>48</c:v>
                </c:pt>
                <c:pt idx="2">
                  <c:v>51</c:v>
                </c:pt>
                <c:pt idx="3">
                  <c:v>52</c:v>
                </c:pt>
              </c:numCache>
            </c:numRef>
          </c:val>
          <c:smooth val="0"/>
        </c:ser>
        <c:dLbls>
          <c:numFmt formatCode="#,##0" sourceLinked="0"/>
          <c:txPr>
            <a:bodyPr/>
            <a:lstStyle/>
            <a:p>
              <a:pPr>
                <a:defRPr b="0" i="0" strike="noStrike" sz="1000" u="none">
                  <a:solidFill>
                    <a:srgbClr val="222731"/>
                  </a:solidFill>
                  <a:latin typeface="Hanken Grotesk"/>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55"/>
          <c:min val="35"/>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Lorem</c:v>
                </c:pt>
              </c:strCache>
            </c:strRef>
          </c:tx>
          <c:spPr>
            <a:solidFill>
              <a:srgbClr val="004F71"/>
            </a:solidFill>
            <a:effectLst/>
          </c:spPr>
          <c:invertIfNegative val="0"/>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cat>
            <c:multiLvlStrRef>
              <c:f>Sheet1!$A$2:$A$3</c:f>
              <c:multiLvlStrCache>
                <c:ptCount val="2"/>
                <c:lvl>
                  <c:pt idx="0">
                    <c:v>Before</c:v>
                  </c:pt>
                  <c:pt idx="1">
                    <c:v>After</c:v>
                  </c:pt>
                </c:lvl>
              </c:multiLvlStrCache>
            </c:multiLvlStrRef>
          </c:cat>
          <c:val>
            <c:numRef>
              <c:f>Sheet1!$B$2:$B$3</c:f>
              <c:numCache>
                <c:formatCode>General</c:formatCode>
                <c:ptCount val="2"/>
                <c:pt idx="0">
                  <c:v>34</c:v>
                </c:pt>
                <c:pt idx="1">
                  <c:v>46</c:v>
                </c:pt>
              </c:numCache>
            </c:numRef>
          </c:val>
        </c:ser>
        <c:dLbls>
          <c:numFmt formatCode="#,##0" sourceLinked="0"/>
          <c:txPr>
            <a:bodyPr/>
            <a:lstStyle/>
            <a:p>
              <a:pPr>
                <a:defRPr b="0" i="0" strike="noStrike" sz="1000" u="none">
                  <a:solidFill>
                    <a:srgbClr val="222731"/>
                  </a:solidFill>
                  <a:latin typeface="Hanken Grotesk"/>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3666A"/>
                </a:solidFill>
                <a:latin typeface="Hanken Grotesk"/>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9D9D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3666A"/>
                </a:solidFill>
                <a:latin typeface="Hanken Grotesk"/>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A3A"/>
        </a:solidFill>
      </p:bgPr>
    </p:bg>
    <p:spTree>
      <p:nvGrpSpPr>
        <p:cNvPr id="1" name=""/>
        <p:cNvGrpSpPr/>
        <p:nvPr/>
      </p:nvGrpSpPr>
      <p:grpSpPr>
        <a:xfrm>
          <a:off x="0" y="0"/>
          <a:ext cx="0" cy="0"/>
          <a:chOff x="0" y="0"/>
          <a:chExt cx="0" cy="0"/>
        </a:xfrm>
      </p:grpSpPr>
      <p:sp>
        <p:nvSpPr>
          <p:cNvPr id="2" name="Shape 0"/>
          <p:cNvSpPr/>
          <p:nvPr/>
        </p:nvSpPr>
        <p:spPr>
          <a:xfrm>
            <a:off x="457200" y="1234440"/>
            <a:ext cx="2286000" cy="365760"/>
          </a:xfrm>
          <a:prstGeom prst="roundRect">
            <a:avLst>
              <a:gd name="adj" fmla="val 20000"/>
            </a:avLst>
          </a:prstGeom>
          <a:solidFill>
            <a:srgbClr val="64CCC9"/>
          </a:solidFill>
          <a:ln w="9525">
            <a:solidFill>
              <a:srgbClr val="64CCC9"/>
            </a:solidFill>
            <a:prstDash val="solid"/>
          </a:ln>
        </p:spPr>
      </p:sp>
      <p:sp>
        <p:nvSpPr>
          <p:cNvPr id="3" name="Text 1"/>
          <p:cNvSpPr txBox="1"/>
          <p:nvPr/>
        </p:nvSpPr>
        <p:spPr>
          <a:xfrm>
            <a:off x="457200" y="1234440"/>
            <a:ext cx="22860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Template · lorem ipsum</a:t>
            </a:r>
            <a:endParaRPr lang="en-US" sz="1050" dirty="0"/>
          </a:p>
        </p:txBody>
      </p:sp>
      <p:sp>
        <p:nvSpPr>
          <p:cNvPr id="4" name="Text 2"/>
          <p:cNvSpPr txBox="1"/>
          <p:nvPr/>
        </p:nvSpPr>
        <p:spPr>
          <a:xfrm>
            <a:off x="457200" y="1783080"/>
            <a:ext cx="10972800" cy="1463040"/>
          </a:xfrm>
          <a:prstGeom prst="rect">
            <a:avLst/>
          </a:prstGeom>
          <a:noFill/>
          <a:ln/>
        </p:spPr>
        <p:txBody>
          <a:bodyPr wrap="square" lIns="0" tIns="0" rIns="0" bIns="0" rtlCol="0" anchor="t"/>
          <a:lstStyle/>
          <a:p>
            <a:pPr indent="0" marL="0">
              <a:buNone/>
            </a:pPr>
            <a:r>
              <a:rPr lang="en-US" sz="4400" b="1" dirty="0">
                <a:solidFill>
                  <a:srgbClr val="FFFFFF"/>
                </a:solidFill>
                <a:latin typeface="Bricolage Grotesque" pitchFamily="34" charset="0"/>
                <a:ea typeface="Bricolage Grotesque" pitchFamily="34" charset="-122"/>
                <a:cs typeface="Bricolage Grotesque" pitchFamily="34" charset="-120"/>
              </a:rPr>
              <a:t>Experiment Readout · Behavioral</a:t>
            </a:r>
            <a:endParaRPr lang="en-US" sz="4400" dirty="0"/>
          </a:p>
        </p:txBody>
      </p:sp>
      <p:sp>
        <p:nvSpPr>
          <p:cNvPr id="5" name="Text 3"/>
          <p:cNvSpPr txBox="1"/>
          <p:nvPr/>
        </p:nvSpPr>
        <p:spPr>
          <a:xfrm>
            <a:off x="457200" y="3383280"/>
            <a:ext cx="7863840" cy="914400"/>
          </a:xfrm>
          <a:prstGeom prst="rect">
            <a:avLst/>
          </a:prstGeom>
          <a:noFill/>
          <a:ln/>
        </p:spPr>
        <p:txBody>
          <a:bodyPr wrap="square" lIns="0" tIns="0" rIns="0" bIns="0" rtlCol="0" anchor="t"/>
          <a:lstStyle/>
          <a:p>
            <a:pPr indent="0" marL="0">
              <a:buNone/>
            </a:pPr>
            <a:r>
              <a:rPr lang="en-US" sz="1800" dirty="0">
                <a:solidFill>
                  <a:srgbClr val="CCEBF8"/>
                </a:solidFill>
                <a:latin typeface="Hanken Grotesk" pitchFamily="34" charset="0"/>
                <a:ea typeface="Hanken Grotesk" pitchFamily="34" charset="-122"/>
                <a:cs typeface="Hanken Grotesk" pitchFamily="34" charset="-120"/>
              </a:rPr>
              <a:t>Labore et dolore magna aliqua ut enim ad minim veniam quis nostrud exercitation ullamco laboris nisi ut aliquip.</a:t>
            </a:r>
            <a:endParaRPr lang="en-US" sz="1800" dirty="0"/>
          </a:p>
        </p:txBody>
      </p:sp>
      <p:sp>
        <p:nvSpPr>
          <p:cNvPr id="6" name="Text 4"/>
          <p:cNvSpPr txBox="1"/>
          <p:nvPr/>
        </p:nvSpPr>
        <p:spPr>
          <a:xfrm>
            <a:off x="457200" y="4572000"/>
            <a:ext cx="7315200" cy="320040"/>
          </a:xfrm>
          <a:prstGeom prst="rect">
            <a:avLst/>
          </a:prstGeom>
          <a:noFill/>
          <a:ln/>
        </p:spPr>
        <p:txBody>
          <a:bodyPr wrap="square" lIns="0" tIns="0" rIns="0" bIns="0" rtlCol="0" anchor="t"/>
          <a:lstStyle/>
          <a:p>
            <a:pPr indent="0" marL="0">
              <a:buNone/>
            </a:pPr>
            <a:r>
              <a:rPr lang="en-US" sz="1200" dirty="0">
                <a:solidFill>
                  <a:srgbClr val="CCEBF8"/>
                </a:solidFill>
                <a:latin typeface="IBM Plex Mono" pitchFamily="34" charset="0"/>
                <a:ea typeface="IBM Plex Mono" pitchFamily="34" charset="-122"/>
                <a:cs typeface="IBM Plex Mono" pitchFamily="34" charset="-120"/>
              </a:rPr>
              <a:t>TPL-EXPERIMENT-01 · STORY-EXP-01</a:t>
            </a:r>
            <a:endParaRPr lang="en-US" sz="1200" dirty="0"/>
          </a:p>
        </p:txBody>
      </p:sp>
      <p:sp>
        <p:nvSpPr>
          <p:cNvPr id="7" name="Text 5"/>
          <p:cNvSpPr txBox="1"/>
          <p:nvPr/>
        </p:nvSpPr>
        <p:spPr>
          <a:xfrm>
            <a:off x="457200" y="5989320"/>
            <a:ext cx="7315200" cy="320040"/>
          </a:xfrm>
          <a:prstGeom prst="rect">
            <a:avLst/>
          </a:prstGeom>
          <a:noFill/>
          <a:ln/>
        </p:spPr>
        <p:txBody>
          <a:bodyPr wrap="square" lIns="0" tIns="0" rIns="0" bIns="0" rtlCol="0" anchor="t"/>
          <a:lstStyle/>
          <a:p>
            <a:pPr indent="0" marL="0">
              <a:buNone/>
            </a:pPr>
            <a:r>
              <a:rPr lang="en-US" sz="1350" dirty="0">
                <a:solidFill>
                  <a:srgbClr val="CCEBF8"/>
                </a:solidFill>
                <a:latin typeface="Hanken Grotesk" pitchFamily="34" charset="0"/>
                <a:ea typeface="Hanken Grotesk" pitchFamily="34" charset="-122"/>
                <a:cs typeface="Hanken Grotesk" pitchFamily="34" charset="-120"/>
              </a:rPr>
              <a:t>[Audience] · [Month Year] · Owner: [Name]</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HOW TO USE THIS TEMPLATE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Two ways to turn this template into your deck</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HOW-TO · delete before sharing</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02 / 11</a:t>
            </a:r>
            <a:endParaRPr lang="en-US" sz="1050" dirty="0"/>
          </a:p>
        </p:txBody>
      </p:sp>
      <p:sp>
        <p:nvSpPr>
          <p:cNvPr id="7" name="Shape 5"/>
          <p:cNvSpPr/>
          <p:nvPr/>
        </p:nvSpPr>
        <p:spPr>
          <a:xfrm>
            <a:off x="457200" y="1783080"/>
            <a:ext cx="4754880" cy="2011680"/>
          </a:xfrm>
          <a:prstGeom prst="roundRect">
            <a:avLst>
              <a:gd name="adj" fmla="val 5455"/>
            </a:avLst>
          </a:prstGeom>
          <a:solidFill>
            <a:srgbClr val="FFFFFF"/>
          </a:solidFill>
          <a:ln w="9525">
            <a:solidFill>
              <a:srgbClr val="D9D9D6"/>
            </a:solidFill>
            <a:prstDash val="solid"/>
          </a:ln>
        </p:spPr>
      </p:sp>
      <p:sp>
        <p:nvSpPr>
          <p:cNvPr id="8" name="Text 6"/>
          <p:cNvSpPr txBox="1"/>
          <p:nvPr/>
        </p:nvSpPr>
        <p:spPr>
          <a:xfrm>
            <a:off x="731520" y="201168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A · EDIT BY HAND</a:t>
            </a:r>
            <a:endParaRPr lang="en-US" sz="1050" dirty="0"/>
          </a:p>
        </p:txBody>
      </p:sp>
      <p:sp>
        <p:nvSpPr>
          <p:cNvPr id="9" name="Text 7"/>
          <p:cNvSpPr txBox="1"/>
          <p:nvPr/>
        </p:nvSpPr>
        <p:spPr>
          <a:xfrm>
            <a:off x="731520" y="2331720"/>
            <a:ext cx="420624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Replace every lorem ipsum line and dummy number with your content.</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Keep the layouts. Delete slides you have no evidence for.</a:t>
            </a:r>
            <a:endParaRPr lang="en-US" sz="1350" dirty="0"/>
          </a:p>
          <a:p>
            <a:pPr marL="342900" indent="-342900">
              <a:spcAft>
                <a:spcPts val="500"/>
              </a:spcAft>
              <a:buSzPct val="100000"/>
              <a:buChar char="•"/>
            </a:pPr>
            <a:r>
              <a:rPr lang="en-US" sz="1350" dirty="0">
                <a:solidFill>
                  <a:srgbClr val="222731"/>
                </a:solidFill>
                <a:latin typeface="Hanken Grotesk" pitchFamily="34" charset="0"/>
                <a:ea typeface="Hanken Grotesk" pitchFamily="34" charset="-122"/>
                <a:cs typeface="Hanken Grotesk" pitchFamily="34" charset="-120"/>
              </a:rPr>
              <a:t>Put real screenshots behind the grey phone screens.</a:t>
            </a:r>
            <a:endParaRPr lang="en-US" sz="1350" dirty="0"/>
          </a:p>
        </p:txBody>
      </p:sp>
      <p:sp>
        <p:nvSpPr>
          <p:cNvPr id="10" name="Shape 8"/>
          <p:cNvSpPr/>
          <p:nvPr/>
        </p:nvSpPr>
        <p:spPr>
          <a:xfrm>
            <a:off x="457200" y="3977640"/>
            <a:ext cx="4754880" cy="2148840"/>
          </a:xfrm>
          <a:prstGeom prst="roundRect">
            <a:avLst>
              <a:gd name="adj" fmla="val 5106"/>
            </a:avLst>
          </a:prstGeom>
          <a:solidFill>
            <a:srgbClr val="FFFFFF"/>
          </a:solidFill>
          <a:ln w="9525">
            <a:solidFill>
              <a:srgbClr val="D9D9D6"/>
            </a:solidFill>
            <a:prstDash val="solid"/>
          </a:ln>
        </p:spPr>
      </p:sp>
      <p:sp>
        <p:nvSpPr>
          <p:cNvPr id="11" name="Text 9"/>
          <p:cNvSpPr txBox="1"/>
          <p:nvPr/>
        </p:nvSpPr>
        <p:spPr>
          <a:xfrm>
            <a:off x="731520" y="4206240"/>
            <a:ext cx="420624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OPTION B · USE YOUR AI TOOL</a:t>
            </a:r>
            <a:endParaRPr lang="en-US" sz="1050" dirty="0"/>
          </a:p>
        </p:txBody>
      </p:sp>
      <p:sp>
        <p:nvSpPr>
          <p:cNvPr id="12" name="Text 10"/>
          <p:cNvSpPr txBox="1"/>
          <p:nvPr/>
        </p:nvSpPr>
        <p:spPr>
          <a:xfrm>
            <a:off x="731520" y="4526280"/>
            <a:ext cx="4206240" cy="2743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Attach cx-presentation-system.md, then write:</a:t>
            </a:r>
            <a:endParaRPr lang="en-US" sz="1350" dirty="0"/>
          </a:p>
        </p:txBody>
      </p:sp>
      <p:sp>
        <p:nvSpPr>
          <p:cNvPr id="13" name="Shape 11"/>
          <p:cNvSpPr/>
          <p:nvPr/>
        </p:nvSpPr>
        <p:spPr>
          <a:xfrm>
            <a:off x="731520" y="4846320"/>
            <a:ext cx="4206240" cy="1097280"/>
          </a:xfrm>
          <a:prstGeom prst="roundRect">
            <a:avLst>
              <a:gd name="adj" fmla="val 6667"/>
            </a:avLst>
          </a:prstGeom>
          <a:solidFill>
            <a:srgbClr val="ECECEA"/>
          </a:solidFill>
          <a:ln w="9525">
            <a:solidFill>
              <a:srgbClr val="D9D9D6"/>
            </a:solidFill>
            <a:prstDash val="solid"/>
          </a:ln>
        </p:spPr>
      </p:sp>
      <p:sp>
        <p:nvSpPr>
          <p:cNvPr id="14" name="Text 12"/>
          <p:cNvSpPr txBox="1"/>
          <p:nvPr/>
        </p:nvSpPr>
        <p:spPr>
          <a:xfrm>
            <a:off x="868680" y="4892040"/>
            <a:ext cx="3931920" cy="1005840"/>
          </a:xfrm>
          <a:prstGeom prst="rect">
            <a:avLst/>
          </a:prstGeom>
          <a:noFill/>
          <a:ln/>
        </p:spPr>
        <p:txBody>
          <a:bodyPr wrap="square" lIns="0" tIns="0" rIns="0" bIns="0" rtlCol="0" anchor="ctr"/>
          <a:lstStyle/>
          <a:p>
            <a:pPr indent="0" marL="0">
              <a:buNone/>
            </a:pPr>
            <a:r>
              <a:rPr lang="en-US" sz="1000" dirty="0">
                <a:solidFill>
                  <a:srgbClr val="222731"/>
                </a:solidFill>
                <a:latin typeface="IBM Plex Mono" pitchFamily="34" charset="0"/>
                <a:ea typeface="IBM Plex Mono" pitchFamily="34" charset="-122"/>
                <a:cs typeface="IBM Plex Mono" pitchFamily="34" charset="-120"/>
              </a:rPr>
              <a:t>Use TPL-EXPERIMENT-01 with STORY-EXP-01, evidence mode Behavioral. Here is my objective, audience and data: …</a:t>
            </a:r>
            <a:endParaRPr lang="en-US" sz="1000" dirty="0"/>
          </a:p>
        </p:txBody>
      </p:sp>
      <p:sp>
        <p:nvSpPr>
          <p:cNvPr id="15" name="Text 13"/>
          <p:cNvSpPr txBox="1"/>
          <p:nvPr/>
        </p:nvSpPr>
        <p:spPr>
          <a:xfrm>
            <a:off x="5577840" y="1783080"/>
            <a:ext cx="6156655"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SLIDE SEQUENCE IN THIS TEMPLATE</a:t>
            </a:r>
            <a:endParaRPr lang="en-US" sz="1050" dirty="0"/>
          </a:p>
        </p:txBody>
      </p:sp>
      <p:sp>
        <p:nvSpPr>
          <p:cNvPr id="16" name="Text 14"/>
          <p:cNvSpPr txBox="1"/>
          <p:nvPr/>
        </p:nvSpPr>
        <p:spPr>
          <a:xfrm>
            <a:off x="5577840" y="214884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03</a:t>
            </a:r>
            <a:endParaRPr lang="en-US" sz="1000" dirty="0"/>
          </a:p>
        </p:txBody>
      </p:sp>
      <p:sp>
        <p:nvSpPr>
          <p:cNvPr id="17" name="Text 15"/>
          <p:cNvSpPr txBox="1"/>
          <p:nvPr/>
        </p:nvSpPr>
        <p:spPr>
          <a:xfrm>
            <a:off x="6035040" y="214884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overview</a:t>
            </a:r>
            <a:endParaRPr lang="en-US" sz="1250" dirty="0"/>
          </a:p>
        </p:txBody>
      </p:sp>
      <p:sp>
        <p:nvSpPr>
          <p:cNvPr id="18" name="Text 16"/>
          <p:cNvSpPr txBox="1"/>
          <p:nvPr/>
        </p:nvSpPr>
        <p:spPr>
          <a:xfrm>
            <a:off x="9402775" y="214884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SLD-EXEC-SUMMARY-01</a:t>
            </a:r>
            <a:endParaRPr lang="en-US" sz="1000" dirty="0"/>
          </a:p>
        </p:txBody>
      </p:sp>
      <p:sp>
        <p:nvSpPr>
          <p:cNvPr id="19" name="Shape 17"/>
          <p:cNvSpPr/>
          <p:nvPr/>
        </p:nvSpPr>
        <p:spPr>
          <a:xfrm>
            <a:off x="5577840" y="2478024"/>
            <a:ext cx="6156655" cy="0"/>
          </a:xfrm>
          <a:prstGeom prst="line">
            <a:avLst/>
          </a:prstGeom>
          <a:noFill/>
          <a:ln w="6350">
            <a:solidFill>
              <a:srgbClr val="D9D9D6"/>
            </a:solidFill>
            <a:prstDash val="solid"/>
          </a:ln>
        </p:spPr>
      </p:sp>
      <p:sp>
        <p:nvSpPr>
          <p:cNvPr id="20" name="Text 18"/>
          <p:cNvSpPr txBox="1"/>
          <p:nvPr/>
        </p:nvSpPr>
        <p:spPr>
          <a:xfrm>
            <a:off x="5577840" y="247802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04</a:t>
            </a:r>
            <a:endParaRPr lang="en-US" sz="1000" dirty="0"/>
          </a:p>
        </p:txBody>
      </p:sp>
      <p:sp>
        <p:nvSpPr>
          <p:cNvPr id="21" name="Text 19"/>
          <p:cNvSpPr txBox="1"/>
          <p:nvPr/>
        </p:nvSpPr>
        <p:spPr>
          <a:xfrm>
            <a:off x="6035040" y="247802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Problem / opportunity</a:t>
            </a:r>
            <a:endParaRPr lang="en-US" sz="1250" dirty="0"/>
          </a:p>
        </p:txBody>
      </p:sp>
      <p:sp>
        <p:nvSpPr>
          <p:cNvPr id="22" name="Text 20"/>
          <p:cNvSpPr txBox="1"/>
          <p:nvPr/>
        </p:nvSpPr>
        <p:spPr>
          <a:xfrm>
            <a:off x="9402775" y="247802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SLD-INSIGHT-01</a:t>
            </a:r>
            <a:endParaRPr lang="en-US" sz="1000" dirty="0"/>
          </a:p>
        </p:txBody>
      </p:sp>
      <p:sp>
        <p:nvSpPr>
          <p:cNvPr id="23" name="Shape 21"/>
          <p:cNvSpPr/>
          <p:nvPr/>
        </p:nvSpPr>
        <p:spPr>
          <a:xfrm>
            <a:off x="5577840" y="2807208"/>
            <a:ext cx="6156655" cy="0"/>
          </a:xfrm>
          <a:prstGeom prst="line">
            <a:avLst/>
          </a:prstGeom>
          <a:noFill/>
          <a:ln w="6350">
            <a:solidFill>
              <a:srgbClr val="D9D9D6"/>
            </a:solidFill>
            <a:prstDash val="solid"/>
          </a:ln>
        </p:spPr>
      </p:sp>
      <p:sp>
        <p:nvSpPr>
          <p:cNvPr id="24" name="Text 22"/>
          <p:cNvSpPr txBox="1"/>
          <p:nvPr/>
        </p:nvSpPr>
        <p:spPr>
          <a:xfrm>
            <a:off x="5577840" y="280720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05</a:t>
            </a:r>
            <a:endParaRPr lang="en-US" sz="1000" dirty="0"/>
          </a:p>
        </p:txBody>
      </p:sp>
      <p:sp>
        <p:nvSpPr>
          <p:cNvPr id="25" name="Text 23"/>
          <p:cNvSpPr txBox="1"/>
          <p:nvPr/>
        </p:nvSpPr>
        <p:spPr>
          <a:xfrm>
            <a:off x="6035040" y="280720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Hypothesis</a:t>
            </a:r>
            <a:endParaRPr lang="en-US" sz="1250" dirty="0"/>
          </a:p>
        </p:txBody>
      </p:sp>
      <p:sp>
        <p:nvSpPr>
          <p:cNvPr id="26" name="Text 24"/>
          <p:cNvSpPr txBox="1"/>
          <p:nvPr/>
        </p:nvSpPr>
        <p:spPr>
          <a:xfrm>
            <a:off x="9402775" y="280720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SLD-STATEMENT-01</a:t>
            </a:r>
            <a:endParaRPr lang="en-US" sz="1000" dirty="0"/>
          </a:p>
        </p:txBody>
      </p:sp>
      <p:sp>
        <p:nvSpPr>
          <p:cNvPr id="27" name="Shape 25"/>
          <p:cNvSpPr/>
          <p:nvPr/>
        </p:nvSpPr>
        <p:spPr>
          <a:xfrm>
            <a:off x="5577840" y="3136392"/>
            <a:ext cx="6156655" cy="0"/>
          </a:xfrm>
          <a:prstGeom prst="line">
            <a:avLst/>
          </a:prstGeom>
          <a:noFill/>
          <a:ln w="6350">
            <a:solidFill>
              <a:srgbClr val="D9D9D6"/>
            </a:solidFill>
            <a:prstDash val="solid"/>
          </a:ln>
        </p:spPr>
      </p:sp>
      <p:sp>
        <p:nvSpPr>
          <p:cNvPr id="28" name="Text 26"/>
          <p:cNvSpPr txBox="1"/>
          <p:nvPr/>
        </p:nvSpPr>
        <p:spPr>
          <a:xfrm>
            <a:off x="5577840" y="313639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06</a:t>
            </a:r>
            <a:endParaRPr lang="en-US" sz="1000" dirty="0"/>
          </a:p>
        </p:txBody>
      </p:sp>
      <p:sp>
        <p:nvSpPr>
          <p:cNvPr id="29" name="Text 27"/>
          <p:cNvSpPr txBox="1"/>
          <p:nvPr/>
        </p:nvSpPr>
        <p:spPr>
          <a:xfrm>
            <a:off x="6035040" y="313639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Experiment design</a:t>
            </a:r>
            <a:endParaRPr lang="en-US" sz="1250" dirty="0"/>
          </a:p>
        </p:txBody>
      </p:sp>
      <p:sp>
        <p:nvSpPr>
          <p:cNvPr id="30" name="Text 28"/>
          <p:cNvSpPr txBox="1"/>
          <p:nvPr/>
        </p:nvSpPr>
        <p:spPr>
          <a:xfrm>
            <a:off x="9402775" y="313639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SLD-PROCESS-01</a:t>
            </a:r>
            <a:endParaRPr lang="en-US" sz="1000" dirty="0"/>
          </a:p>
        </p:txBody>
      </p:sp>
      <p:sp>
        <p:nvSpPr>
          <p:cNvPr id="31" name="Shape 29"/>
          <p:cNvSpPr/>
          <p:nvPr/>
        </p:nvSpPr>
        <p:spPr>
          <a:xfrm>
            <a:off x="5577840" y="3465576"/>
            <a:ext cx="6156655" cy="0"/>
          </a:xfrm>
          <a:prstGeom prst="line">
            <a:avLst/>
          </a:prstGeom>
          <a:noFill/>
          <a:ln w="6350">
            <a:solidFill>
              <a:srgbClr val="D9D9D6"/>
            </a:solidFill>
            <a:prstDash val="solid"/>
          </a:ln>
        </p:spPr>
      </p:sp>
      <p:sp>
        <p:nvSpPr>
          <p:cNvPr id="32" name="Text 30"/>
          <p:cNvSpPr txBox="1"/>
          <p:nvPr/>
        </p:nvSpPr>
        <p:spPr>
          <a:xfrm>
            <a:off x="5577840" y="3465576"/>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07</a:t>
            </a:r>
            <a:endParaRPr lang="en-US" sz="1000" dirty="0"/>
          </a:p>
        </p:txBody>
      </p:sp>
      <p:sp>
        <p:nvSpPr>
          <p:cNvPr id="33" name="Text 31"/>
          <p:cNvSpPr txBox="1"/>
          <p:nvPr/>
        </p:nvSpPr>
        <p:spPr>
          <a:xfrm>
            <a:off x="6035040" y="3465576"/>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Variants / experience</a:t>
            </a:r>
            <a:endParaRPr lang="en-US" sz="1250" dirty="0"/>
          </a:p>
        </p:txBody>
      </p:sp>
      <p:sp>
        <p:nvSpPr>
          <p:cNvPr id="34" name="Text 32"/>
          <p:cNvSpPr txBox="1"/>
          <p:nvPr/>
        </p:nvSpPr>
        <p:spPr>
          <a:xfrm>
            <a:off x="9402775" y="3465576"/>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SLD-VARIANTS-01</a:t>
            </a:r>
            <a:endParaRPr lang="en-US" sz="1000" dirty="0"/>
          </a:p>
        </p:txBody>
      </p:sp>
      <p:sp>
        <p:nvSpPr>
          <p:cNvPr id="35" name="Shape 33"/>
          <p:cNvSpPr/>
          <p:nvPr/>
        </p:nvSpPr>
        <p:spPr>
          <a:xfrm>
            <a:off x="5577840" y="3794760"/>
            <a:ext cx="6156655" cy="0"/>
          </a:xfrm>
          <a:prstGeom prst="line">
            <a:avLst/>
          </a:prstGeom>
          <a:noFill/>
          <a:ln w="6350">
            <a:solidFill>
              <a:srgbClr val="D9D9D6"/>
            </a:solidFill>
            <a:prstDash val="solid"/>
          </a:ln>
        </p:spPr>
      </p:sp>
      <p:sp>
        <p:nvSpPr>
          <p:cNvPr id="36" name="Text 34"/>
          <p:cNvSpPr txBox="1"/>
          <p:nvPr/>
        </p:nvSpPr>
        <p:spPr>
          <a:xfrm>
            <a:off x="5577840" y="3794760"/>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08</a:t>
            </a:r>
            <a:endParaRPr lang="en-US" sz="1000" dirty="0"/>
          </a:p>
        </p:txBody>
      </p:sp>
      <p:sp>
        <p:nvSpPr>
          <p:cNvPr id="37" name="Text 35"/>
          <p:cNvSpPr txBox="1"/>
          <p:nvPr/>
        </p:nvSpPr>
        <p:spPr>
          <a:xfrm>
            <a:off x="6035040" y="3794760"/>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Results · Behavioral</a:t>
            </a:r>
            <a:endParaRPr lang="en-US" sz="1250" dirty="0"/>
          </a:p>
        </p:txBody>
      </p:sp>
      <p:sp>
        <p:nvSpPr>
          <p:cNvPr id="38" name="Text 36"/>
          <p:cNvSpPr txBox="1"/>
          <p:nvPr/>
        </p:nvSpPr>
        <p:spPr>
          <a:xfrm>
            <a:off x="9402775" y="3794760"/>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SLD-KPI-TREND-01</a:t>
            </a:r>
            <a:endParaRPr lang="en-US" sz="1000" dirty="0"/>
          </a:p>
        </p:txBody>
      </p:sp>
      <p:sp>
        <p:nvSpPr>
          <p:cNvPr id="39" name="Shape 37"/>
          <p:cNvSpPr/>
          <p:nvPr/>
        </p:nvSpPr>
        <p:spPr>
          <a:xfrm>
            <a:off x="5577840" y="4123944"/>
            <a:ext cx="6156655" cy="0"/>
          </a:xfrm>
          <a:prstGeom prst="line">
            <a:avLst/>
          </a:prstGeom>
          <a:noFill/>
          <a:ln w="6350">
            <a:solidFill>
              <a:srgbClr val="D9D9D6"/>
            </a:solidFill>
            <a:prstDash val="solid"/>
          </a:ln>
        </p:spPr>
      </p:sp>
      <p:sp>
        <p:nvSpPr>
          <p:cNvPr id="40" name="Text 38"/>
          <p:cNvSpPr txBox="1"/>
          <p:nvPr/>
        </p:nvSpPr>
        <p:spPr>
          <a:xfrm>
            <a:off x="5577840" y="4123944"/>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09</a:t>
            </a:r>
            <a:endParaRPr lang="en-US" sz="1000" dirty="0"/>
          </a:p>
        </p:txBody>
      </p:sp>
      <p:sp>
        <p:nvSpPr>
          <p:cNvPr id="41" name="Text 39"/>
          <p:cNvSpPr txBox="1"/>
          <p:nvPr/>
        </p:nvSpPr>
        <p:spPr>
          <a:xfrm>
            <a:off x="6035040" y="4123944"/>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What we learned</a:t>
            </a:r>
            <a:endParaRPr lang="en-US" sz="1250" dirty="0"/>
          </a:p>
        </p:txBody>
      </p:sp>
      <p:sp>
        <p:nvSpPr>
          <p:cNvPr id="42" name="Text 40"/>
          <p:cNvSpPr txBox="1"/>
          <p:nvPr/>
        </p:nvSpPr>
        <p:spPr>
          <a:xfrm>
            <a:off x="9402775" y="4123944"/>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SLD-3COL-01</a:t>
            </a:r>
            <a:endParaRPr lang="en-US" sz="1000" dirty="0"/>
          </a:p>
        </p:txBody>
      </p:sp>
      <p:sp>
        <p:nvSpPr>
          <p:cNvPr id="43" name="Shape 41"/>
          <p:cNvSpPr/>
          <p:nvPr/>
        </p:nvSpPr>
        <p:spPr>
          <a:xfrm>
            <a:off x="5577840" y="4453128"/>
            <a:ext cx="6156655" cy="0"/>
          </a:xfrm>
          <a:prstGeom prst="line">
            <a:avLst/>
          </a:prstGeom>
          <a:noFill/>
          <a:ln w="6350">
            <a:solidFill>
              <a:srgbClr val="D9D9D6"/>
            </a:solidFill>
            <a:prstDash val="solid"/>
          </a:ln>
        </p:spPr>
      </p:sp>
      <p:sp>
        <p:nvSpPr>
          <p:cNvPr id="44" name="Text 42"/>
          <p:cNvSpPr txBox="1"/>
          <p:nvPr/>
        </p:nvSpPr>
        <p:spPr>
          <a:xfrm>
            <a:off x="5577840" y="4453128"/>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10</a:t>
            </a:r>
            <a:endParaRPr lang="en-US" sz="1000" dirty="0"/>
          </a:p>
        </p:txBody>
      </p:sp>
      <p:sp>
        <p:nvSpPr>
          <p:cNvPr id="45" name="Text 43"/>
          <p:cNvSpPr txBox="1"/>
          <p:nvPr/>
        </p:nvSpPr>
        <p:spPr>
          <a:xfrm>
            <a:off x="6035040" y="4453128"/>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Implications</a:t>
            </a:r>
            <a:endParaRPr lang="en-US" sz="1250" dirty="0"/>
          </a:p>
        </p:txBody>
      </p:sp>
      <p:sp>
        <p:nvSpPr>
          <p:cNvPr id="46" name="Text 44"/>
          <p:cNvSpPr txBox="1"/>
          <p:nvPr/>
        </p:nvSpPr>
        <p:spPr>
          <a:xfrm>
            <a:off x="9402775" y="4453128"/>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SLD-2COL-01</a:t>
            </a:r>
            <a:endParaRPr lang="en-US" sz="1000" dirty="0"/>
          </a:p>
        </p:txBody>
      </p:sp>
      <p:sp>
        <p:nvSpPr>
          <p:cNvPr id="47" name="Shape 45"/>
          <p:cNvSpPr/>
          <p:nvPr/>
        </p:nvSpPr>
        <p:spPr>
          <a:xfrm>
            <a:off x="5577840" y="4782312"/>
            <a:ext cx="6156655" cy="0"/>
          </a:xfrm>
          <a:prstGeom prst="line">
            <a:avLst/>
          </a:prstGeom>
          <a:noFill/>
          <a:ln w="6350">
            <a:solidFill>
              <a:srgbClr val="D9D9D6"/>
            </a:solidFill>
            <a:prstDash val="solid"/>
          </a:ln>
        </p:spPr>
      </p:sp>
      <p:sp>
        <p:nvSpPr>
          <p:cNvPr id="48" name="Text 46"/>
          <p:cNvSpPr txBox="1"/>
          <p:nvPr/>
        </p:nvSpPr>
        <p:spPr>
          <a:xfrm>
            <a:off x="5577840" y="4782312"/>
            <a:ext cx="411480" cy="329184"/>
          </a:xfrm>
          <a:prstGeom prst="rect">
            <a:avLst/>
          </a:prstGeom>
          <a:noFill/>
          <a:ln/>
        </p:spPr>
        <p:txBody>
          <a:bodyPr wrap="square" lIns="0" tIns="0" rIns="0" bIns="0" rtlCol="0" anchor="ctr"/>
          <a:lstStyle/>
          <a:p>
            <a:pPr indent="0" marL="0">
              <a:buNone/>
            </a:pPr>
            <a:r>
              <a:rPr lang="en-US" sz="1000" dirty="0">
                <a:solidFill>
                  <a:srgbClr val="63666A"/>
                </a:solidFill>
                <a:latin typeface="IBM Plex Mono" pitchFamily="34" charset="0"/>
                <a:ea typeface="IBM Plex Mono" pitchFamily="34" charset="-122"/>
                <a:cs typeface="IBM Plex Mono" pitchFamily="34" charset="-120"/>
              </a:rPr>
              <a:t>11</a:t>
            </a:r>
            <a:endParaRPr lang="en-US" sz="1000" dirty="0"/>
          </a:p>
        </p:txBody>
      </p:sp>
      <p:sp>
        <p:nvSpPr>
          <p:cNvPr id="49" name="Text 47"/>
          <p:cNvSpPr txBox="1"/>
          <p:nvPr/>
        </p:nvSpPr>
        <p:spPr>
          <a:xfrm>
            <a:off x="6035040" y="4782312"/>
            <a:ext cx="3322015" cy="329184"/>
          </a:xfrm>
          <a:prstGeom prst="rect">
            <a:avLst/>
          </a:prstGeom>
          <a:noFill/>
          <a:ln/>
        </p:spPr>
        <p:txBody>
          <a:bodyPr wrap="square" lIns="0" tIns="0" rIns="0" bIns="0" rtlCol="0" anchor="ctr"/>
          <a:lstStyle/>
          <a:p>
            <a:pPr indent="0" marL="0">
              <a:buNone/>
            </a:pPr>
            <a:r>
              <a:rPr lang="en-US" sz="1250" dirty="0">
                <a:solidFill>
                  <a:srgbClr val="222731"/>
                </a:solidFill>
                <a:latin typeface="Hanken Grotesk" pitchFamily="34" charset="0"/>
                <a:ea typeface="Hanken Grotesk" pitchFamily="34" charset="-122"/>
                <a:cs typeface="Hanken Grotesk" pitchFamily="34" charset="-120"/>
              </a:rPr>
              <a:t>Next steps</a:t>
            </a:r>
            <a:endParaRPr lang="en-US" sz="1250" dirty="0"/>
          </a:p>
        </p:txBody>
      </p:sp>
      <p:sp>
        <p:nvSpPr>
          <p:cNvPr id="50" name="Text 48"/>
          <p:cNvSpPr txBox="1"/>
          <p:nvPr/>
        </p:nvSpPr>
        <p:spPr>
          <a:xfrm>
            <a:off x="9402775" y="4782312"/>
            <a:ext cx="2331720" cy="329184"/>
          </a:xfrm>
          <a:prstGeom prst="rect">
            <a:avLst/>
          </a:prstGeom>
          <a:noFill/>
          <a:ln/>
        </p:spPr>
        <p:txBody>
          <a:bodyPr wrap="square" lIns="0" tIns="0" rIns="0" bIns="0" rtlCol="0" anchor="ctr"/>
          <a:lstStyle/>
          <a:p>
            <a:pPr algn="r" indent="0" marL="0">
              <a:buNone/>
            </a:pPr>
            <a:r>
              <a:rPr lang="en-US" sz="1000" dirty="0">
                <a:solidFill>
                  <a:srgbClr val="004F71"/>
                </a:solidFill>
                <a:latin typeface="IBM Plex Mono" pitchFamily="34" charset="0"/>
                <a:ea typeface="IBM Plex Mono" pitchFamily="34" charset="-122"/>
                <a:cs typeface="IBM Plex Mono" pitchFamily="34" charset="-120"/>
              </a:rPr>
              <a:t>SLD-NEXT-STEPS-01</a:t>
            </a:r>
            <a:endParaRPr lang="en-US" sz="1000" dirty="0"/>
          </a:p>
        </p:txBody>
      </p:sp>
      <p:sp>
        <p:nvSpPr>
          <p:cNvPr id="51" name="Text 49"/>
          <p:cNvSpPr txBox="1"/>
          <p:nvPr/>
        </p:nvSpPr>
        <p:spPr>
          <a:xfrm>
            <a:off x="5577840" y="6172200"/>
            <a:ext cx="6156655" cy="228600"/>
          </a:xfrm>
          <a:prstGeom prst="rect">
            <a:avLst/>
          </a:prstGeom>
          <a:noFill/>
          <a:ln/>
        </p:spPr>
        <p:txBody>
          <a:bodyPr wrap="square" lIns="0" tIns="0" rIns="0" bIns="0" rtlCol="0" anchor="t"/>
          <a:lstStyle/>
          <a:p>
            <a:pPr indent="0" marL="0">
              <a:buNone/>
            </a:pPr>
            <a:r>
              <a:rPr lang="en-US" sz="1050" b="1" dirty="0">
                <a:solidFill>
                  <a:srgbClr val="A84600"/>
                </a:solidFill>
                <a:latin typeface="Hanken Grotesk" pitchFamily="34" charset="0"/>
                <a:ea typeface="Hanken Grotesk" pitchFamily="34" charset="-122"/>
                <a:cs typeface="Hanken Grotesk" pitchFamily="34" charset="-120"/>
              </a:rPr>
              <a:t>All copy is lorem ipsum and every number is dummy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OVERVIEW</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Elit sed do eiusmod tempor incididunt ut labore et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SLD-EXEC-SUMMARY-01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03 / 11</a:t>
            </a:r>
            <a:endParaRPr lang="en-US" sz="1050" dirty="0"/>
          </a:p>
        </p:txBody>
      </p:sp>
      <p:sp>
        <p:nvSpPr>
          <p:cNvPr id="7" name="Shape 5"/>
          <p:cNvSpPr/>
          <p:nvPr/>
        </p:nvSpPr>
        <p:spPr>
          <a:xfrm>
            <a:off x="457200" y="1783080"/>
            <a:ext cx="3576218" cy="2788920"/>
          </a:xfrm>
          <a:prstGeom prst="roundRect">
            <a:avLst>
              <a:gd name="adj" fmla="val 3934"/>
            </a:avLst>
          </a:prstGeom>
          <a:solidFill>
            <a:srgbClr val="FFFFFF"/>
          </a:solidFill>
          <a:ln w="9525">
            <a:solidFill>
              <a:srgbClr val="D9D9D6"/>
            </a:solidFill>
            <a:prstDash val="solid"/>
          </a:ln>
        </p:spPr>
      </p:sp>
      <p:sp>
        <p:nvSpPr>
          <p:cNvPr id="8" name="Shape 6"/>
          <p:cNvSpPr/>
          <p:nvPr/>
        </p:nvSpPr>
        <p:spPr>
          <a:xfrm>
            <a:off x="731520" y="2002536"/>
            <a:ext cx="457200" cy="45720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822960" y="2093976"/>
            <a:ext cx="274320" cy="274320"/>
          </a:xfrm>
          <a:prstGeom prst="rect">
            <a:avLst/>
          </a:prstGeom>
        </p:spPr>
      </p:pic>
      <p:sp>
        <p:nvSpPr>
          <p:cNvPr id="10" name="Text 7"/>
          <p:cNvSpPr txBox="1"/>
          <p:nvPr/>
        </p:nvSpPr>
        <p:spPr>
          <a:xfrm>
            <a:off x="1325880"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CONTEXT</a:t>
            </a:r>
            <a:endParaRPr lang="en-US" sz="1050" dirty="0"/>
          </a:p>
        </p:txBody>
      </p:sp>
      <p:sp>
        <p:nvSpPr>
          <p:cNvPr id="11" name="Text 8"/>
          <p:cNvSpPr txBox="1"/>
          <p:nvPr/>
        </p:nvSpPr>
        <p:spPr>
          <a:xfrm>
            <a:off x="731520"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42%</a:t>
            </a:r>
            <a:endParaRPr lang="en-US" sz="4200" dirty="0"/>
          </a:p>
        </p:txBody>
      </p:sp>
      <p:sp>
        <p:nvSpPr>
          <p:cNvPr id="12" name="Text 9"/>
          <p:cNvSpPr txBox="1"/>
          <p:nvPr/>
        </p:nvSpPr>
        <p:spPr>
          <a:xfrm>
            <a:off x="731520"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Labore et dolore magna aliqua ut enim ad minim veniam quis nostrud exercitation ullamco laboris nisi.</a:t>
            </a:r>
            <a:endParaRPr lang="en-US" sz="1350" dirty="0"/>
          </a:p>
        </p:txBody>
      </p:sp>
      <p:sp>
        <p:nvSpPr>
          <p:cNvPr id="13" name="Shape 10"/>
          <p:cNvSpPr/>
          <p:nvPr/>
        </p:nvSpPr>
        <p:spPr>
          <a:xfrm>
            <a:off x="4307738" y="1783080"/>
            <a:ext cx="3576218" cy="2788920"/>
          </a:xfrm>
          <a:prstGeom prst="roundRect">
            <a:avLst>
              <a:gd name="adj" fmla="val 3934"/>
            </a:avLst>
          </a:prstGeom>
          <a:solidFill>
            <a:srgbClr val="FFFFFF"/>
          </a:solidFill>
          <a:ln w="9525">
            <a:solidFill>
              <a:srgbClr val="D9D9D6"/>
            </a:solidFill>
            <a:prstDash val="solid"/>
          </a:ln>
        </p:spPr>
      </p:sp>
      <p:sp>
        <p:nvSpPr>
          <p:cNvPr id="14" name="Shape 11"/>
          <p:cNvSpPr/>
          <p:nvPr/>
        </p:nvSpPr>
        <p:spPr>
          <a:xfrm>
            <a:off x="4582058" y="2002536"/>
            <a:ext cx="457200" cy="457200"/>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673498" y="2093976"/>
            <a:ext cx="274320" cy="274320"/>
          </a:xfrm>
          <a:prstGeom prst="rect">
            <a:avLst/>
          </a:prstGeom>
        </p:spPr>
      </p:pic>
      <p:sp>
        <p:nvSpPr>
          <p:cNvPr id="16" name="Text 12"/>
          <p:cNvSpPr txBox="1"/>
          <p:nvPr/>
        </p:nvSpPr>
        <p:spPr>
          <a:xfrm>
            <a:off x="5176418"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FINDING</a:t>
            </a:r>
            <a:endParaRPr lang="en-US" sz="1050" dirty="0"/>
          </a:p>
        </p:txBody>
      </p:sp>
      <p:sp>
        <p:nvSpPr>
          <p:cNvPr id="17" name="Text 13"/>
          <p:cNvSpPr txBox="1"/>
          <p:nvPr/>
        </p:nvSpPr>
        <p:spPr>
          <a:xfrm>
            <a:off x="4582058"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3 of 5</a:t>
            </a:r>
            <a:endParaRPr lang="en-US" sz="4200" dirty="0"/>
          </a:p>
        </p:txBody>
      </p:sp>
      <p:sp>
        <p:nvSpPr>
          <p:cNvPr id="18" name="Text 14"/>
          <p:cNvSpPr txBox="1"/>
          <p:nvPr/>
        </p:nvSpPr>
        <p:spPr>
          <a:xfrm>
            <a:off x="4582058"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 exercitation ullamco laboris nisi ut aliquip ex ea commodo consequat duis.</a:t>
            </a:r>
            <a:endParaRPr lang="en-US" sz="1350" dirty="0"/>
          </a:p>
        </p:txBody>
      </p:sp>
      <p:sp>
        <p:nvSpPr>
          <p:cNvPr id="19" name="Shape 15"/>
          <p:cNvSpPr/>
          <p:nvPr/>
        </p:nvSpPr>
        <p:spPr>
          <a:xfrm>
            <a:off x="8158277" y="1783080"/>
            <a:ext cx="3576218" cy="2788920"/>
          </a:xfrm>
          <a:prstGeom prst="roundRect">
            <a:avLst>
              <a:gd name="adj" fmla="val 3934"/>
            </a:avLst>
          </a:prstGeom>
          <a:solidFill>
            <a:srgbClr val="FFFFFF"/>
          </a:solidFill>
          <a:ln w="9525">
            <a:solidFill>
              <a:srgbClr val="D9D9D6"/>
            </a:solidFill>
            <a:prstDash val="solid"/>
          </a:ln>
        </p:spPr>
      </p:sp>
      <p:sp>
        <p:nvSpPr>
          <p:cNvPr id="20" name="Shape 16"/>
          <p:cNvSpPr/>
          <p:nvPr/>
        </p:nvSpPr>
        <p:spPr>
          <a:xfrm>
            <a:off x="8432597" y="2002536"/>
            <a:ext cx="457200" cy="457200"/>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524037" y="2093976"/>
            <a:ext cx="274320" cy="274320"/>
          </a:xfrm>
          <a:prstGeom prst="rect">
            <a:avLst/>
          </a:prstGeom>
        </p:spPr>
      </p:pic>
      <p:sp>
        <p:nvSpPr>
          <p:cNvPr id="22" name="Text 17"/>
          <p:cNvSpPr txBox="1"/>
          <p:nvPr/>
        </p:nvSpPr>
        <p:spPr>
          <a:xfrm>
            <a:off x="9026957" y="2084832"/>
            <a:ext cx="2433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IMPACT</a:t>
            </a:r>
            <a:endParaRPr lang="en-US" sz="1050" dirty="0"/>
          </a:p>
        </p:txBody>
      </p:sp>
      <p:sp>
        <p:nvSpPr>
          <p:cNvPr id="23" name="Text 18"/>
          <p:cNvSpPr txBox="1"/>
          <p:nvPr/>
        </p:nvSpPr>
        <p:spPr>
          <a:xfrm>
            <a:off x="8432597" y="2560320"/>
            <a:ext cx="3027578" cy="777240"/>
          </a:xfrm>
          <a:prstGeom prst="rect">
            <a:avLst/>
          </a:prstGeom>
          <a:noFill/>
          <a:ln/>
        </p:spPr>
        <p:txBody>
          <a:bodyPr wrap="square" lIns="0" tIns="0" rIns="0" bIns="0" rtlCol="0" anchor="t"/>
          <a:lstStyle/>
          <a:p>
            <a:pPr indent="0" marL="0">
              <a:buNone/>
            </a:pPr>
            <a:r>
              <a:rPr lang="en-US" sz="4200" b="1" dirty="0">
                <a:solidFill>
                  <a:srgbClr val="004F71"/>
                </a:solidFill>
                <a:latin typeface="Bricolage Grotesque" pitchFamily="34" charset="0"/>
                <a:ea typeface="Bricolage Grotesque" pitchFamily="34" charset="-122"/>
                <a:cs typeface="Bricolage Grotesque" pitchFamily="34" charset="-120"/>
              </a:rPr>
              <a:t>+18 pts</a:t>
            </a:r>
            <a:endParaRPr lang="en-US" sz="4200" dirty="0"/>
          </a:p>
        </p:txBody>
      </p:sp>
      <p:sp>
        <p:nvSpPr>
          <p:cNvPr id="24" name="Text 19"/>
          <p:cNvSpPr txBox="1"/>
          <p:nvPr/>
        </p:nvSpPr>
        <p:spPr>
          <a:xfrm>
            <a:off x="8432597" y="3429000"/>
            <a:ext cx="3027578" cy="100584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Laboris nisi ut aliquip ex ea commodo consequat duis aute irure dolor in reprehenderit in voluptate.</a:t>
            </a:r>
            <a:endParaRPr lang="en-US" sz="1350" dirty="0"/>
          </a:p>
        </p:txBody>
      </p:sp>
      <p:sp>
        <p:nvSpPr>
          <p:cNvPr id="25" name="Shape 20"/>
          <p:cNvSpPr/>
          <p:nvPr/>
        </p:nvSpPr>
        <p:spPr>
          <a:xfrm>
            <a:off x="457200" y="4846320"/>
            <a:ext cx="11277295" cy="1234440"/>
          </a:xfrm>
          <a:prstGeom prst="roundRect">
            <a:avLst>
              <a:gd name="adj" fmla="val 7407"/>
            </a:avLst>
          </a:prstGeom>
          <a:solidFill>
            <a:srgbClr val="002A3A"/>
          </a:solidFill>
          <a:ln w="9525">
            <a:solidFill>
              <a:srgbClr val="002A3A"/>
            </a:solidFill>
            <a:prstDash val="solid"/>
          </a:ln>
        </p:spPr>
      </p:sp>
      <p:sp>
        <p:nvSpPr>
          <p:cNvPr id="26" name="Shape 21"/>
          <p:cNvSpPr/>
          <p:nvPr/>
        </p:nvSpPr>
        <p:spPr>
          <a:xfrm>
            <a:off x="731520" y="5230368"/>
            <a:ext cx="1188720" cy="457200"/>
          </a:xfrm>
          <a:prstGeom prst="roundRect">
            <a:avLst>
              <a:gd name="adj" fmla="val 16000"/>
            </a:avLst>
          </a:prstGeom>
          <a:solidFill>
            <a:srgbClr val="64CCC9"/>
          </a:solidFill>
          <a:ln w="9525">
            <a:solidFill>
              <a:srgbClr val="64CCC9"/>
            </a:solidFill>
            <a:prstDash val="solid"/>
          </a:ln>
        </p:spPr>
      </p:sp>
      <p:sp>
        <p:nvSpPr>
          <p:cNvPr id="27" name="Text 22"/>
          <p:cNvSpPr txBox="1"/>
          <p:nvPr/>
        </p:nvSpPr>
        <p:spPr>
          <a:xfrm>
            <a:off x="731520" y="5230368"/>
            <a:ext cx="1188720" cy="45720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THE ASK</a:t>
            </a:r>
            <a:endParaRPr lang="en-US" sz="1050" dirty="0"/>
          </a:p>
        </p:txBody>
      </p:sp>
      <p:sp>
        <p:nvSpPr>
          <p:cNvPr id="28" name="Text 23"/>
          <p:cNvSpPr txBox="1"/>
          <p:nvPr/>
        </p:nvSpPr>
        <p:spPr>
          <a:xfrm>
            <a:off x="2194560" y="4846320"/>
            <a:ext cx="9052560" cy="1234440"/>
          </a:xfrm>
          <a:prstGeom prst="rect">
            <a:avLst/>
          </a:prstGeom>
          <a:noFill/>
          <a:ln/>
        </p:spPr>
        <p:txBody>
          <a:bodyPr wrap="square" lIns="0" tIns="0" rIns="0" bIns="0" rtlCol="0" anchor="ctr"/>
          <a:lstStyle/>
          <a:p>
            <a:pPr indent="0" marL="0">
              <a:buNone/>
            </a:pPr>
            <a:r>
              <a:rPr lang="en-US" sz="1600" dirty="0">
                <a:solidFill>
                  <a:srgbClr val="FFFFFF"/>
                </a:solidFill>
                <a:latin typeface="Hanken Grotesk" pitchFamily="34" charset="0"/>
                <a:ea typeface="Hanken Grotesk" pitchFamily="34" charset="-122"/>
                <a:cs typeface="Hanken Grotesk" pitchFamily="34" charset="-120"/>
              </a:rPr>
              <a:t>Deserunt mollit anim id est laborum curabitur pretium tincidunt lacus nulla gravida orci a odio nullam varius turpis et commodo pharetra est.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PROBLEM / OPPORTUNITY</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Laboris nisi ut aliquip ex ea commodo consequat duis aute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SLD-INSIGHT-01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04 / 11</a:t>
            </a:r>
            <a:endParaRPr lang="en-US" sz="1050" dirty="0"/>
          </a:p>
        </p:txBody>
      </p:sp>
      <p:sp>
        <p:nvSpPr>
          <p:cNvPr id="7" name="Shape 5"/>
          <p:cNvSpPr/>
          <p:nvPr/>
        </p:nvSpPr>
        <p:spPr>
          <a:xfrm>
            <a:off x="457200" y="1783080"/>
            <a:ext cx="5120640" cy="4343400"/>
          </a:xfrm>
          <a:prstGeom prst="roundRect">
            <a:avLst>
              <a:gd name="adj" fmla="val 2526"/>
            </a:avLst>
          </a:prstGeom>
          <a:solidFill>
            <a:srgbClr val="004F71"/>
          </a:solidFill>
          <a:ln w="9525">
            <a:solidFill>
              <a:srgbClr val="004F71"/>
            </a:solidFill>
            <a:prstDash val="solid"/>
          </a:ln>
        </p:spPr>
      </p:sp>
      <p:sp>
        <p:nvSpPr>
          <p:cNvPr id="8" name="Shape 6"/>
          <p:cNvSpPr/>
          <p:nvPr/>
        </p:nvSpPr>
        <p:spPr>
          <a:xfrm>
            <a:off x="822960" y="2148840"/>
            <a:ext cx="548640" cy="548640"/>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32688" y="2258568"/>
            <a:ext cx="329184" cy="329184"/>
          </a:xfrm>
          <a:prstGeom prst="rect">
            <a:avLst/>
          </a:prstGeom>
        </p:spPr>
      </p:pic>
      <p:sp>
        <p:nvSpPr>
          <p:cNvPr id="10" name="Text 7"/>
          <p:cNvSpPr txBox="1"/>
          <p:nvPr/>
        </p:nvSpPr>
        <p:spPr>
          <a:xfrm>
            <a:off x="822960" y="292608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INSIGHT</a:t>
            </a:r>
            <a:endParaRPr lang="en-US" sz="1050" dirty="0"/>
          </a:p>
        </p:txBody>
      </p:sp>
      <p:sp>
        <p:nvSpPr>
          <p:cNvPr id="11" name="Text 8"/>
          <p:cNvSpPr txBox="1"/>
          <p:nvPr/>
        </p:nvSpPr>
        <p:spPr>
          <a:xfrm>
            <a:off x="822960" y="3246120"/>
            <a:ext cx="4389120" cy="1371600"/>
          </a:xfrm>
          <a:prstGeom prst="rect">
            <a:avLst/>
          </a:prstGeom>
          <a:noFill/>
          <a:ln/>
        </p:spPr>
        <p:txBody>
          <a:bodyPr wrap="square" lIns="0" tIns="0" rIns="0" bIns="0" rtlCol="0" anchor="t"/>
          <a:lstStyle/>
          <a:p>
            <a:pPr indent="0" marL="0">
              <a:buNone/>
            </a:pPr>
            <a:r>
              <a:rPr lang="en-US" sz="2200" b="1" dirty="0">
                <a:solidFill>
                  <a:srgbClr val="FFFFFF"/>
                </a:solidFill>
                <a:latin typeface="Bricolage Grotesque" pitchFamily="34" charset="0"/>
                <a:ea typeface="Bricolage Grotesque" pitchFamily="34" charset="-122"/>
                <a:cs typeface="Bricolage Grotesque" pitchFamily="34" charset="-120"/>
              </a:rPr>
              <a:t>Ad minim veniam quis nostrud exercitation ullamco laboris nisi ut aliquip ex ea commodo.</a:t>
            </a:r>
            <a:endParaRPr lang="en-US" sz="2200" dirty="0"/>
          </a:p>
        </p:txBody>
      </p:sp>
      <p:sp>
        <p:nvSpPr>
          <p:cNvPr id="12" name="Text 9"/>
          <p:cNvSpPr txBox="1"/>
          <p:nvPr/>
        </p:nvSpPr>
        <p:spPr>
          <a:xfrm>
            <a:off x="822960" y="4800600"/>
            <a:ext cx="4389120" cy="274320"/>
          </a:xfrm>
          <a:prstGeom prst="rect">
            <a:avLst/>
          </a:prstGeom>
          <a:noFill/>
          <a:ln/>
        </p:spPr>
        <p:txBody>
          <a:bodyPr wrap="square" lIns="0" tIns="0" rIns="0" bIns="0" rtlCol="0" anchor="t"/>
          <a:lstStyle/>
          <a:p>
            <a:pPr indent="0" marL="0">
              <a:buNone/>
            </a:pPr>
            <a:r>
              <a:rPr lang="en-US" sz="1050" b="1" spc="100" kern="0" dirty="0">
                <a:solidFill>
                  <a:srgbClr val="CCEBF8"/>
                </a:solidFill>
                <a:latin typeface="Hanken Grotesk" pitchFamily="34" charset="0"/>
                <a:ea typeface="Hanken Grotesk" pitchFamily="34" charset="-122"/>
                <a:cs typeface="Hanken Grotesk" pitchFamily="34" charset="-120"/>
              </a:rPr>
              <a:t>IMPLICATION</a:t>
            </a:r>
            <a:endParaRPr lang="en-US" sz="1050" dirty="0"/>
          </a:p>
        </p:txBody>
      </p:sp>
      <p:sp>
        <p:nvSpPr>
          <p:cNvPr id="13" name="Text 10"/>
          <p:cNvSpPr txBox="1"/>
          <p:nvPr/>
        </p:nvSpPr>
        <p:spPr>
          <a:xfrm>
            <a:off x="822960" y="5102352"/>
            <a:ext cx="4389120" cy="868680"/>
          </a:xfrm>
          <a:prstGeom prst="rect">
            <a:avLst/>
          </a:prstGeom>
          <a:noFill/>
          <a:ln/>
        </p:spPr>
        <p:txBody>
          <a:bodyPr wrap="square" lIns="0" tIns="0" rIns="0" bIns="0" rtlCol="0" anchor="t"/>
          <a:lstStyle/>
          <a:p>
            <a:pPr indent="0" marL="0">
              <a:buNone/>
            </a:pPr>
            <a:r>
              <a:rPr lang="en-US" sz="1350" dirty="0">
                <a:solidFill>
                  <a:srgbClr val="FFFFFF"/>
                </a:solidFill>
                <a:latin typeface="Hanken Grotesk" pitchFamily="34" charset="0"/>
                <a:ea typeface="Hanken Grotesk" pitchFamily="34" charset="-122"/>
                <a:cs typeface="Hanken Grotesk" pitchFamily="34" charset="-120"/>
              </a:rPr>
              <a:t>Est eros bibendum elit nec luctus magna felis sollicitudin mauris integer in mauris eu nibh euismod gravida lorem.</a:t>
            </a:r>
            <a:endParaRPr lang="en-US" sz="1350" dirty="0"/>
          </a:p>
        </p:txBody>
      </p:sp>
      <p:sp>
        <p:nvSpPr>
          <p:cNvPr id="14" name="Shape 11"/>
          <p:cNvSpPr/>
          <p:nvPr/>
        </p:nvSpPr>
        <p:spPr>
          <a:xfrm>
            <a:off x="5897880" y="1783080"/>
            <a:ext cx="5836615" cy="1335024"/>
          </a:xfrm>
          <a:prstGeom prst="roundRect">
            <a:avLst>
              <a:gd name="adj" fmla="val 8219"/>
            </a:avLst>
          </a:prstGeom>
          <a:solidFill>
            <a:srgbClr val="FFFFFF"/>
          </a:solidFill>
          <a:ln w="9525">
            <a:solidFill>
              <a:srgbClr val="D9D9D6"/>
            </a:solidFill>
            <a:prstDash val="solid"/>
          </a:ln>
        </p:spPr>
      </p:sp>
      <p:sp>
        <p:nvSpPr>
          <p:cNvPr id="15" name="Text 12"/>
          <p:cNvSpPr txBox="1"/>
          <p:nvPr/>
        </p:nvSpPr>
        <p:spPr>
          <a:xfrm>
            <a:off x="6172200" y="1965960"/>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1 in 3</a:t>
            </a:r>
            <a:endParaRPr lang="en-US" sz="3200" dirty="0"/>
          </a:p>
        </p:txBody>
      </p:sp>
      <p:sp>
        <p:nvSpPr>
          <p:cNvPr id="16" name="Text 13"/>
          <p:cNvSpPr txBox="1"/>
          <p:nvPr/>
        </p:nvSpPr>
        <p:spPr>
          <a:xfrm>
            <a:off x="8275320" y="1984248"/>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Laboris nisi ut aliquip ex ea commodo.</a:t>
            </a:r>
            <a:endParaRPr lang="en-US" sz="1350" dirty="0"/>
          </a:p>
        </p:txBody>
      </p:sp>
      <p:sp>
        <p:nvSpPr>
          <p:cNvPr id="17" name="Text 14"/>
          <p:cNvSpPr txBox="1"/>
          <p:nvPr/>
        </p:nvSpPr>
        <p:spPr>
          <a:xfrm>
            <a:off x="6172200" y="2724912"/>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Lorem · order data · n = 4,200</a:t>
            </a:r>
            <a:endParaRPr lang="en-US" sz="1050" dirty="0"/>
          </a:p>
        </p:txBody>
      </p:sp>
      <p:sp>
        <p:nvSpPr>
          <p:cNvPr id="18" name="Shape 15"/>
          <p:cNvSpPr/>
          <p:nvPr/>
        </p:nvSpPr>
        <p:spPr>
          <a:xfrm>
            <a:off x="5897880" y="3264408"/>
            <a:ext cx="5836615" cy="1335024"/>
          </a:xfrm>
          <a:prstGeom prst="roundRect">
            <a:avLst>
              <a:gd name="adj" fmla="val 8219"/>
            </a:avLst>
          </a:prstGeom>
          <a:solidFill>
            <a:srgbClr val="FFFFFF"/>
          </a:solidFill>
          <a:ln w="9525">
            <a:solidFill>
              <a:srgbClr val="D9D9D6"/>
            </a:solidFill>
            <a:prstDash val="solid"/>
          </a:ln>
        </p:spPr>
      </p:sp>
      <p:sp>
        <p:nvSpPr>
          <p:cNvPr id="19" name="Text 16"/>
          <p:cNvSpPr txBox="1"/>
          <p:nvPr/>
        </p:nvSpPr>
        <p:spPr>
          <a:xfrm>
            <a:off x="6172200" y="3447288"/>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62%</a:t>
            </a:r>
            <a:endParaRPr lang="en-US" sz="3200" dirty="0"/>
          </a:p>
        </p:txBody>
      </p:sp>
      <p:sp>
        <p:nvSpPr>
          <p:cNvPr id="20" name="Text 17"/>
          <p:cNvSpPr txBox="1"/>
          <p:nvPr/>
        </p:nvSpPr>
        <p:spPr>
          <a:xfrm>
            <a:off x="8275320" y="3465576"/>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Deserunt mollit anim id est laborum curabitur.</a:t>
            </a:r>
            <a:endParaRPr lang="en-US" sz="1350" dirty="0"/>
          </a:p>
        </p:txBody>
      </p:sp>
      <p:sp>
        <p:nvSpPr>
          <p:cNvPr id="21" name="Text 18"/>
          <p:cNvSpPr txBox="1"/>
          <p:nvPr/>
        </p:nvSpPr>
        <p:spPr>
          <a:xfrm>
            <a:off x="6172200" y="4206240"/>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Survey · online · n = 1,200</a:t>
            </a:r>
            <a:endParaRPr lang="en-US" sz="1050" dirty="0"/>
          </a:p>
        </p:txBody>
      </p:sp>
      <p:sp>
        <p:nvSpPr>
          <p:cNvPr id="22" name="Shape 19"/>
          <p:cNvSpPr/>
          <p:nvPr/>
        </p:nvSpPr>
        <p:spPr>
          <a:xfrm>
            <a:off x="5897880" y="4745736"/>
            <a:ext cx="5836615" cy="1335024"/>
          </a:xfrm>
          <a:prstGeom prst="roundRect">
            <a:avLst>
              <a:gd name="adj" fmla="val 8219"/>
            </a:avLst>
          </a:prstGeom>
          <a:solidFill>
            <a:srgbClr val="FFFFFF"/>
          </a:solidFill>
          <a:ln w="9525">
            <a:solidFill>
              <a:srgbClr val="D9D9D6"/>
            </a:solidFill>
            <a:prstDash val="solid"/>
          </a:ln>
        </p:spPr>
      </p:sp>
      <p:sp>
        <p:nvSpPr>
          <p:cNvPr id="23" name="Text 20"/>
          <p:cNvSpPr txBox="1"/>
          <p:nvPr/>
        </p:nvSpPr>
        <p:spPr>
          <a:xfrm>
            <a:off x="6172200" y="4928616"/>
            <a:ext cx="2011680" cy="685800"/>
          </a:xfrm>
          <a:prstGeom prst="rect">
            <a:avLst/>
          </a:prstGeom>
          <a:noFill/>
          <a:ln/>
        </p:spPr>
        <p:txBody>
          <a:bodyPr wrap="square" lIns="0" tIns="0" rIns="0" bIns="0" rtlCol="0" anchor="ctr"/>
          <a:lstStyle/>
          <a:p>
            <a:pPr indent="0" marL="0">
              <a:buNone/>
            </a:pPr>
            <a:r>
              <a:rPr lang="en-US" sz="3200" b="1" dirty="0">
                <a:solidFill>
                  <a:srgbClr val="004F71"/>
                </a:solidFill>
                <a:latin typeface="Bricolage Grotesque" pitchFamily="34" charset="0"/>
                <a:ea typeface="Bricolage Grotesque" pitchFamily="34" charset="-122"/>
                <a:cs typeface="Bricolage Grotesque" pitchFamily="34" charset="-120"/>
              </a:rPr>
              <a:t>5 steps</a:t>
            </a:r>
            <a:endParaRPr lang="en-US" sz="3200" dirty="0"/>
          </a:p>
        </p:txBody>
      </p:sp>
      <p:sp>
        <p:nvSpPr>
          <p:cNvPr id="24" name="Text 21"/>
          <p:cNvSpPr txBox="1"/>
          <p:nvPr/>
        </p:nvSpPr>
        <p:spPr>
          <a:xfrm>
            <a:off x="8275320" y="4946904"/>
            <a:ext cx="3291840"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Nibh euismod gravida lorem ipsum dolor sit.</a:t>
            </a:r>
            <a:endParaRPr lang="en-US" sz="1350" dirty="0"/>
          </a:p>
        </p:txBody>
      </p:sp>
      <p:sp>
        <p:nvSpPr>
          <p:cNvPr id="25" name="Text 22"/>
          <p:cNvSpPr txBox="1"/>
          <p:nvPr/>
        </p:nvSpPr>
        <p:spPr>
          <a:xfrm>
            <a:off x="6172200" y="5687568"/>
            <a:ext cx="539496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EVIDENCE  Journey audit · 3 channels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HYPOTHESIS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Lorem ipsum hypothesis stated as one testable sentence</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SLD-STATEMENT-01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05 / 11</a:t>
            </a:r>
            <a:endParaRPr lang="en-US" sz="1050" dirty="0"/>
          </a:p>
        </p:txBody>
      </p:sp>
      <p:sp>
        <p:nvSpPr>
          <p:cNvPr id="7" name="Shape 5"/>
          <p:cNvSpPr/>
          <p:nvPr/>
        </p:nvSpPr>
        <p:spPr>
          <a:xfrm>
            <a:off x="457200" y="1783080"/>
            <a:ext cx="11277295" cy="3291840"/>
          </a:xfrm>
          <a:prstGeom prst="roundRect">
            <a:avLst>
              <a:gd name="adj" fmla="val 3889"/>
            </a:avLst>
          </a:prstGeom>
          <a:solidFill>
            <a:srgbClr val="004F71"/>
          </a:solidFill>
          <a:ln w="9525">
            <a:solidFill>
              <a:srgbClr val="004F71"/>
            </a:solidFill>
            <a:prstDash val="solid"/>
          </a:ln>
        </p:spPr>
      </p:sp>
      <p:sp>
        <p:nvSpPr>
          <p:cNvPr id="8" name="Shape 6"/>
          <p:cNvSpPr/>
          <p:nvPr/>
        </p:nvSpPr>
        <p:spPr>
          <a:xfrm>
            <a:off x="868680" y="2148840"/>
            <a:ext cx="1554480" cy="310896"/>
          </a:xfrm>
          <a:prstGeom prst="roundRect">
            <a:avLst>
              <a:gd name="adj" fmla="val 23529"/>
            </a:avLst>
          </a:prstGeom>
          <a:solidFill>
            <a:srgbClr val="64CCC9"/>
          </a:solidFill>
          <a:ln w="9525">
            <a:solidFill>
              <a:srgbClr val="64CCC9"/>
            </a:solidFill>
            <a:prstDash val="solid"/>
          </a:ln>
        </p:spPr>
      </p:sp>
      <p:sp>
        <p:nvSpPr>
          <p:cNvPr id="9" name="Text 7"/>
          <p:cNvSpPr txBox="1"/>
          <p:nvPr/>
        </p:nvSpPr>
        <p:spPr>
          <a:xfrm>
            <a:off x="868680" y="2148840"/>
            <a:ext cx="1554480" cy="310896"/>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HYPOTHESIS</a:t>
            </a:r>
            <a:endParaRPr lang="en-US" sz="1050" dirty="0"/>
          </a:p>
        </p:txBody>
      </p:sp>
      <p:sp>
        <p:nvSpPr>
          <p:cNvPr id="10" name="Text 8"/>
          <p:cNvSpPr txBox="1"/>
          <p:nvPr/>
        </p:nvSpPr>
        <p:spPr>
          <a:xfrm>
            <a:off x="868680" y="2651760"/>
            <a:ext cx="10454335" cy="2103120"/>
          </a:xfrm>
          <a:prstGeom prst="rect">
            <a:avLst/>
          </a:prstGeom>
          <a:noFill/>
          <a:ln/>
        </p:spPr>
        <p:txBody>
          <a:bodyPr wrap="square" lIns="0" tIns="0" rIns="0" bIns="0" rtlCol="0" anchor="ctr"/>
          <a:lstStyle/>
          <a:p>
            <a:pPr indent="0" marL="0">
              <a:buNone/>
            </a:pPr>
            <a:r>
              <a:rPr lang="en-US" sz="3000" b="1" dirty="0">
                <a:solidFill>
                  <a:srgbClr val="FFFFFF"/>
                </a:solidFill>
                <a:latin typeface="Bricolage Grotesque" pitchFamily="34" charset="0"/>
                <a:ea typeface="Bricolage Grotesque" pitchFamily="34" charset="-122"/>
                <a:cs typeface="Bricolage Grotesque" pitchFamily="34" charset="-120"/>
              </a:rPr>
              <a:t>We believe that laboris nisi ut aliquip ex ea commodo consequat duis aute will est eros bibendum elit nec luctus magna felis.</a:t>
            </a:r>
            <a:endParaRPr lang="en-US" sz="3000" dirty="0"/>
          </a:p>
        </p:txBody>
      </p:sp>
      <p:sp>
        <p:nvSpPr>
          <p:cNvPr id="11" name="Text 9"/>
          <p:cNvSpPr txBox="1"/>
          <p:nvPr/>
        </p:nvSpPr>
        <p:spPr>
          <a:xfrm>
            <a:off x="457200"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WE'LL KNOW IT WORKED WHEN</a:t>
            </a:r>
            <a:endParaRPr lang="en-US" sz="1050" dirty="0"/>
          </a:p>
        </p:txBody>
      </p:sp>
      <p:sp>
        <p:nvSpPr>
          <p:cNvPr id="12" name="Text 10"/>
          <p:cNvSpPr txBox="1"/>
          <p:nvPr/>
        </p:nvSpPr>
        <p:spPr>
          <a:xfrm>
            <a:off x="457200"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Dolor in reprehenderit in voluptate velit esse cillum dolore eu fugiat nulla pariatur excepteur.</a:t>
            </a:r>
            <a:endParaRPr lang="en-US" sz="1350" dirty="0"/>
          </a:p>
        </p:txBody>
      </p:sp>
      <p:sp>
        <p:nvSpPr>
          <p:cNvPr id="13" name="Text 11"/>
          <p:cNvSpPr txBox="1"/>
          <p:nvPr/>
        </p:nvSpPr>
        <p:spPr>
          <a:xfrm>
            <a:off x="4307738"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14" name="Text 12"/>
          <p:cNvSpPr txBox="1"/>
          <p:nvPr/>
        </p:nvSpPr>
        <p:spPr>
          <a:xfrm>
            <a:off x="4307738"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Lorem ipsum rate, +2 pts or more</a:t>
            </a:r>
            <a:endParaRPr lang="en-US" sz="1350" dirty="0"/>
          </a:p>
        </p:txBody>
      </p:sp>
      <p:sp>
        <p:nvSpPr>
          <p:cNvPr id="15" name="Text 13"/>
          <p:cNvSpPr txBox="1"/>
          <p:nvPr/>
        </p:nvSpPr>
        <p:spPr>
          <a:xfrm>
            <a:off x="8158277" y="5303520"/>
            <a:ext cx="357621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16" name="Text 14"/>
          <p:cNvSpPr txBox="1"/>
          <p:nvPr/>
        </p:nvSpPr>
        <p:spPr>
          <a:xfrm>
            <a:off x="8158277" y="5577840"/>
            <a:ext cx="3576218" cy="731520"/>
          </a:xfrm>
          <a:prstGeom prst="rect">
            <a:avLst/>
          </a:prstGeom>
          <a:noFill/>
          <a:ln/>
        </p:spPr>
        <p:txBody>
          <a:bodyPr wrap="square" lIns="0" tIns="0" rIns="0" bIns="0" rtlCol="0" anchor="t"/>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Sed do eiusmod tempor incididunt ut labore et.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EXPERIMENT DESIGN</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Pretium tincidunt lacus nulla gravida orci a odio nullam</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SLD-PROCESS-01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06 / 11</a:t>
            </a:r>
            <a:endParaRPr lang="en-US" sz="1050" dirty="0"/>
          </a:p>
        </p:txBody>
      </p:sp>
      <p:sp>
        <p:nvSpPr>
          <p:cNvPr id="7" name="Shape 5"/>
          <p:cNvSpPr/>
          <p:nvPr/>
        </p:nvSpPr>
        <p:spPr>
          <a:xfrm>
            <a:off x="1188720" y="2514600"/>
            <a:ext cx="9814255" cy="0"/>
          </a:xfrm>
          <a:prstGeom prst="line">
            <a:avLst/>
          </a:prstGeom>
          <a:noFill/>
          <a:ln w="25400">
            <a:solidFill>
              <a:srgbClr val="D9D9D6"/>
            </a:solidFill>
            <a:prstDash val="solid"/>
          </a:ln>
        </p:spPr>
      </p:sp>
      <p:sp>
        <p:nvSpPr>
          <p:cNvPr id="8" name="Shape 6"/>
          <p:cNvSpPr/>
          <p:nvPr/>
        </p:nvSpPr>
        <p:spPr>
          <a:xfrm>
            <a:off x="914400" y="2240280"/>
            <a:ext cx="548640" cy="548640"/>
          </a:xfrm>
          <a:prstGeom prst="ellipse">
            <a:avLst/>
          </a:prstGeom>
          <a:solidFill>
            <a:srgbClr val="004F71"/>
          </a:solidFill>
          <a:ln w="12700">
            <a:solidFill>
              <a:srgbClr val="004F71"/>
            </a:solidFill>
            <a:prstDash val="solid"/>
          </a:ln>
        </p:spPr>
      </p:sp>
      <p:sp>
        <p:nvSpPr>
          <p:cNvPr id="9" name="Text 7"/>
          <p:cNvSpPr txBox="1"/>
          <p:nvPr/>
        </p:nvSpPr>
        <p:spPr>
          <a:xfrm>
            <a:off x="914400"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1</a:t>
            </a:r>
            <a:endParaRPr lang="en-US" sz="1050" dirty="0"/>
          </a:p>
        </p:txBody>
      </p:sp>
      <p:sp>
        <p:nvSpPr>
          <p:cNvPr id="10" name="Text 8"/>
          <p:cNvSpPr txBox="1"/>
          <p:nvPr/>
        </p:nvSpPr>
        <p:spPr>
          <a:xfrm>
            <a:off x="182880"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Recruit</a:t>
            </a:r>
            <a:endParaRPr lang="en-US" sz="1500" dirty="0"/>
          </a:p>
        </p:txBody>
      </p:sp>
      <p:sp>
        <p:nvSpPr>
          <p:cNvPr id="11" name="Text 9"/>
          <p:cNvSpPr txBox="1"/>
          <p:nvPr/>
        </p:nvSpPr>
        <p:spPr>
          <a:xfrm>
            <a:off x="182880"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Consequat duis aute irure dolor in reprehenderit in voluptate.</a:t>
            </a:r>
            <a:endParaRPr lang="en-US" sz="1150" dirty="0"/>
          </a:p>
        </p:txBody>
      </p:sp>
      <p:sp>
        <p:nvSpPr>
          <p:cNvPr id="12" name="Shape 10"/>
          <p:cNvSpPr/>
          <p:nvPr/>
        </p:nvSpPr>
        <p:spPr>
          <a:xfrm>
            <a:off x="3367964" y="2240280"/>
            <a:ext cx="548640" cy="548640"/>
          </a:xfrm>
          <a:prstGeom prst="ellipse">
            <a:avLst/>
          </a:prstGeom>
          <a:solidFill>
            <a:srgbClr val="004F71"/>
          </a:solidFill>
          <a:ln w="12700">
            <a:solidFill>
              <a:srgbClr val="004F71"/>
            </a:solidFill>
            <a:prstDash val="solid"/>
          </a:ln>
        </p:spPr>
      </p:sp>
      <p:sp>
        <p:nvSpPr>
          <p:cNvPr id="13" name="Text 11"/>
          <p:cNvSpPr txBox="1"/>
          <p:nvPr/>
        </p:nvSpPr>
        <p:spPr>
          <a:xfrm>
            <a:off x="3367964"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2</a:t>
            </a:r>
            <a:endParaRPr lang="en-US" sz="1050" dirty="0"/>
          </a:p>
        </p:txBody>
      </p:sp>
      <p:sp>
        <p:nvSpPr>
          <p:cNvPr id="14" name="Text 12"/>
          <p:cNvSpPr txBox="1"/>
          <p:nvPr/>
        </p:nvSpPr>
        <p:spPr>
          <a:xfrm>
            <a:off x="2636444"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Randomize</a:t>
            </a:r>
            <a:endParaRPr lang="en-US" sz="1500" dirty="0"/>
          </a:p>
        </p:txBody>
      </p:sp>
      <p:sp>
        <p:nvSpPr>
          <p:cNvPr id="15" name="Text 13"/>
          <p:cNvSpPr txBox="1"/>
          <p:nvPr/>
        </p:nvSpPr>
        <p:spPr>
          <a:xfrm>
            <a:off x="2636444"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Non proident sunt in culpa qui officia deserunt mollit.</a:t>
            </a:r>
            <a:endParaRPr lang="en-US" sz="1150" dirty="0"/>
          </a:p>
        </p:txBody>
      </p:sp>
      <p:sp>
        <p:nvSpPr>
          <p:cNvPr id="16" name="Shape 14"/>
          <p:cNvSpPr/>
          <p:nvPr/>
        </p:nvSpPr>
        <p:spPr>
          <a:xfrm>
            <a:off x="5821528" y="2240280"/>
            <a:ext cx="548640" cy="548640"/>
          </a:xfrm>
          <a:prstGeom prst="ellipse">
            <a:avLst/>
          </a:prstGeom>
          <a:solidFill>
            <a:srgbClr val="004F71"/>
          </a:solidFill>
          <a:ln w="12700">
            <a:solidFill>
              <a:srgbClr val="004F71"/>
            </a:solidFill>
            <a:prstDash val="solid"/>
          </a:ln>
        </p:spPr>
      </p:sp>
      <p:sp>
        <p:nvSpPr>
          <p:cNvPr id="17" name="Text 15"/>
          <p:cNvSpPr txBox="1"/>
          <p:nvPr/>
        </p:nvSpPr>
        <p:spPr>
          <a:xfrm>
            <a:off x="5821528"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3</a:t>
            </a:r>
            <a:endParaRPr lang="en-US" sz="1050" dirty="0"/>
          </a:p>
        </p:txBody>
      </p:sp>
      <p:sp>
        <p:nvSpPr>
          <p:cNvPr id="18" name="Text 16"/>
          <p:cNvSpPr txBox="1"/>
          <p:nvPr/>
        </p:nvSpPr>
        <p:spPr>
          <a:xfrm>
            <a:off x="5090008"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Expose</a:t>
            </a:r>
            <a:endParaRPr lang="en-US" sz="1500" dirty="0"/>
          </a:p>
        </p:txBody>
      </p:sp>
      <p:sp>
        <p:nvSpPr>
          <p:cNvPr id="19" name="Text 17"/>
          <p:cNvSpPr txBox="1"/>
          <p:nvPr/>
        </p:nvSpPr>
        <p:spPr>
          <a:xfrm>
            <a:off x="5090008"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Odio nullam varius turpis et commodo pharetra est eros.</a:t>
            </a:r>
            <a:endParaRPr lang="en-US" sz="1150" dirty="0"/>
          </a:p>
        </p:txBody>
      </p:sp>
      <p:sp>
        <p:nvSpPr>
          <p:cNvPr id="20" name="Shape 18"/>
          <p:cNvSpPr/>
          <p:nvPr/>
        </p:nvSpPr>
        <p:spPr>
          <a:xfrm>
            <a:off x="8275091" y="2240280"/>
            <a:ext cx="548640" cy="548640"/>
          </a:xfrm>
          <a:prstGeom prst="ellipse">
            <a:avLst/>
          </a:prstGeom>
          <a:solidFill>
            <a:srgbClr val="004F71"/>
          </a:solidFill>
          <a:ln w="12700">
            <a:solidFill>
              <a:srgbClr val="004F71"/>
            </a:solidFill>
            <a:prstDash val="solid"/>
          </a:ln>
        </p:spPr>
      </p:sp>
      <p:sp>
        <p:nvSpPr>
          <p:cNvPr id="21" name="Text 19"/>
          <p:cNvSpPr txBox="1"/>
          <p:nvPr/>
        </p:nvSpPr>
        <p:spPr>
          <a:xfrm>
            <a:off x="8275091"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4</a:t>
            </a:r>
            <a:endParaRPr lang="en-US" sz="1050" dirty="0"/>
          </a:p>
        </p:txBody>
      </p:sp>
      <p:sp>
        <p:nvSpPr>
          <p:cNvPr id="22" name="Text 20"/>
          <p:cNvSpPr txBox="1"/>
          <p:nvPr/>
        </p:nvSpPr>
        <p:spPr>
          <a:xfrm>
            <a:off x="7543571"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Measure</a:t>
            </a:r>
            <a:endParaRPr lang="en-US" sz="1500" dirty="0"/>
          </a:p>
        </p:txBody>
      </p:sp>
      <p:sp>
        <p:nvSpPr>
          <p:cNvPr id="23" name="Text 21"/>
          <p:cNvSpPr txBox="1"/>
          <p:nvPr/>
        </p:nvSpPr>
        <p:spPr>
          <a:xfrm>
            <a:off x="7543571"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Nibh euismod gravida lorem ipsum dolor sit amet consectetur.</a:t>
            </a:r>
            <a:endParaRPr lang="en-US" sz="1150" dirty="0"/>
          </a:p>
        </p:txBody>
      </p:sp>
      <p:sp>
        <p:nvSpPr>
          <p:cNvPr id="24" name="Shape 22"/>
          <p:cNvSpPr/>
          <p:nvPr/>
        </p:nvSpPr>
        <p:spPr>
          <a:xfrm>
            <a:off x="10728655" y="2240280"/>
            <a:ext cx="548640" cy="548640"/>
          </a:xfrm>
          <a:prstGeom prst="ellipse">
            <a:avLst/>
          </a:prstGeom>
          <a:solidFill>
            <a:srgbClr val="004F71"/>
          </a:solidFill>
          <a:ln w="12700">
            <a:solidFill>
              <a:srgbClr val="004F71"/>
            </a:solidFill>
            <a:prstDash val="solid"/>
          </a:ln>
        </p:spPr>
      </p:sp>
      <p:sp>
        <p:nvSpPr>
          <p:cNvPr id="25" name="Text 23"/>
          <p:cNvSpPr txBox="1"/>
          <p:nvPr/>
        </p:nvSpPr>
        <p:spPr>
          <a:xfrm>
            <a:off x="10728655" y="2240280"/>
            <a:ext cx="54864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Hanken Grotesk" pitchFamily="34" charset="0"/>
                <a:ea typeface="Hanken Grotesk" pitchFamily="34" charset="-122"/>
                <a:cs typeface="Hanken Grotesk" pitchFamily="34" charset="-120"/>
              </a:rPr>
              <a:t>5</a:t>
            </a:r>
            <a:endParaRPr lang="en-US" sz="1050" dirty="0"/>
          </a:p>
        </p:txBody>
      </p:sp>
      <p:sp>
        <p:nvSpPr>
          <p:cNvPr id="26" name="Text 24"/>
          <p:cNvSpPr txBox="1"/>
          <p:nvPr/>
        </p:nvSpPr>
        <p:spPr>
          <a:xfrm>
            <a:off x="9997135" y="2971800"/>
            <a:ext cx="2011680" cy="320040"/>
          </a:xfrm>
          <a:prstGeom prst="rect">
            <a:avLst/>
          </a:prstGeom>
          <a:noFill/>
          <a:ln/>
        </p:spPr>
        <p:txBody>
          <a:bodyPr wrap="square" lIns="0" tIns="0" rIns="0" bIns="0" rtlCol="0" anchor="t"/>
          <a:lstStyle/>
          <a:p>
            <a:pPr algn="ctr" indent="0" marL="0">
              <a:buNone/>
            </a:pPr>
            <a:r>
              <a:rPr lang="en-US" sz="1500" b="1" dirty="0">
                <a:solidFill>
                  <a:srgbClr val="222731"/>
                </a:solidFill>
                <a:latin typeface="Bricolage Grotesque" pitchFamily="34" charset="0"/>
                <a:ea typeface="Bricolage Grotesque" pitchFamily="34" charset="-122"/>
                <a:cs typeface="Bricolage Grotesque" pitchFamily="34" charset="-120"/>
              </a:rPr>
              <a:t>Decide</a:t>
            </a:r>
            <a:endParaRPr lang="en-US" sz="1500" dirty="0"/>
          </a:p>
        </p:txBody>
      </p:sp>
      <p:sp>
        <p:nvSpPr>
          <p:cNvPr id="27" name="Text 25"/>
          <p:cNvSpPr txBox="1"/>
          <p:nvPr/>
        </p:nvSpPr>
        <p:spPr>
          <a:xfrm>
            <a:off x="9997135" y="3319272"/>
            <a:ext cx="2011680" cy="914400"/>
          </a:xfrm>
          <a:prstGeom prst="rect">
            <a:avLst/>
          </a:prstGeom>
          <a:noFill/>
          <a:ln/>
        </p:spPr>
        <p:txBody>
          <a:bodyPr wrap="square" lIns="0" tIns="0" rIns="0" bIns="0" rtlCol="0" anchor="t"/>
          <a:lstStyle/>
          <a:p>
            <a:pPr algn="ctr" indent="0" marL="0">
              <a:buNone/>
            </a:pPr>
            <a:r>
              <a:rPr lang="en-US" sz="1150" dirty="0">
                <a:solidFill>
                  <a:srgbClr val="63666A"/>
                </a:solidFill>
                <a:latin typeface="Hanken Grotesk" pitchFamily="34" charset="0"/>
                <a:ea typeface="Hanken Grotesk" pitchFamily="34" charset="-122"/>
                <a:cs typeface="Hanken Grotesk" pitchFamily="34" charset="-120"/>
              </a:rPr>
              <a:t>Aliqua ut enim ad minim veniam quis nostrud exercitation.</a:t>
            </a:r>
            <a:endParaRPr lang="en-US" sz="1150" dirty="0"/>
          </a:p>
        </p:txBody>
      </p:sp>
      <p:sp>
        <p:nvSpPr>
          <p:cNvPr id="28" name="Shape 26"/>
          <p:cNvSpPr/>
          <p:nvPr/>
        </p:nvSpPr>
        <p:spPr>
          <a:xfrm>
            <a:off x="457200" y="4617720"/>
            <a:ext cx="11277295" cy="1508760"/>
          </a:xfrm>
          <a:prstGeom prst="roundRect">
            <a:avLst>
              <a:gd name="adj" fmla="val 7273"/>
            </a:avLst>
          </a:prstGeom>
          <a:solidFill>
            <a:srgbClr val="ECECEA"/>
          </a:solidFill>
          <a:ln w="9525">
            <a:solidFill>
              <a:srgbClr val="ECECEA"/>
            </a:solidFill>
            <a:prstDash val="solid"/>
          </a:ln>
        </p:spPr>
      </p:sp>
      <p:sp>
        <p:nvSpPr>
          <p:cNvPr id="29" name="Text 27"/>
          <p:cNvSpPr txBox="1"/>
          <p:nvPr/>
        </p:nvSpPr>
        <p:spPr>
          <a:xfrm>
            <a:off x="731520"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AUDIENCE</a:t>
            </a:r>
            <a:endParaRPr lang="en-US" sz="1050" dirty="0"/>
          </a:p>
        </p:txBody>
      </p:sp>
      <p:sp>
        <p:nvSpPr>
          <p:cNvPr id="30" name="Text 28"/>
          <p:cNvSpPr txBox="1"/>
          <p:nvPr/>
        </p:nvSpPr>
        <p:spPr>
          <a:xfrm>
            <a:off x="731520"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n = 12,000</a:t>
            </a:r>
            <a:endParaRPr lang="en-US" sz="1700" dirty="0"/>
          </a:p>
        </p:txBody>
      </p:sp>
      <p:sp>
        <p:nvSpPr>
          <p:cNvPr id="31" name="Text 29"/>
          <p:cNvSpPr txBox="1"/>
          <p:nvPr/>
        </p:nvSpPr>
        <p:spPr>
          <a:xfrm>
            <a:off x="2877251"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SPLIT</a:t>
            </a:r>
            <a:endParaRPr lang="en-US" sz="1050" dirty="0"/>
          </a:p>
        </p:txBody>
      </p:sp>
      <p:sp>
        <p:nvSpPr>
          <p:cNvPr id="32" name="Text 30"/>
          <p:cNvSpPr txBox="1"/>
          <p:nvPr/>
        </p:nvSpPr>
        <p:spPr>
          <a:xfrm>
            <a:off x="2877251"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50 / 50</a:t>
            </a:r>
            <a:endParaRPr lang="en-US" sz="1700" dirty="0"/>
          </a:p>
        </p:txBody>
      </p:sp>
      <p:sp>
        <p:nvSpPr>
          <p:cNvPr id="33" name="Text 31"/>
          <p:cNvSpPr txBox="1"/>
          <p:nvPr/>
        </p:nvSpPr>
        <p:spPr>
          <a:xfrm>
            <a:off x="5022982"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DURATION</a:t>
            </a:r>
            <a:endParaRPr lang="en-US" sz="1050" dirty="0"/>
          </a:p>
        </p:txBody>
      </p:sp>
      <p:sp>
        <p:nvSpPr>
          <p:cNvPr id="34" name="Text 32"/>
          <p:cNvSpPr txBox="1"/>
          <p:nvPr/>
        </p:nvSpPr>
        <p:spPr>
          <a:xfrm>
            <a:off x="5022982"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4 weeks</a:t>
            </a:r>
            <a:endParaRPr lang="en-US" sz="1700" dirty="0"/>
          </a:p>
        </p:txBody>
      </p:sp>
      <p:sp>
        <p:nvSpPr>
          <p:cNvPr id="35" name="Text 33"/>
          <p:cNvSpPr txBox="1"/>
          <p:nvPr/>
        </p:nvSpPr>
        <p:spPr>
          <a:xfrm>
            <a:off x="7168713"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PRIMARY METRIC</a:t>
            </a:r>
            <a:endParaRPr lang="en-US" sz="1050" dirty="0"/>
          </a:p>
        </p:txBody>
      </p:sp>
      <p:sp>
        <p:nvSpPr>
          <p:cNvPr id="36" name="Text 34"/>
          <p:cNvSpPr txBox="1"/>
          <p:nvPr/>
        </p:nvSpPr>
        <p:spPr>
          <a:xfrm>
            <a:off x="7168713"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Lorem ipsum rate</a:t>
            </a:r>
            <a:endParaRPr lang="en-US" sz="1700" dirty="0"/>
          </a:p>
        </p:txBody>
      </p:sp>
      <p:sp>
        <p:nvSpPr>
          <p:cNvPr id="37" name="Text 35"/>
          <p:cNvSpPr txBox="1"/>
          <p:nvPr/>
        </p:nvSpPr>
        <p:spPr>
          <a:xfrm>
            <a:off x="9314444" y="4892040"/>
            <a:ext cx="1962851"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GUARDRAIL</a:t>
            </a:r>
            <a:endParaRPr lang="en-US" sz="1050" dirty="0"/>
          </a:p>
        </p:txBody>
      </p:sp>
      <p:sp>
        <p:nvSpPr>
          <p:cNvPr id="38" name="Text 36"/>
          <p:cNvSpPr txBox="1"/>
          <p:nvPr/>
        </p:nvSpPr>
        <p:spPr>
          <a:xfrm>
            <a:off x="9314444" y="5212080"/>
            <a:ext cx="1962851" cy="640080"/>
          </a:xfrm>
          <a:prstGeom prst="rect">
            <a:avLst/>
          </a:prstGeom>
          <a:noFill/>
          <a:ln/>
        </p:spPr>
        <p:txBody>
          <a:bodyPr wrap="square" lIns="0" tIns="0" rIns="0" bIns="0" rtlCol="0" anchor="t"/>
          <a:lstStyle/>
          <a:p>
            <a:pPr indent="0" marL="0">
              <a:buNone/>
            </a:pPr>
            <a:r>
              <a:rPr lang="en-US" sz="1700" b="1" dirty="0">
                <a:solidFill>
                  <a:srgbClr val="222731"/>
                </a:solidFill>
                <a:latin typeface="Bricolage Grotesque" pitchFamily="34" charset="0"/>
                <a:ea typeface="Bricolage Grotesque" pitchFamily="34" charset="-122"/>
                <a:cs typeface="Bricolage Grotesque" pitchFamily="34" charset="-120"/>
              </a:rPr>
              <a:t>Dolor opt-out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VARIANTS / EXPERIENCE</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Felis sollicitudin mauris integer in mauris eu nibh euismod gravida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SLD-VARIANTS-01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07 / 11</a:t>
            </a:r>
            <a:endParaRPr lang="en-US" sz="1050" dirty="0"/>
          </a:p>
        </p:txBody>
      </p:sp>
      <p:sp>
        <p:nvSpPr>
          <p:cNvPr id="7" name="Shape 5"/>
          <p:cNvSpPr/>
          <p:nvPr/>
        </p:nvSpPr>
        <p:spPr>
          <a:xfrm>
            <a:off x="640080" y="1737360"/>
            <a:ext cx="1463040" cy="310896"/>
          </a:xfrm>
          <a:prstGeom prst="roundRect">
            <a:avLst>
              <a:gd name="adj" fmla="val 23529"/>
            </a:avLst>
          </a:prstGeom>
          <a:solidFill>
            <a:srgbClr val="FFFFFF"/>
          </a:solidFill>
          <a:ln w="9525">
            <a:solidFill>
              <a:srgbClr val="FFFFFF"/>
            </a:solidFill>
            <a:prstDash val="solid"/>
          </a:ln>
        </p:spPr>
      </p:sp>
      <p:sp>
        <p:nvSpPr>
          <p:cNvPr id="8" name="Text 6"/>
          <p:cNvSpPr txBox="1"/>
          <p:nvPr/>
        </p:nvSpPr>
        <p:spPr>
          <a:xfrm>
            <a:off x="640080" y="1737360"/>
            <a:ext cx="1463040" cy="310896"/>
          </a:xfrm>
          <a:prstGeom prst="rect">
            <a:avLst/>
          </a:prstGeom>
          <a:noFill/>
          <a:ln/>
        </p:spPr>
        <p:txBody>
          <a:bodyPr wrap="square" lIns="0" tIns="0" rIns="0" bIns="0" rtlCol="0" anchor="ctr"/>
          <a:lstStyle/>
          <a:p>
            <a:pPr algn="ctr" indent="0" marL="0">
              <a:buNone/>
            </a:pPr>
            <a:r>
              <a:rPr lang="en-US" sz="1050" b="1" dirty="0">
                <a:solidFill>
                  <a:srgbClr val="63666A"/>
                </a:solidFill>
                <a:latin typeface="Hanken Grotesk" pitchFamily="34" charset="0"/>
                <a:ea typeface="Hanken Grotesk" pitchFamily="34" charset="-122"/>
                <a:cs typeface="Hanken Grotesk" pitchFamily="34" charset="-120"/>
              </a:rPr>
              <a:t>Control</a:t>
            </a:r>
            <a:endParaRPr lang="en-US" sz="1050" dirty="0"/>
          </a:p>
        </p:txBody>
      </p:sp>
      <p:sp>
        <p:nvSpPr>
          <p:cNvPr id="9" name="Shape 7"/>
          <p:cNvSpPr/>
          <p:nvPr/>
        </p:nvSpPr>
        <p:spPr>
          <a:xfrm>
            <a:off x="766466" y="2219605"/>
            <a:ext cx="1464162" cy="3104265"/>
          </a:xfrm>
          <a:prstGeom prst="roundRect">
            <a:avLst>
              <a:gd name="adj" fmla="val 14000"/>
            </a:avLst>
          </a:prstGeom>
          <a:solidFill>
            <a:srgbClr val="ECECEA"/>
          </a:solidFill>
          <a:ln w="9525">
            <a:solidFill>
              <a:srgbClr val="ECECEA"/>
            </a:solidFill>
            <a:prstDash val="solid"/>
          </a:ln>
        </p:spPr>
      </p:sp>
      <p:sp>
        <p:nvSpPr>
          <p:cNvPr id="10" name="Text 8"/>
          <p:cNvSpPr txBox="1"/>
          <p:nvPr/>
        </p:nvSpPr>
        <p:spPr>
          <a:xfrm>
            <a:off x="857906"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Control</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1" name="Image 0" descr="preencoded.png">    </p:cNvPr>
          <p:cNvPicPr>
            <a:picLocks noChangeAspect="1"/>
          </p:cNvPicPr>
          <p:nvPr/>
        </p:nvPicPr>
        <p:blipFill>
          <a:blip r:embed="rId1"/>
          <a:stretch>
            <a:fillRect/>
          </a:stretch>
        </p:blipFill>
        <p:spPr>
          <a:xfrm>
            <a:off x="685800" y="2148840"/>
            <a:ext cx="1623060" cy="3246120"/>
          </a:xfrm>
          <a:prstGeom prst="rect">
            <a:avLst/>
          </a:prstGeom>
        </p:spPr>
      </p:pic>
      <p:sp>
        <p:nvSpPr>
          <p:cNvPr id="12" name="Text 9"/>
          <p:cNvSpPr txBox="1"/>
          <p:nvPr/>
        </p:nvSpPr>
        <p:spPr>
          <a:xfrm>
            <a:off x="2537460"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Ad minim veniam quis nostrud exercitation ullamco laboris.</a:t>
            </a:r>
            <a:endParaRPr lang="en-US" sz="1350" dirty="0"/>
          </a:p>
        </p:txBody>
      </p:sp>
      <p:sp>
        <p:nvSpPr>
          <p:cNvPr id="13" name="Text 10"/>
          <p:cNvSpPr txBox="1"/>
          <p:nvPr/>
        </p:nvSpPr>
        <p:spPr>
          <a:xfrm>
            <a:off x="2537460" y="3886200"/>
            <a:ext cx="1404518" cy="548640"/>
          </a:xfrm>
          <a:prstGeom prst="rect">
            <a:avLst/>
          </a:prstGeom>
          <a:noFill/>
          <a:ln/>
        </p:spPr>
        <p:txBody>
          <a:bodyPr wrap="square" lIns="0" tIns="0" rIns="0" bIns="0" rtlCol="0" anchor="t"/>
          <a:lstStyle/>
          <a:p>
            <a:pPr indent="0" marL="0">
              <a:buNone/>
            </a:pPr>
            <a:r>
              <a:rPr lang="en-US" sz="2600" b="1" dirty="0">
                <a:solidFill>
                  <a:srgbClr val="63666A"/>
                </a:solidFill>
                <a:latin typeface="Bricolage Grotesque" pitchFamily="34" charset="0"/>
                <a:ea typeface="Bricolage Grotesque" pitchFamily="34" charset="-122"/>
                <a:cs typeface="Bricolage Grotesque" pitchFamily="34" charset="-120"/>
              </a:rPr>
              <a:t>10.2%</a:t>
            </a:r>
            <a:endParaRPr lang="en-US" sz="2600" dirty="0"/>
          </a:p>
        </p:txBody>
      </p:sp>
      <p:sp>
        <p:nvSpPr>
          <p:cNvPr id="14" name="Text 11"/>
          <p:cNvSpPr txBox="1"/>
          <p:nvPr/>
        </p:nvSpPr>
        <p:spPr>
          <a:xfrm>
            <a:off x="2537460"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Baseline</a:t>
            </a:r>
            <a:endParaRPr lang="en-US" sz="1050" dirty="0"/>
          </a:p>
        </p:txBody>
      </p:sp>
      <p:sp>
        <p:nvSpPr>
          <p:cNvPr id="15" name="Shape 12"/>
          <p:cNvSpPr/>
          <p:nvPr/>
        </p:nvSpPr>
        <p:spPr>
          <a:xfrm>
            <a:off x="4399178" y="1737360"/>
            <a:ext cx="1463040" cy="310896"/>
          </a:xfrm>
          <a:prstGeom prst="roundRect">
            <a:avLst>
              <a:gd name="adj" fmla="val 23529"/>
            </a:avLst>
          </a:prstGeom>
          <a:solidFill>
            <a:srgbClr val="FFFFFF"/>
          </a:solidFill>
          <a:ln w="9525">
            <a:solidFill>
              <a:srgbClr val="FFFFFF"/>
            </a:solidFill>
            <a:prstDash val="solid"/>
          </a:ln>
        </p:spPr>
      </p:sp>
      <p:sp>
        <p:nvSpPr>
          <p:cNvPr id="16" name="Text 13"/>
          <p:cNvSpPr txBox="1"/>
          <p:nvPr/>
        </p:nvSpPr>
        <p:spPr>
          <a:xfrm>
            <a:off x="4399178" y="1737360"/>
            <a:ext cx="1463040" cy="310896"/>
          </a:xfrm>
          <a:prstGeom prst="rect">
            <a:avLst/>
          </a:prstGeom>
          <a:noFill/>
          <a:ln/>
        </p:spPr>
        <p:txBody>
          <a:bodyPr wrap="square" lIns="0" tIns="0" rIns="0" bIns="0" rtlCol="0" anchor="ctr"/>
          <a:lstStyle/>
          <a:p>
            <a:pPr algn="ctr" indent="0" marL="0">
              <a:buNone/>
            </a:pPr>
            <a:r>
              <a:rPr lang="en-US" sz="1050" b="1" dirty="0">
                <a:solidFill>
                  <a:srgbClr val="004F71"/>
                </a:solidFill>
                <a:latin typeface="Hanken Grotesk" pitchFamily="34" charset="0"/>
                <a:ea typeface="Hanken Grotesk" pitchFamily="34" charset="-122"/>
                <a:cs typeface="Hanken Grotesk" pitchFamily="34" charset="-120"/>
              </a:rPr>
              <a:t>Variant A</a:t>
            </a:r>
            <a:endParaRPr lang="en-US" sz="1050" dirty="0"/>
          </a:p>
        </p:txBody>
      </p:sp>
      <p:sp>
        <p:nvSpPr>
          <p:cNvPr id="17" name="Shape 14"/>
          <p:cNvSpPr/>
          <p:nvPr/>
        </p:nvSpPr>
        <p:spPr>
          <a:xfrm>
            <a:off x="4525564" y="2219605"/>
            <a:ext cx="1464162" cy="3104265"/>
          </a:xfrm>
          <a:prstGeom prst="roundRect">
            <a:avLst>
              <a:gd name="adj" fmla="val 14000"/>
            </a:avLst>
          </a:prstGeom>
          <a:solidFill>
            <a:srgbClr val="ECECEA"/>
          </a:solidFill>
          <a:ln w="9525">
            <a:solidFill>
              <a:srgbClr val="ECECEA"/>
            </a:solidFill>
            <a:prstDash val="solid"/>
          </a:ln>
        </p:spPr>
      </p:sp>
      <p:sp>
        <p:nvSpPr>
          <p:cNvPr id="18" name="Text 15"/>
          <p:cNvSpPr txBox="1"/>
          <p:nvPr/>
        </p:nvSpPr>
        <p:spPr>
          <a:xfrm>
            <a:off x="4617004"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A</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19" name="Image 1" descr="preencoded.png">    </p:cNvPr>
          <p:cNvPicPr>
            <a:picLocks noChangeAspect="1"/>
          </p:cNvPicPr>
          <p:nvPr/>
        </p:nvPicPr>
        <p:blipFill>
          <a:blip r:embed="rId2"/>
          <a:stretch>
            <a:fillRect/>
          </a:stretch>
        </p:blipFill>
        <p:spPr>
          <a:xfrm>
            <a:off x="4444898" y="2148840"/>
            <a:ext cx="1623060" cy="3246120"/>
          </a:xfrm>
          <a:prstGeom prst="rect">
            <a:avLst/>
          </a:prstGeom>
        </p:spPr>
      </p:pic>
      <p:sp>
        <p:nvSpPr>
          <p:cNvPr id="20" name="Text 16"/>
          <p:cNvSpPr txBox="1"/>
          <p:nvPr/>
        </p:nvSpPr>
        <p:spPr>
          <a:xfrm>
            <a:off x="6296558"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Fugiat nulla pariatur excepteur sint occaecat cupidatat non.</a:t>
            </a:r>
            <a:endParaRPr lang="en-US" sz="1350" dirty="0"/>
          </a:p>
        </p:txBody>
      </p:sp>
      <p:sp>
        <p:nvSpPr>
          <p:cNvPr id="21" name="Text 17"/>
          <p:cNvSpPr txBox="1"/>
          <p:nvPr/>
        </p:nvSpPr>
        <p:spPr>
          <a:xfrm>
            <a:off x="6296558" y="3886200"/>
            <a:ext cx="1404518" cy="548640"/>
          </a:xfrm>
          <a:prstGeom prst="rect">
            <a:avLst/>
          </a:prstGeom>
          <a:noFill/>
          <a:ln/>
        </p:spPr>
        <p:txBody>
          <a:bodyPr wrap="square" lIns="0" tIns="0" rIns="0" bIns="0" rtlCol="0" anchor="t"/>
          <a:lstStyle/>
          <a:p>
            <a:pPr indent="0" marL="0">
              <a:buNone/>
            </a:pPr>
            <a:r>
              <a:rPr lang="en-US" sz="2600" b="1" dirty="0">
                <a:solidFill>
                  <a:srgbClr val="004F71"/>
                </a:solidFill>
                <a:latin typeface="Bricolage Grotesque" pitchFamily="34" charset="0"/>
                <a:ea typeface="Bricolage Grotesque" pitchFamily="34" charset="-122"/>
                <a:cs typeface="Bricolage Grotesque" pitchFamily="34" charset="-120"/>
              </a:rPr>
              <a:t>11.6%</a:t>
            </a:r>
            <a:endParaRPr lang="en-US" sz="2600" dirty="0"/>
          </a:p>
        </p:txBody>
      </p:sp>
      <p:sp>
        <p:nvSpPr>
          <p:cNvPr id="22" name="Text 18"/>
          <p:cNvSpPr txBox="1"/>
          <p:nvPr/>
        </p:nvSpPr>
        <p:spPr>
          <a:xfrm>
            <a:off x="6296558"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+1.4 pts vs control</a:t>
            </a:r>
            <a:endParaRPr lang="en-US" sz="1050" dirty="0"/>
          </a:p>
        </p:txBody>
      </p:sp>
      <p:sp>
        <p:nvSpPr>
          <p:cNvPr id="23" name="Shape 19"/>
          <p:cNvSpPr/>
          <p:nvPr/>
        </p:nvSpPr>
        <p:spPr>
          <a:xfrm>
            <a:off x="8158277" y="1737360"/>
            <a:ext cx="1463040" cy="310896"/>
          </a:xfrm>
          <a:prstGeom prst="roundRect">
            <a:avLst>
              <a:gd name="adj" fmla="val 23529"/>
            </a:avLst>
          </a:prstGeom>
          <a:solidFill>
            <a:srgbClr val="FFFFFF"/>
          </a:solidFill>
          <a:ln w="9525">
            <a:solidFill>
              <a:srgbClr val="FFFFFF"/>
            </a:solidFill>
            <a:prstDash val="solid"/>
          </a:ln>
        </p:spPr>
      </p:sp>
      <p:sp>
        <p:nvSpPr>
          <p:cNvPr id="24" name="Text 20"/>
          <p:cNvSpPr txBox="1"/>
          <p:nvPr/>
        </p:nvSpPr>
        <p:spPr>
          <a:xfrm>
            <a:off x="8158277" y="1737360"/>
            <a:ext cx="1463040" cy="310896"/>
          </a:xfrm>
          <a:prstGeom prst="rect">
            <a:avLst/>
          </a:prstGeom>
          <a:noFill/>
          <a:ln/>
        </p:spPr>
        <p:txBody>
          <a:bodyPr wrap="square" lIns="0" tIns="0" rIns="0" bIns="0" rtlCol="0" anchor="ctr"/>
          <a:lstStyle/>
          <a:p>
            <a:pPr algn="ctr" indent="0" marL="0">
              <a:buNone/>
            </a:pPr>
            <a:r>
              <a:rPr lang="en-US" sz="1050" b="1" dirty="0">
                <a:solidFill>
                  <a:srgbClr val="0077A8"/>
                </a:solidFill>
                <a:latin typeface="Hanken Grotesk" pitchFamily="34" charset="0"/>
                <a:ea typeface="Hanken Grotesk" pitchFamily="34" charset="-122"/>
                <a:cs typeface="Hanken Grotesk" pitchFamily="34" charset="-120"/>
              </a:rPr>
              <a:t>Variant B</a:t>
            </a:r>
            <a:endParaRPr lang="en-US" sz="1050" dirty="0"/>
          </a:p>
        </p:txBody>
      </p:sp>
      <p:sp>
        <p:nvSpPr>
          <p:cNvPr id="25" name="Shape 21"/>
          <p:cNvSpPr/>
          <p:nvPr/>
        </p:nvSpPr>
        <p:spPr>
          <a:xfrm>
            <a:off x="8284663" y="2219605"/>
            <a:ext cx="1464162" cy="3104265"/>
          </a:xfrm>
          <a:prstGeom prst="roundRect">
            <a:avLst>
              <a:gd name="adj" fmla="val 14000"/>
            </a:avLst>
          </a:prstGeom>
          <a:solidFill>
            <a:srgbClr val="ECECEA"/>
          </a:solidFill>
          <a:ln w="9525">
            <a:solidFill>
              <a:srgbClr val="ECECEA"/>
            </a:solidFill>
            <a:prstDash val="solid"/>
          </a:ln>
        </p:spPr>
      </p:sp>
      <p:sp>
        <p:nvSpPr>
          <p:cNvPr id="26" name="Text 22"/>
          <p:cNvSpPr txBox="1"/>
          <p:nvPr/>
        </p:nvSpPr>
        <p:spPr>
          <a:xfrm>
            <a:off x="8376103" y="3497418"/>
            <a:ext cx="1281282" cy="548640"/>
          </a:xfrm>
          <a:prstGeom prst="rect">
            <a:avLst/>
          </a:prstGeom>
          <a:noFill/>
          <a:ln/>
        </p:spPr>
        <p:txBody>
          <a:bodyPr wrap="square" lIns="0" tIns="0" rIns="0" bIns="0" rtlCol="0" anchor="ctr"/>
          <a:lstStyle/>
          <a:p>
            <a:pPr algn="ctr" indent="0" marL="0">
              <a:buNone/>
            </a:pPr>
            <a:r>
              <a:rPr lang="en-US" sz="1350" b="1" dirty="0">
                <a:solidFill>
                  <a:srgbClr val="222731"/>
                </a:solidFill>
                <a:latin typeface="Hanken Grotesk" pitchFamily="34" charset="0"/>
                <a:ea typeface="Hanken Grotesk" pitchFamily="34" charset="-122"/>
                <a:cs typeface="Hanken Grotesk" pitchFamily="34" charset="-120"/>
              </a:rPr>
              <a:t>Variant B</a:t>
            </a:r>
            <a:endParaRPr lang="en-US" sz="1350" dirty="0"/>
          </a:p>
          <a:p>
            <a:pPr algn="ctr" indent="0" marL="0">
              <a:buNone/>
            </a:pPr>
            <a:r>
              <a:rPr lang="en-US" sz="1050" dirty="0">
                <a:solidFill>
                  <a:srgbClr val="63666A"/>
                </a:solidFill>
                <a:latin typeface="Hanken Grotesk" pitchFamily="34" charset="0"/>
                <a:ea typeface="Hanken Grotesk" pitchFamily="34" charset="-122"/>
                <a:cs typeface="Hanken Grotesk" pitchFamily="34" charset="-120"/>
              </a:rPr>
              <a:t>Screenshot goes here</a:t>
            </a:r>
            <a:endParaRPr lang="en-US" sz="1350" dirty="0"/>
          </a:p>
        </p:txBody>
      </p:sp>
      <p:pic>
        <p:nvPicPr>
          <p:cNvPr id="27" name="Image 2" descr="preencoded.png">    </p:cNvPr>
          <p:cNvPicPr>
            <a:picLocks noChangeAspect="1"/>
          </p:cNvPicPr>
          <p:nvPr/>
        </p:nvPicPr>
        <p:blipFill>
          <a:blip r:embed="rId3"/>
          <a:stretch>
            <a:fillRect/>
          </a:stretch>
        </p:blipFill>
        <p:spPr>
          <a:xfrm>
            <a:off x="8203997" y="2148840"/>
            <a:ext cx="1623060" cy="3246120"/>
          </a:xfrm>
          <a:prstGeom prst="rect">
            <a:avLst/>
          </a:prstGeom>
        </p:spPr>
      </p:pic>
      <p:sp>
        <p:nvSpPr>
          <p:cNvPr id="28" name="Text 23"/>
          <p:cNvSpPr txBox="1"/>
          <p:nvPr/>
        </p:nvSpPr>
        <p:spPr>
          <a:xfrm>
            <a:off x="10055657" y="2240280"/>
            <a:ext cx="1404518" cy="146304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Odio nullam varius turpis et commodo pharetra est.</a:t>
            </a:r>
            <a:endParaRPr lang="en-US" sz="1350" dirty="0"/>
          </a:p>
        </p:txBody>
      </p:sp>
      <p:sp>
        <p:nvSpPr>
          <p:cNvPr id="29" name="Text 24"/>
          <p:cNvSpPr txBox="1"/>
          <p:nvPr/>
        </p:nvSpPr>
        <p:spPr>
          <a:xfrm>
            <a:off x="10055657" y="3886200"/>
            <a:ext cx="1404518" cy="548640"/>
          </a:xfrm>
          <a:prstGeom prst="rect">
            <a:avLst/>
          </a:prstGeom>
          <a:noFill/>
          <a:ln/>
        </p:spPr>
        <p:txBody>
          <a:bodyPr wrap="square" lIns="0" tIns="0" rIns="0" bIns="0" rtlCol="0" anchor="t"/>
          <a:lstStyle/>
          <a:p>
            <a:pPr indent="0" marL="0">
              <a:buNone/>
            </a:pPr>
            <a:r>
              <a:rPr lang="en-US" sz="2600" b="1" dirty="0">
                <a:solidFill>
                  <a:srgbClr val="0077A8"/>
                </a:solidFill>
                <a:latin typeface="Bricolage Grotesque" pitchFamily="34" charset="0"/>
                <a:ea typeface="Bricolage Grotesque" pitchFamily="34" charset="-122"/>
                <a:cs typeface="Bricolage Grotesque" pitchFamily="34" charset="-120"/>
              </a:rPr>
              <a:t>12.9%</a:t>
            </a:r>
            <a:endParaRPr lang="en-US" sz="2600" dirty="0"/>
          </a:p>
        </p:txBody>
      </p:sp>
      <p:sp>
        <p:nvSpPr>
          <p:cNvPr id="30" name="Text 25"/>
          <p:cNvSpPr txBox="1"/>
          <p:nvPr/>
        </p:nvSpPr>
        <p:spPr>
          <a:xfrm>
            <a:off x="10055657" y="4434840"/>
            <a:ext cx="1404518"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+2.7 pts vs control</a:t>
            </a:r>
            <a:endParaRPr lang="en-US" sz="1050" dirty="0"/>
          </a:p>
        </p:txBody>
      </p:sp>
      <p:sp>
        <p:nvSpPr>
          <p:cNvPr id="31" name="Shape 26"/>
          <p:cNvSpPr/>
          <p:nvPr/>
        </p:nvSpPr>
        <p:spPr>
          <a:xfrm>
            <a:off x="457200" y="5577840"/>
            <a:ext cx="11277295" cy="640080"/>
          </a:xfrm>
          <a:prstGeom prst="roundRect">
            <a:avLst>
              <a:gd name="adj" fmla="val 17143"/>
            </a:avLst>
          </a:prstGeom>
          <a:solidFill>
            <a:srgbClr val="ECECEA"/>
          </a:solidFill>
          <a:ln w="9525">
            <a:solidFill>
              <a:srgbClr val="ECECEA"/>
            </a:solidFill>
            <a:prstDash val="solid"/>
          </a:ln>
        </p:spPr>
      </p:sp>
      <p:sp>
        <p:nvSpPr>
          <p:cNvPr id="32" name="Text 27"/>
          <p:cNvSpPr txBox="1"/>
          <p:nvPr/>
        </p:nvSpPr>
        <p:spPr>
          <a:xfrm>
            <a:off x="731520" y="5577840"/>
            <a:ext cx="10728655" cy="640080"/>
          </a:xfrm>
          <a:prstGeom prst="rect">
            <a:avLst/>
          </a:prstGeom>
          <a:noFill/>
          <a:ln/>
        </p:spPr>
        <p:txBody>
          <a:bodyPr wrap="square" lIns="0" tIns="0" rIns="0" bIns="0" rtlCol="0" anchor="ctr"/>
          <a:lstStyle/>
          <a:p>
            <a:pPr indent="0" marL="0">
              <a:buNone/>
            </a:pPr>
            <a:r>
              <a:rPr lang="en-US" sz="1350" b="1" dirty="0">
                <a:solidFill>
                  <a:srgbClr val="222731"/>
                </a:solidFill>
                <a:latin typeface="Hanken Grotesk" pitchFamily="34" charset="0"/>
                <a:ea typeface="Hanken Grotesk" pitchFamily="34" charset="-122"/>
                <a:cs typeface="Hanken Grotesk" pitchFamily="34" charset="-120"/>
              </a:rPr>
              <a:t>What changed  </a:t>
            </a:r>
            <a:pPr indent="0" marL="0">
              <a:buNone/>
            </a:pPr>
            <a:r>
              <a:rPr lang="en-US" sz="1350" dirty="0">
                <a:solidFill>
                  <a:srgbClr val="63666A"/>
                </a:solidFill>
                <a:latin typeface="Hanken Grotesk" pitchFamily="34" charset="0"/>
                <a:ea typeface="Hanken Grotesk" pitchFamily="34" charset="-122"/>
                <a:cs typeface="Hanken Grotesk" pitchFamily="34" charset="-120"/>
              </a:rPr>
              <a:t>Nostrud exercitation ullamco laboris nisi ut aliquip ex ea commodo consequat duis aute irure dolor in reprehenderit in voluptate velit.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RESULTS · BEHAVIORAL</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Tempor incididunt ut labore et dolore magna aliqua ut enim ad</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SLD-KPI-TREND-01 · VIZ-FUNNEL-01 · VIZ-TREND-01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08 / 11</a:t>
            </a:r>
            <a:endParaRPr lang="en-US" sz="1050" dirty="0"/>
          </a:p>
        </p:txBody>
      </p:sp>
      <p:sp>
        <p:nvSpPr>
          <p:cNvPr id="7" name="Shape 5"/>
          <p:cNvSpPr/>
          <p:nvPr/>
        </p:nvSpPr>
        <p:spPr>
          <a:xfrm>
            <a:off x="457200" y="1783080"/>
            <a:ext cx="603504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31520" y="1965960"/>
            <a:ext cx="5486400" cy="27432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Funnel: share of users reaching each step, %</a:t>
            </a:r>
            <a:endParaRPr lang="en-US" sz="1050" dirty="0"/>
          </a:p>
        </p:txBody>
      </p:sp>
      <p:graphicFrame>
        <p:nvGraphicFramePr>
          <p:cNvPr id="9" name="Chart 0" descr=""/>
          <p:cNvGraphicFramePr/>
          <p:nvPr/>
        </p:nvGraphicFramePr>
        <p:xfrm>
          <a:off x="640080" y="2240280"/>
          <a:ext cx="5669280" cy="374904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766560" y="1783080"/>
            <a:ext cx="4967935" cy="2926080"/>
          </a:xfrm>
          <a:prstGeom prst="roundRect">
            <a:avLst>
              <a:gd name="adj" fmla="val 3750"/>
            </a:avLst>
          </a:prstGeom>
          <a:solidFill>
            <a:srgbClr val="FFFFFF"/>
          </a:solidFill>
          <a:ln w="9525">
            <a:solidFill>
              <a:srgbClr val="D9D9D6"/>
            </a:solidFill>
            <a:prstDash val="solid"/>
          </a:ln>
        </p:spPr>
      </p:sp>
      <p:sp>
        <p:nvSpPr>
          <p:cNvPr id="11" name="Text 8"/>
          <p:cNvSpPr txBox="1"/>
          <p:nvPr/>
        </p:nvSpPr>
        <p:spPr>
          <a:xfrm>
            <a:off x="7040880" y="1965960"/>
            <a:ext cx="4572000" cy="274320"/>
          </a:xfrm>
          <a:prstGeom prst="rect">
            <a:avLst/>
          </a:prstGeom>
          <a:noFill/>
          <a:ln/>
        </p:spPr>
        <p:txBody>
          <a:bodyPr wrap="square" lIns="0" tIns="0" rIns="0" bIns="0" rtlCol="0" anchor="t"/>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Weekly completion rate, %</a:t>
            </a:r>
            <a:endParaRPr lang="en-US" sz="1050" dirty="0"/>
          </a:p>
        </p:txBody>
      </p:sp>
      <p:graphicFrame>
        <p:nvGraphicFramePr>
          <p:cNvPr id="12" name="Chart 1" descr=""/>
          <p:cNvGraphicFramePr/>
          <p:nvPr/>
        </p:nvGraphicFramePr>
        <p:xfrm>
          <a:off x="6949440" y="2240280"/>
          <a:ext cx="4602175" cy="2377440"/>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6766560" y="4892040"/>
            <a:ext cx="4967935" cy="1234440"/>
          </a:xfrm>
          <a:prstGeom prst="roundRect">
            <a:avLst>
              <a:gd name="adj" fmla="val 8889"/>
            </a:avLst>
          </a:prstGeom>
          <a:solidFill>
            <a:srgbClr val="004F71"/>
          </a:solidFill>
          <a:ln w="9525">
            <a:solidFill>
              <a:srgbClr val="004F71"/>
            </a:solidFill>
            <a:prstDash val="solid"/>
          </a:ln>
        </p:spPr>
      </p:sp>
      <p:sp>
        <p:nvSpPr>
          <p:cNvPr id="14" name="Text 10"/>
          <p:cNvSpPr txBox="1"/>
          <p:nvPr/>
        </p:nvSpPr>
        <p:spPr>
          <a:xfrm>
            <a:off x="7040880" y="4892040"/>
            <a:ext cx="4419295" cy="1234440"/>
          </a:xfrm>
          <a:prstGeom prst="rect">
            <a:avLst/>
          </a:prstGeom>
          <a:noFill/>
          <a:ln/>
        </p:spPr>
        <p:txBody>
          <a:bodyPr wrap="square" lIns="0" tIns="0" rIns="0" bIns="0" rtlCol="0" anchor="ctr"/>
          <a:lstStyle/>
          <a:p>
            <a:pPr indent="0" marL="0">
              <a:buNone/>
            </a:pPr>
            <a:r>
              <a:rPr lang="en-US" sz="1350" b="1" dirty="0">
                <a:solidFill>
                  <a:srgbClr val="FFFFFF"/>
                </a:solidFill>
                <a:latin typeface="Hanken Grotesk" pitchFamily="34" charset="0"/>
                <a:ea typeface="Hanken Grotesk" pitchFamily="34" charset="-122"/>
                <a:cs typeface="Hanken Grotesk" pitchFamily="34" charset="-120"/>
              </a:rPr>
              <a:t>+11 pts at the form step. </a:t>
            </a:r>
            <a:pPr indent="0" marL="0">
              <a:buNone/>
            </a:pPr>
            <a:r>
              <a:rPr lang="en-US" sz="1350" dirty="0">
                <a:solidFill>
                  <a:srgbClr val="FFFFFF"/>
                </a:solidFill>
                <a:latin typeface="Hanken Grotesk" pitchFamily="34" charset="0"/>
                <a:ea typeface="Hanken Grotesk" pitchFamily="34" charset="-122"/>
                <a:cs typeface="Hanken Grotesk" pitchFamily="34" charset="-120"/>
              </a:rPr>
              <a:t>In voluptate velit esse cillum dolore eu fugiat nulla pariatur excepteur sint occaecat cupidatat.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WHAT WE LEARNED</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Ex ea commodo consequat duis aute irure dolor in</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SLD-3COL-01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09 / 11</a:t>
            </a:r>
            <a:endParaRPr lang="en-US" sz="1050" dirty="0"/>
          </a:p>
        </p:txBody>
      </p:sp>
      <p:sp>
        <p:nvSpPr>
          <p:cNvPr id="7" name="Shape 5"/>
          <p:cNvSpPr/>
          <p:nvPr/>
        </p:nvSpPr>
        <p:spPr>
          <a:xfrm>
            <a:off x="457200" y="1783080"/>
            <a:ext cx="3576218" cy="4343400"/>
          </a:xfrm>
          <a:prstGeom prst="roundRect">
            <a:avLst>
              <a:gd name="adj" fmla="val 3068"/>
            </a:avLst>
          </a:prstGeom>
          <a:solidFill>
            <a:srgbClr val="FFFFFF"/>
          </a:solidFill>
          <a:ln w="9525">
            <a:solidFill>
              <a:srgbClr val="D9D9D6"/>
            </a:solidFill>
            <a:prstDash val="solid"/>
          </a:ln>
        </p:spPr>
      </p:sp>
      <p:sp>
        <p:nvSpPr>
          <p:cNvPr id="8" name="Shape 6"/>
          <p:cNvSpPr/>
          <p:nvPr/>
        </p:nvSpPr>
        <p:spPr>
          <a:xfrm>
            <a:off x="777240" y="2103120"/>
            <a:ext cx="658368" cy="658368"/>
          </a:xfrm>
          <a:prstGeom prst="roundRect">
            <a:avLst>
              <a:gd name="adj" fmla="val 30000"/>
            </a:avLst>
          </a:prstGeom>
          <a:solidFill>
            <a:srgbClr val="E5F5FC"/>
          </a:solidFill>
          <a:ln w="9525">
            <a:solidFill>
              <a:srgbClr val="E5F5FC"/>
            </a:solidFill>
            <a:prstDash val="solid"/>
          </a:ln>
        </p:spPr>
      </p:sp>
      <p:pic>
        <p:nvPicPr>
          <p:cNvPr id="9" name="Image 0" descr="preencoded.png">    </p:cNvPr>
          <p:cNvPicPr>
            <a:picLocks noChangeAspect="1"/>
          </p:cNvPicPr>
          <p:nvPr/>
        </p:nvPicPr>
        <p:blipFill>
          <a:blip r:embed="rId1"/>
          <a:stretch>
            <a:fillRect/>
          </a:stretch>
        </p:blipFill>
        <p:spPr>
          <a:xfrm>
            <a:off x="908914" y="2234794"/>
            <a:ext cx="395021" cy="395021"/>
          </a:xfrm>
          <a:prstGeom prst="rect">
            <a:avLst/>
          </a:prstGeom>
        </p:spPr>
      </p:pic>
      <p:sp>
        <p:nvSpPr>
          <p:cNvPr id="10" name="Text 7"/>
          <p:cNvSpPr txBox="1"/>
          <p:nvPr/>
        </p:nvSpPr>
        <p:spPr>
          <a:xfrm>
            <a:off x="777240"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1</a:t>
            </a:r>
            <a:endParaRPr lang="en-US" sz="1050" dirty="0"/>
          </a:p>
        </p:txBody>
      </p:sp>
      <p:sp>
        <p:nvSpPr>
          <p:cNvPr id="11" name="Text 8"/>
          <p:cNvSpPr txBox="1"/>
          <p:nvPr/>
        </p:nvSpPr>
        <p:spPr>
          <a:xfrm>
            <a:off x="777240"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Varius turpis et commodo</a:t>
            </a:r>
            <a:endParaRPr lang="en-US" sz="2000" dirty="0"/>
          </a:p>
        </p:txBody>
      </p:sp>
      <p:sp>
        <p:nvSpPr>
          <p:cNvPr id="12" name="Text 9"/>
          <p:cNvSpPr txBox="1"/>
          <p:nvPr/>
        </p:nvSpPr>
        <p:spPr>
          <a:xfrm>
            <a:off x="777240"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Pharetra est eros bibendum elit nec luctus magna felis sollicitudin mauris integer in mauris eu nibh euismod gravida lorem ipsum dolor sit amet consectetur adipiscing elit sed do eiusmod tempor.</a:t>
            </a:r>
            <a:endParaRPr lang="en-US" sz="1350" dirty="0"/>
          </a:p>
        </p:txBody>
      </p:sp>
      <p:sp>
        <p:nvSpPr>
          <p:cNvPr id="13" name="Shape 10"/>
          <p:cNvSpPr/>
          <p:nvPr/>
        </p:nvSpPr>
        <p:spPr>
          <a:xfrm>
            <a:off x="4307738" y="1783080"/>
            <a:ext cx="3576218" cy="4343400"/>
          </a:xfrm>
          <a:prstGeom prst="roundRect">
            <a:avLst>
              <a:gd name="adj" fmla="val 3068"/>
            </a:avLst>
          </a:prstGeom>
          <a:solidFill>
            <a:srgbClr val="FFFFFF"/>
          </a:solidFill>
          <a:ln w="9525">
            <a:solidFill>
              <a:srgbClr val="D9D9D6"/>
            </a:solidFill>
            <a:prstDash val="solid"/>
          </a:ln>
        </p:spPr>
      </p:sp>
      <p:sp>
        <p:nvSpPr>
          <p:cNvPr id="14" name="Shape 11"/>
          <p:cNvSpPr/>
          <p:nvPr/>
        </p:nvSpPr>
        <p:spPr>
          <a:xfrm>
            <a:off x="4627778" y="2103120"/>
            <a:ext cx="658368" cy="658368"/>
          </a:xfrm>
          <a:prstGeom prst="roundRect">
            <a:avLst>
              <a:gd name="adj" fmla="val 30000"/>
            </a:avLst>
          </a:prstGeom>
          <a:solidFill>
            <a:srgbClr val="E5F5FC"/>
          </a:solidFill>
          <a:ln w="9525">
            <a:solidFill>
              <a:srgbClr val="E5F5FC"/>
            </a:solidFill>
            <a:prstDash val="solid"/>
          </a:ln>
        </p:spPr>
      </p:sp>
      <p:pic>
        <p:nvPicPr>
          <p:cNvPr id="15" name="Image 1" descr="preencoded.png">    </p:cNvPr>
          <p:cNvPicPr>
            <a:picLocks noChangeAspect="1"/>
          </p:cNvPicPr>
          <p:nvPr/>
        </p:nvPicPr>
        <p:blipFill>
          <a:blip r:embed="rId2"/>
          <a:stretch>
            <a:fillRect/>
          </a:stretch>
        </p:blipFill>
        <p:spPr>
          <a:xfrm>
            <a:off x="4759452" y="2234794"/>
            <a:ext cx="395021" cy="395021"/>
          </a:xfrm>
          <a:prstGeom prst="rect">
            <a:avLst/>
          </a:prstGeom>
        </p:spPr>
      </p:pic>
      <p:sp>
        <p:nvSpPr>
          <p:cNvPr id="16" name="Text 12"/>
          <p:cNvSpPr txBox="1"/>
          <p:nvPr/>
        </p:nvSpPr>
        <p:spPr>
          <a:xfrm>
            <a:off x="4627778"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2</a:t>
            </a:r>
            <a:endParaRPr lang="en-US" sz="1050" dirty="0"/>
          </a:p>
        </p:txBody>
      </p:sp>
      <p:sp>
        <p:nvSpPr>
          <p:cNvPr id="17" name="Text 13"/>
          <p:cNvSpPr txBox="1"/>
          <p:nvPr/>
        </p:nvSpPr>
        <p:spPr>
          <a:xfrm>
            <a:off x="4627778"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Ut labore et dolore</a:t>
            </a:r>
            <a:endParaRPr lang="en-US" sz="2000" dirty="0"/>
          </a:p>
        </p:txBody>
      </p:sp>
      <p:sp>
        <p:nvSpPr>
          <p:cNvPr id="18" name="Text 14"/>
          <p:cNvSpPr txBox="1"/>
          <p:nvPr/>
        </p:nvSpPr>
        <p:spPr>
          <a:xfrm>
            <a:off x="4627778"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Eiusmod tempor incididunt ut labore et dolore magna aliqua ut enim ad minim veniam quis nostrud exercitation ullamco laboris nisi ut aliquip ex ea commodo consequat duis aute irure dolor.</a:t>
            </a:r>
            <a:endParaRPr lang="en-US" sz="1350" dirty="0"/>
          </a:p>
        </p:txBody>
      </p:sp>
      <p:sp>
        <p:nvSpPr>
          <p:cNvPr id="19" name="Shape 15"/>
          <p:cNvSpPr/>
          <p:nvPr/>
        </p:nvSpPr>
        <p:spPr>
          <a:xfrm>
            <a:off x="8158277" y="1783080"/>
            <a:ext cx="3576218" cy="4343400"/>
          </a:xfrm>
          <a:prstGeom prst="roundRect">
            <a:avLst>
              <a:gd name="adj" fmla="val 3068"/>
            </a:avLst>
          </a:prstGeom>
          <a:solidFill>
            <a:srgbClr val="FFFFFF"/>
          </a:solidFill>
          <a:ln w="9525">
            <a:solidFill>
              <a:srgbClr val="D9D9D6"/>
            </a:solidFill>
            <a:prstDash val="solid"/>
          </a:ln>
        </p:spPr>
      </p:sp>
      <p:sp>
        <p:nvSpPr>
          <p:cNvPr id="20" name="Shape 16"/>
          <p:cNvSpPr/>
          <p:nvPr/>
        </p:nvSpPr>
        <p:spPr>
          <a:xfrm>
            <a:off x="8478317" y="2103120"/>
            <a:ext cx="658368" cy="658368"/>
          </a:xfrm>
          <a:prstGeom prst="roundRect">
            <a:avLst>
              <a:gd name="adj" fmla="val 30000"/>
            </a:avLst>
          </a:prstGeom>
          <a:solidFill>
            <a:srgbClr val="E5F5FC"/>
          </a:solidFill>
          <a:ln w="9525">
            <a:solidFill>
              <a:srgbClr val="E5F5FC"/>
            </a:solidFill>
            <a:prstDash val="solid"/>
          </a:ln>
        </p:spPr>
      </p:sp>
      <p:pic>
        <p:nvPicPr>
          <p:cNvPr id="21" name="Image 2" descr="preencoded.png">    </p:cNvPr>
          <p:cNvPicPr>
            <a:picLocks noChangeAspect="1"/>
          </p:cNvPicPr>
          <p:nvPr/>
        </p:nvPicPr>
        <p:blipFill>
          <a:blip r:embed="rId3"/>
          <a:stretch>
            <a:fillRect/>
          </a:stretch>
        </p:blipFill>
        <p:spPr>
          <a:xfrm>
            <a:off x="8609990" y="2234794"/>
            <a:ext cx="395021" cy="395021"/>
          </a:xfrm>
          <a:prstGeom prst="rect">
            <a:avLst/>
          </a:prstGeom>
        </p:spPr>
      </p:pic>
      <p:sp>
        <p:nvSpPr>
          <p:cNvPr id="22" name="Text 17"/>
          <p:cNvSpPr txBox="1"/>
          <p:nvPr/>
        </p:nvSpPr>
        <p:spPr>
          <a:xfrm>
            <a:off x="8478317" y="2953512"/>
            <a:ext cx="2936138"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LEARNING 3</a:t>
            </a:r>
            <a:endParaRPr lang="en-US" sz="1050" dirty="0"/>
          </a:p>
        </p:txBody>
      </p:sp>
      <p:sp>
        <p:nvSpPr>
          <p:cNvPr id="23" name="Text 18"/>
          <p:cNvSpPr txBox="1"/>
          <p:nvPr/>
        </p:nvSpPr>
        <p:spPr>
          <a:xfrm>
            <a:off x="8478317" y="3246120"/>
            <a:ext cx="2936138" cy="7315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Eu fugiat nulla pariatur</a:t>
            </a:r>
            <a:endParaRPr lang="en-US" sz="2000" dirty="0"/>
          </a:p>
        </p:txBody>
      </p:sp>
      <p:sp>
        <p:nvSpPr>
          <p:cNvPr id="24" name="Text 19"/>
          <p:cNvSpPr txBox="1"/>
          <p:nvPr/>
        </p:nvSpPr>
        <p:spPr>
          <a:xfrm>
            <a:off x="8478317" y="4069080"/>
            <a:ext cx="2936138" cy="182880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Irure dolor in reprehenderit in voluptate velit esse cillum dolore eu fugiat nulla pariatur excepteur sint occaecat cupidatat non proident sunt in culpa qui officia deserunt mollit anim id est.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IMPLICATIONS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Sint occaecat cupidatat non proident sunt in culpa qui officia</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SLD-2COL-01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10 / 11</a:t>
            </a:r>
            <a:endParaRPr lang="en-US" sz="1050" dirty="0"/>
          </a:p>
        </p:txBody>
      </p:sp>
      <p:sp>
        <p:nvSpPr>
          <p:cNvPr id="7" name="Shape 5"/>
          <p:cNvSpPr/>
          <p:nvPr/>
        </p:nvSpPr>
        <p:spPr>
          <a:xfrm>
            <a:off x="457200" y="1783080"/>
            <a:ext cx="5486400" cy="4343400"/>
          </a:xfrm>
          <a:prstGeom prst="roundRect">
            <a:avLst>
              <a:gd name="adj" fmla="val 2526"/>
            </a:avLst>
          </a:prstGeom>
          <a:solidFill>
            <a:srgbClr val="FFFFFF"/>
          </a:solidFill>
          <a:ln w="9525">
            <a:solidFill>
              <a:srgbClr val="D9D9D6"/>
            </a:solidFill>
            <a:prstDash val="solid"/>
          </a:ln>
        </p:spPr>
      </p:sp>
      <p:sp>
        <p:nvSpPr>
          <p:cNvPr id="8" name="Text 6"/>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MESSAGE</a:t>
            </a:r>
            <a:endParaRPr lang="en-US" sz="1050" dirty="0"/>
          </a:p>
        </p:txBody>
      </p:sp>
      <p:sp>
        <p:nvSpPr>
          <p:cNvPr id="9" name="Text 7"/>
          <p:cNvSpPr txBox="1"/>
          <p:nvPr/>
        </p:nvSpPr>
        <p:spPr>
          <a:xfrm>
            <a:off x="777240" y="2423160"/>
            <a:ext cx="4846320" cy="1188720"/>
          </a:xfrm>
          <a:prstGeom prst="rect">
            <a:avLst/>
          </a:prstGeom>
          <a:noFill/>
          <a:ln/>
        </p:spPr>
        <p:txBody>
          <a:bodyPr wrap="square" lIns="0" tIns="0" rIns="0" bIns="0" rtlCol="0" anchor="t"/>
          <a:lstStyle/>
          <a:p>
            <a:pPr indent="0" marL="0">
              <a:buNone/>
            </a:pPr>
            <a:r>
              <a:rPr lang="en-US" sz="2000" b="1" dirty="0">
                <a:solidFill>
                  <a:srgbClr val="222731"/>
                </a:solidFill>
                <a:latin typeface="Bricolage Grotesque" pitchFamily="34" charset="0"/>
                <a:ea typeface="Bricolage Grotesque" pitchFamily="34" charset="-122"/>
                <a:cs typeface="Bricolage Grotesque" pitchFamily="34" charset="-120"/>
              </a:rPr>
              <a:t>Fugiat nulla pariatur excepteur sint occaecat cupidatat non proident sunt in culpa.</a:t>
            </a:r>
            <a:endParaRPr lang="en-US" sz="2000" dirty="0"/>
          </a:p>
        </p:txBody>
      </p:sp>
      <p:sp>
        <p:nvSpPr>
          <p:cNvPr id="10" name="Text 8"/>
          <p:cNvSpPr txBox="1"/>
          <p:nvPr/>
        </p:nvSpPr>
        <p:spPr>
          <a:xfrm>
            <a:off x="777240" y="3749040"/>
            <a:ext cx="4846320" cy="2103120"/>
          </a:xfrm>
          <a:prstGeom prst="rect">
            <a:avLst/>
          </a:prstGeom>
          <a:noFill/>
          <a:ln/>
        </p:spPr>
        <p:txBody>
          <a:bodyPr wrap="square" lIns="0" tIns="0" rIns="0" bIns="0" rtlCol="0" anchor="t"/>
          <a:lstStyle/>
          <a:p>
            <a:pPr indent="0" marL="0">
              <a:buNone/>
            </a:pPr>
            <a:r>
              <a:rPr lang="en-US" sz="1350" dirty="0">
                <a:solidFill>
                  <a:srgbClr val="63666A"/>
                </a:solidFill>
                <a:latin typeface="Hanken Grotesk" pitchFamily="34" charset="0"/>
                <a:ea typeface="Hanken Grotesk" pitchFamily="34" charset="-122"/>
                <a:cs typeface="Hanken Grotesk" pitchFamily="34" charset="-120"/>
              </a:rPr>
              <a:t>Amet consectetur adipiscing elit sed do eiusmod tempor incididunt ut labore et dolore magna aliqua ut enim ad minim veniam quis nostrud exercitation ullamco laboris nisi ut aliquip ex ea commodo consequat duis aute irure dolor in reprehenderit in voluptate.</a:t>
            </a:r>
            <a:endParaRPr lang="en-US" sz="1350" dirty="0"/>
          </a:p>
        </p:txBody>
      </p:sp>
      <p:sp>
        <p:nvSpPr>
          <p:cNvPr id="11" name="Shape 9"/>
          <p:cNvSpPr/>
          <p:nvPr/>
        </p:nvSpPr>
        <p:spPr>
          <a:xfrm>
            <a:off x="6263640" y="1783080"/>
            <a:ext cx="5470855" cy="4343400"/>
          </a:xfrm>
          <a:prstGeom prst="roundRect">
            <a:avLst>
              <a:gd name="adj" fmla="val 2526"/>
            </a:avLst>
          </a:prstGeom>
          <a:solidFill>
            <a:srgbClr val="FFFFFF"/>
          </a:solidFill>
          <a:ln w="9525">
            <a:solidFill>
              <a:srgbClr val="D9D9D6"/>
            </a:solidFill>
            <a:prstDash val="solid"/>
          </a:ln>
        </p:spPr>
      </p:sp>
      <p:sp>
        <p:nvSpPr>
          <p:cNvPr id="12" name="Text 10"/>
          <p:cNvSpPr txBox="1"/>
          <p:nvPr/>
        </p:nvSpPr>
        <p:spPr>
          <a:xfrm>
            <a:off x="6583680" y="2103120"/>
            <a:ext cx="4572000" cy="274320"/>
          </a:xfrm>
          <a:prstGeom prst="rect">
            <a:avLst/>
          </a:prstGeom>
          <a:noFill/>
          <a:ln/>
        </p:spPr>
        <p:txBody>
          <a:bodyPr wrap="square" lIns="0" tIns="0" rIns="0" bIns="0" rtlCol="0" anchor="t"/>
          <a:lstStyle/>
          <a:p>
            <a:pPr indent="0" marL="0">
              <a:buNone/>
            </a:pPr>
            <a:r>
              <a:rPr lang="en-US" sz="1050" b="1" spc="100" kern="0" dirty="0">
                <a:solidFill>
                  <a:srgbClr val="63666A"/>
                </a:solidFill>
                <a:latin typeface="Hanken Grotesk" pitchFamily="34" charset="0"/>
                <a:ea typeface="Hanken Grotesk" pitchFamily="34" charset="-122"/>
                <a:cs typeface="Hanken Grotesk" pitchFamily="34" charset="-120"/>
              </a:rPr>
              <a:t>EVIDENCE</a:t>
            </a:r>
            <a:endParaRPr lang="en-US" sz="1050" dirty="0"/>
          </a:p>
        </p:txBody>
      </p:sp>
      <p:graphicFrame>
        <p:nvGraphicFramePr>
          <p:cNvPr id="13" name="Chart 0" descr=""/>
          <p:cNvGraphicFramePr/>
          <p:nvPr/>
        </p:nvGraphicFramePr>
        <p:xfrm>
          <a:off x="6492240" y="2468880"/>
          <a:ext cx="4967935" cy="25603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583680" y="5257800"/>
            <a:ext cx="4572000" cy="274320"/>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Source: [placeholder] · method · n = 1,200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2"/>
        </a:solidFill>
      </p:bgPr>
    </p:bg>
    <p:spTree>
      <p:nvGrpSpPr>
        <p:cNvPr id="1" name=""/>
        <p:cNvGrpSpPr/>
        <p:nvPr/>
      </p:nvGrpSpPr>
      <p:grpSpPr>
        <a:xfrm>
          <a:off x="0" y="0"/>
          <a:ext cx="0" cy="0"/>
          <a:chOff x="0" y="0"/>
          <a:chExt cx="0" cy="0"/>
        </a:xfrm>
      </p:grpSpPr>
      <p:sp>
        <p:nvSpPr>
          <p:cNvPr id="2" name="Text 0"/>
          <p:cNvSpPr txBox="1"/>
          <p:nvPr/>
        </p:nvSpPr>
        <p:spPr>
          <a:xfrm>
            <a:off x="457200" y="384048"/>
            <a:ext cx="8961120" cy="274320"/>
          </a:xfrm>
          <a:prstGeom prst="rect">
            <a:avLst/>
          </a:prstGeom>
          <a:noFill/>
          <a:ln/>
        </p:spPr>
        <p:txBody>
          <a:bodyPr wrap="square" lIns="0" tIns="0" rIns="0" bIns="0" rtlCol="0" anchor="t"/>
          <a:lstStyle/>
          <a:p>
            <a:pPr indent="0" marL="0">
              <a:buNone/>
            </a:pPr>
            <a:r>
              <a:rPr lang="en-US" sz="1050" b="1" spc="100" kern="0" dirty="0">
                <a:solidFill>
                  <a:srgbClr val="004F71"/>
                </a:solidFill>
                <a:latin typeface="Hanken Grotesk" pitchFamily="34" charset="0"/>
                <a:ea typeface="Hanken Grotesk" pitchFamily="34" charset="-122"/>
                <a:cs typeface="Hanken Grotesk" pitchFamily="34" charset="-120"/>
              </a:rPr>
              <a:t>NEXT STEPS</a:t>
            </a:r>
            <a:endParaRPr lang="en-US" sz="1050" dirty="0"/>
          </a:p>
        </p:txBody>
      </p:sp>
      <p:sp>
        <p:nvSpPr>
          <p:cNvPr id="3" name="Text 1"/>
          <p:cNvSpPr txBox="1"/>
          <p:nvPr/>
        </p:nvSpPr>
        <p:spPr>
          <a:xfrm>
            <a:off x="457200" y="676656"/>
            <a:ext cx="11274552" cy="868680"/>
          </a:xfrm>
          <a:prstGeom prst="rect">
            <a:avLst/>
          </a:prstGeom>
          <a:noFill/>
          <a:ln/>
        </p:spPr>
        <p:txBody>
          <a:bodyPr wrap="square" lIns="0" tIns="0" rIns="0" bIns="0" rtlCol="0" anchor="t"/>
          <a:lstStyle/>
          <a:p>
            <a:pPr indent="0" marL="0">
              <a:lnSpc>
                <a:spcPct val="95000"/>
              </a:lnSpc>
              <a:buNone/>
            </a:pPr>
            <a:r>
              <a:rPr lang="en-US" sz="3000" b="1" dirty="0">
                <a:solidFill>
                  <a:srgbClr val="222731"/>
                </a:solidFill>
                <a:latin typeface="Bricolage Grotesque" pitchFamily="34" charset="0"/>
                <a:ea typeface="Bricolage Grotesque" pitchFamily="34" charset="-122"/>
                <a:cs typeface="Bricolage Grotesque" pitchFamily="34" charset="-120"/>
              </a:rPr>
              <a:t>Gravida orci a odio nullam varius turpis et commodo pharetra est</a:t>
            </a:r>
            <a:endParaRPr lang="en-US" sz="3000" dirty="0"/>
          </a:p>
        </p:txBody>
      </p:sp>
      <p:sp>
        <p:nvSpPr>
          <p:cNvPr id="4" name="Text 2"/>
          <p:cNvSpPr txBox="1"/>
          <p:nvPr/>
        </p:nvSpPr>
        <p:spPr>
          <a:xfrm>
            <a:off x="457200" y="6400800"/>
            <a:ext cx="4389120" cy="256032"/>
          </a:xfrm>
          <a:prstGeom prst="rect">
            <a:avLst/>
          </a:prstGeom>
          <a:noFill/>
          <a:ln/>
        </p:spPr>
        <p:txBody>
          <a:bodyPr wrap="square" lIns="0" tIns="0" rIns="0" bIns="0" rtlCol="0" anchor="t"/>
          <a:lstStyle/>
          <a:p>
            <a:pPr indent="0" marL="0">
              <a:buNone/>
            </a:pPr>
            <a:r>
              <a:rPr lang="en-US" sz="1050" dirty="0">
                <a:solidFill>
                  <a:srgbClr val="63666A"/>
                </a:solidFill>
                <a:latin typeface="Hanken Grotesk" pitchFamily="34" charset="0"/>
                <a:ea typeface="Hanken Grotesk" pitchFamily="34" charset="-122"/>
                <a:cs typeface="Hanken Grotesk" pitchFamily="34" charset="-120"/>
              </a:rPr>
              <a:t>[Project name] · Experiment Readout · Behavioral</a:t>
            </a:r>
            <a:endParaRPr lang="en-US" sz="1050" dirty="0"/>
          </a:p>
        </p:txBody>
      </p:sp>
      <p:sp>
        <p:nvSpPr>
          <p:cNvPr id="5" name="Text 3"/>
          <p:cNvSpPr txBox="1"/>
          <p:nvPr/>
        </p:nvSpPr>
        <p:spPr>
          <a:xfrm>
            <a:off x="4937760" y="6400800"/>
            <a:ext cx="5943600" cy="256032"/>
          </a:xfrm>
          <a:prstGeom prst="rect">
            <a:avLst/>
          </a:prstGeom>
          <a:noFill/>
          <a:ln/>
        </p:spPr>
        <p:txBody>
          <a:bodyPr wrap="square" lIns="0" tIns="0" rIns="0" bIns="0" rtlCol="0" anchor="t"/>
          <a:lstStyle/>
          <a:p>
            <a:pPr algn="r" indent="0" marL="0">
              <a:buNone/>
            </a:pPr>
            <a:r>
              <a:rPr lang="en-US" sz="1000" dirty="0">
                <a:solidFill>
                  <a:srgbClr val="63666A"/>
                </a:solidFill>
                <a:latin typeface="IBM Plex Mono" pitchFamily="34" charset="0"/>
                <a:ea typeface="IBM Plex Mono" pitchFamily="34" charset="-122"/>
                <a:cs typeface="IBM Plex Mono" pitchFamily="34" charset="-120"/>
              </a:rPr>
              <a:t>SLD-NEXT-STEPS-01</a:t>
            </a:r>
            <a:endParaRPr lang="en-US" sz="1000" dirty="0"/>
          </a:p>
        </p:txBody>
      </p:sp>
      <p:sp>
        <p:nvSpPr>
          <p:cNvPr id="6" name="Text 4"/>
          <p:cNvSpPr txBox="1"/>
          <p:nvPr/>
        </p:nvSpPr>
        <p:spPr>
          <a:xfrm>
            <a:off x="11091672" y="6400800"/>
            <a:ext cx="640080" cy="256032"/>
          </a:xfrm>
          <a:prstGeom prst="rect">
            <a:avLst/>
          </a:prstGeom>
          <a:noFill/>
          <a:ln/>
        </p:spPr>
        <p:txBody>
          <a:bodyPr wrap="square" lIns="0" tIns="0" rIns="0" bIns="0" rtlCol="0" anchor="t"/>
          <a:lstStyle/>
          <a:p>
            <a:pPr algn="r" indent="0" marL="0">
              <a:buNone/>
            </a:pPr>
            <a:r>
              <a:rPr lang="en-US" sz="1050" dirty="0">
                <a:solidFill>
                  <a:srgbClr val="63666A"/>
                </a:solidFill>
                <a:latin typeface="Hanken Grotesk" pitchFamily="34" charset="0"/>
                <a:ea typeface="Hanken Grotesk" pitchFamily="34" charset="-122"/>
                <a:cs typeface="Hanken Grotesk" pitchFamily="34" charset="-120"/>
              </a:rPr>
              <a:t>11 / 11</a:t>
            </a:r>
            <a:endParaRPr lang="en-US" sz="1050" dirty="0"/>
          </a:p>
        </p:txBody>
      </p:sp>
      <p:sp>
        <p:nvSpPr>
          <p:cNvPr id="7" name="Shape 5"/>
          <p:cNvSpPr/>
          <p:nvPr/>
        </p:nvSpPr>
        <p:spPr>
          <a:xfrm>
            <a:off x="457200" y="1783080"/>
            <a:ext cx="3383280" cy="4343400"/>
          </a:xfrm>
          <a:prstGeom prst="roundRect">
            <a:avLst>
              <a:gd name="adj" fmla="val 3243"/>
            </a:avLst>
          </a:prstGeom>
          <a:solidFill>
            <a:srgbClr val="002A3A"/>
          </a:solidFill>
          <a:ln w="9525">
            <a:solidFill>
              <a:srgbClr val="002A3A"/>
            </a:solidFill>
            <a:prstDash val="solid"/>
          </a:ln>
        </p:spPr>
      </p:sp>
      <p:sp>
        <p:nvSpPr>
          <p:cNvPr id="8" name="Shape 6"/>
          <p:cNvSpPr/>
          <p:nvPr/>
        </p:nvSpPr>
        <p:spPr>
          <a:xfrm>
            <a:off x="777240" y="2103120"/>
            <a:ext cx="1828800" cy="365760"/>
          </a:xfrm>
          <a:prstGeom prst="roundRect">
            <a:avLst>
              <a:gd name="adj" fmla="val 20000"/>
            </a:avLst>
          </a:prstGeom>
          <a:solidFill>
            <a:srgbClr val="64CCC9"/>
          </a:solidFill>
          <a:ln w="9525">
            <a:solidFill>
              <a:srgbClr val="64CCC9"/>
            </a:solidFill>
            <a:prstDash val="solid"/>
          </a:ln>
        </p:spPr>
      </p:sp>
      <p:sp>
        <p:nvSpPr>
          <p:cNvPr id="9" name="Text 7"/>
          <p:cNvSpPr txBox="1"/>
          <p:nvPr/>
        </p:nvSpPr>
        <p:spPr>
          <a:xfrm>
            <a:off x="777240" y="2103120"/>
            <a:ext cx="1828800" cy="365760"/>
          </a:xfrm>
          <a:prstGeom prst="rect">
            <a:avLst/>
          </a:prstGeom>
          <a:noFill/>
          <a:ln/>
        </p:spPr>
        <p:txBody>
          <a:bodyPr wrap="square" lIns="0" tIns="0" rIns="0" bIns="0" rtlCol="0" anchor="ctr"/>
          <a:lstStyle/>
          <a:p>
            <a:pPr algn="ctr" indent="0" marL="0">
              <a:buNone/>
            </a:pPr>
            <a:r>
              <a:rPr lang="en-US" sz="1050" b="1" dirty="0">
                <a:solidFill>
                  <a:srgbClr val="222731"/>
                </a:solidFill>
                <a:latin typeface="Hanken Grotesk" pitchFamily="34" charset="0"/>
                <a:ea typeface="Hanken Grotesk" pitchFamily="34" charset="-122"/>
                <a:cs typeface="Hanken Grotesk" pitchFamily="34" charset="-120"/>
              </a:rPr>
              <a:t>Decision needed</a:t>
            </a:r>
            <a:endParaRPr lang="en-US" sz="1050" dirty="0"/>
          </a:p>
        </p:txBody>
      </p:sp>
      <p:sp>
        <p:nvSpPr>
          <p:cNvPr id="10" name="Text 8"/>
          <p:cNvSpPr txBox="1"/>
          <p:nvPr/>
        </p:nvSpPr>
        <p:spPr>
          <a:xfrm>
            <a:off x="777240" y="2651760"/>
            <a:ext cx="2743200" cy="1463040"/>
          </a:xfrm>
          <a:prstGeom prst="rect">
            <a:avLst/>
          </a:prstGeom>
          <a:noFill/>
          <a:ln/>
        </p:spPr>
        <p:txBody>
          <a:bodyPr wrap="square" lIns="0" tIns="0" rIns="0" bIns="0" rtlCol="0" anchor="t"/>
          <a:lstStyle/>
          <a:p>
            <a:pPr indent="0" marL="0">
              <a:buNone/>
            </a:pPr>
            <a:r>
              <a:rPr lang="en-US" sz="2000" b="1" dirty="0">
                <a:solidFill>
                  <a:srgbClr val="FFFFFF"/>
                </a:solidFill>
                <a:latin typeface="Bricolage Grotesque" pitchFamily="34" charset="0"/>
                <a:ea typeface="Bricolage Grotesque" pitchFamily="34" charset="-122"/>
                <a:cs typeface="Bricolage Grotesque" pitchFamily="34" charset="-120"/>
              </a:rPr>
              <a:t>Consequat duis aute irure dolor in reprehenderit in.</a:t>
            </a:r>
            <a:endParaRPr lang="en-US" sz="2000" dirty="0"/>
          </a:p>
        </p:txBody>
      </p:sp>
      <p:sp>
        <p:nvSpPr>
          <p:cNvPr id="11" name="Text 9"/>
          <p:cNvSpPr txBox="1"/>
          <p:nvPr/>
        </p:nvSpPr>
        <p:spPr>
          <a:xfrm>
            <a:off x="777240" y="4297680"/>
            <a:ext cx="2743200" cy="1645920"/>
          </a:xfrm>
          <a:prstGeom prst="rect">
            <a:avLst/>
          </a:prstGeom>
          <a:noFill/>
          <a:ln/>
        </p:spPr>
        <p:txBody>
          <a:bodyPr wrap="square" lIns="0" tIns="0" rIns="0" bIns="0" rtlCol="0" anchor="t"/>
          <a:lstStyle/>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Scope: [lorem ipsum]</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Owner: [role]</a:t>
            </a:r>
            <a:endParaRPr lang="en-US" sz="1350" dirty="0"/>
          </a:p>
          <a:p>
            <a:pPr indent="0" marL="0">
              <a:spcAft>
                <a:spcPts val="800"/>
              </a:spcAft>
              <a:buNone/>
            </a:pPr>
            <a:r>
              <a:rPr lang="en-US" sz="1350" dirty="0">
                <a:solidFill>
                  <a:srgbClr val="CCEBF8"/>
                </a:solidFill>
                <a:latin typeface="Hanken Grotesk" pitchFamily="34" charset="0"/>
                <a:ea typeface="Hanken Grotesk" pitchFamily="34" charset="-122"/>
                <a:cs typeface="Hanken Grotesk" pitchFamily="34" charset="-120"/>
              </a:rPr>
              <a:t>Resources: [dolor sit]</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0" y="1783080"/>
          <a:ext cx="7619695" cy="914400"/>
        </p:xfrm>
        <a:graphic>
          <a:graphicData uri="http://schemas.openxmlformats.org/drawingml/2006/table">
            <a:tbl>
              <a:tblPr/>
              <a:tblGrid>
                <a:gridCol w="731520"/>
                <a:gridCol w="3687775"/>
                <a:gridCol w="2011680"/>
                <a:gridCol w="1188720"/>
              </a:tblGrid>
              <a:tr h="457200">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STEP</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ACTION</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OWNER</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c>
                  <a:txBody>
                    <a:bodyPr/>
                    <a:lstStyle/>
                    <a:p>
                      <a:pPr indent="0" marL="0">
                        <a:buNone/>
                      </a:pPr>
                      <a:r>
                        <a:rPr lang="en-US" sz="1050" b="1" dirty="0">
                          <a:solidFill>
                            <a:srgbClr val="63666A"/>
                          </a:solidFill>
                          <a:latin typeface="Hanken Grotesk" pitchFamily="34" charset="0"/>
                          <a:ea typeface="Hanken Grotesk" pitchFamily="34" charset="-122"/>
                          <a:cs typeface="Hanken Grotesk" pitchFamily="34" charset="-120"/>
                        </a:rPr>
                        <a:t>DATE</a:t>
                      </a:r>
                      <a:endParaRPr lang="en-US" sz="10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ECECEA"/>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1</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Ad minim veniam quis nostrud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Leadership</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Oct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2</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Fugiat nulla pariatur excepteur sint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Design</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Nov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3</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Odio nullam varius turpis et</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Product · Eng</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Dec 2026</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4</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Amet consectetur adipiscing elit sed</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CX · Ops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Jan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r h="777240">
                <a:tc>
                  <a:txBody>
                    <a:bodyPr/>
                    <a:lstStyle/>
                    <a:p>
                      <a:pPr indent="0" marL="0">
                        <a:buNone/>
                      </a:pPr>
                      <a:r>
                        <a:rPr lang="en-US" sz="1350" b="1" dirty="0">
                          <a:solidFill>
                            <a:srgbClr val="004F71"/>
                          </a:solidFill>
                          <a:latin typeface="Hanken Grotesk" pitchFamily="34" charset="0"/>
                          <a:ea typeface="Hanken Grotesk" pitchFamily="34" charset="-122"/>
                          <a:cs typeface="Hanken Grotesk" pitchFamily="34" charset="-120"/>
                        </a:rPr>
                        <a:t>5</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Ex ea commodo consequat duis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Analytics</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c>
                  <a:txBody>
                    <a:bodyPr/>
                    <a:lstStyle/>
                    <a:p>
                      <a:pPr indent="0" marL="0">
                        <a:buNone/>
                      </a:pPr>
                      <a:r>
                        <a:rPr lang="en-US" sz="1350" dirty="0">
                          <a:solidFill>
                            <a:srgbClr val="222731"/>
                          </a:solidFill>
                          <a:latin typeface="Hanken Grotesk" pitchFamily="34" charset="0"/>
                          <a:ea typeface="Hanken Grotesk" pitchFamily="34" charset="-122"/>
                          <a:cs typeface="Hanken Grotesk" pitchFamily="34" charset="-120"/>
                        </a:rPr>
                        <a:t>Mar 2027</a:t>
                      </a:r>
                      <a:endParaRPr lang="en-US" sz="1350" dirty="0">
                        <a:latin typeface="Hanken Grotesk" charset="0"/>
                        <a:ea typeface="Hanken Grotesk" charset="0"/>
                        <a:cs typeface="Hanken Grotesk" charset="0"/>
                      </a:endParaRPr>
                    </a:p>
                  </a:txBody>
                  <a:tcPr marL="137160" marR="137160" marT="0" marB="0" anchor="ctr">
                    <a:lnL w="9525" cap="flat" cmpd="sng" algn="ctr">
                      <a:solidFill>
                        <a:srgbClr val="D9D9D6"/>
                      </a:solidFill>
                      <a:prstDash val="solid"/>
                      <a:round/>
                      <a:headEnd type="none" w="med" len="med"/>
                      <a:tailEnd type="none" w="med" len="med"/>
                    </a:lnL>
                    <a:lnR w="9525" cap="flat" cmpd="sng" algn="ctr">
                      <a:solidFill>
                        <a:srgbClr val="D9D9D6"/>
                      </a:solidFill>
                      <a:prstDash val="solid"/>
                      <a:round/>
                      <a:headEnd type="none" w="med" len="med"/>
                      <a:tailEnd type="none" w="med" len="med"/>
                    </a:lnR>
                    <a:lnT w="9525" cap="flat" cmpd="sng" algn="ctr">
                      <a:solidFill>
                        <a:srgbClr val="D9D9D6"/>
                      </a:solidFill>
                      <a:prstDash val="solid"/>
                      <a:round/>
                      <a:headEnd type="none" w="med" len="med"/>
                      <a:tailEnd type="none" w="med" len="med"/>
                    </a:lnT>
                    <a:lnB w="9525" cap="flat" cmpd="sng" algn="ctr">
                      <a:solidFill>
                        <a:srgbClr val="D9D9D6"/>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Experiment Readout · Behavioral — template</dc:title>
  <dc:subject>PptxGenJS Presentation</dc:subject>
  <dc:creator>CX Presentation System</dc:creator>
  <cp:lastModifiedBy>CX Presentation System</cp:lastModifiedBy>
  <cp:revision>1</cp:revision>
  <dcterms:created xsi:type="dcterms:W3CDTF">2026-09-26T00:59:38Z</dcterms:created>
  <dcterms:modified xsi:type="dcterms:W3CDTF">2026-09-26T00:59:38Z</dcterms:modified>
</cp:coreProperties>
</file>