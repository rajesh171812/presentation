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Lorem</c:v>
                </c:pt>
              </c:strCache>
            </c:strRef>
          </c:tx>
          <c:spPr>
            <a:solidFill>
              <a:srgbClr val="004F71"/>
            </a:solidFill>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Sheet1!$B$2:$B$3</c:f>
              <c:numCache>
                <c:formatCode>General</c:formatCode>
                <c:ptCount val="2"/>
                <c:pt idx="0">
                  <c:v>34</c:v>
                </c:pt>
                <c:pt idx="1">
                  <c:v>46</c:v>
                </c:pt>
              </c:numCache>
            </c:numRef>
          </c:val>
        </c:ser>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9D9D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A3A"/>
        </a:solidFill>
      </p:bgPr>
    </p:bg>
    <p:spTree>
      <p:nvGrpSpPr>
        <p:cNvPr id="1" name=""/>
        <p:cNvGrpSpPr/>
        <p:nvPr/>
      </p:nvGrpSpPr>
      <p:grpSpPr>
        <a:xfrm>
          <a:off x="0" y="0"/>
          <a:ext cx="0" cy="0"/>
          <a:chOff x="0" y="0"/>
          <a:chExt cx="0" cy="0"/>
        </a:xfrm>
      </p:grpSpPr>
      <p:sp>
        <p:nvSpPr>
          <p:cNvPr id="2" name="Shape 0"/>
          <p:cNvSpPr/>
          <p:nvPr/>
        </p:nvSpPr>
        <p:spPr>
          <a:xfrm>
            <a:off x="457200" y="1234440"/>
            <a:ext cx="2286000" cy="365760"/>
          </a:xfrm>
          <a:prstGeom prst="roundRect">
            <a:avLst>
              <a:gd name="adj" fmla="val 20000"/>
            </a:avLst>
          </a:prstGeom>
          <a:solidFill>
            <a:srgbClr val="64CCC9"/>
          </a:solidFill>
          <a:ln w="9525">
            <a:solidFill>
              <a:srgbClr val="64CCC9"/>
            </a:solidFill>
            <a:prstDash val="solid"/>
          </a:ln>
        </p:spPr>
      </p:sp>
      <p:sp>
        <p:nvSpPr>
          <p:cNvPr id="3" name="Text 1"/>
          <p:cNvSpPr txBox="1"/>
          <p:nvPr/>
        </p:nvSpPr>
        <p:spPr>
          <a:xfrm>
            <a:off x="457200" y="1234440"/>
            <a:ext cx="2286000" cy="365760"/>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Template · lorem ipsum</a:t>
            </a:r>
            <a:endParaRPr lang="en-US" sz="1050" dirty="0"/>
          </a:p>
        </p:txBody>
      </p:sp>
      <p:sp>
        <p:nvSpPr>
          <p:cNvPr id="4" name="Text 2"/>
          <p:cNvSpPr txBox="1"/>
          <p:nvPr/>
        </p:nvSpPr>
        <p:spPr>
          <a:xfrm>
            <a:off x="457200" y="1783080"/>
            <a:ext cx="10972800" cy="1463040"/>
          </a:xfrm>
          <a:prstGeom prst="rect">
            <a:avLst/>
          </a:prstGeom>
          <a:noFill/>
          <a:ln/>
        </p:spPr>
        <p:txBody>
          <a:bodyPr wrap="square" lIns="0" tIns="0" rIns="0" bIns="0" rtlCol="0" anchor="t"/>
          <a:lstStyle/>
          <a:p>
            <a:pPr indent="0" marL="0">
              <a:buNone/>
            </a:pPr>
            <a:r>
              <a:rPr lang="en-US" sz="4400" b="1" dirty="0">
                <a:solidFill>
                  <a:srgbClr val="FFFFFF"/>
                </a:solidFill>
                <a:latin typeface="Bricolage Grotesque" pitchFamily="34" charset="0"/>
                <a:ea typeface="Bricolage Grotesque" pitchFamily="34" charset="-122"/>
                <a:cs typeface="Bricolage Grotesque" pitchFamily="34" charset="-120"/>
              </a:rPr>
              <a:t>Campaign / Concept</a:t>
            </a:r>
            <a:endParaRPr lang="en-US" sz="4400" dirty="0"/>
          </a:p>
        </p:txBody>
      </p:sp>
      <p:sp>
        <p:nvSpPr>
          <p:cNvPr id="5" name="Text 3"/>
          <p:cNvSpPr txBox="1"/>
          <p:nvPr/>
        </p:nvSpPr>
        <p:spPr>
          <a:xfrm>
            <a:off x="457200" y="3383280"/>
            <a:ext cx="7863840" cy="914400"/>
          </a:xfrm>
          <a:prstGeom prst="rect">
            <a:avLst/>
          </a:prstGeom>
          <a:noFill/>
          <a:ln/>
        </p:spPr>
        <p:txBody>
          <a:bodyPr wrap="square" lIns="0" tIns="0" rIns="0" bIns="0" rtlCol="0" anchor="t"/>
          <a:lstStyle/>
          <a:p>
            <a:pPr indent="0" marL="0">
              <a:buNone/>
            </a:pPr>
            <a:r>
              <a:rPr lang="en-US" sz="1800" dirty="0">
                <a:solidFill>
                  <a:srgbClr val="CCEBF8"/>
                </a:solidFill>
                <a:latin typeface="Hanken Grotesk" pitchFamily="34" charset="0"/>
                <a:ea typeface="Hanken Grotesk" pitchFamily="34" charset="-122"/>
                <a:cs typeface="Hanken Grotesk" pitchFamily="34" charset="-120"/>
              </a:rPr>
              <a:t>Labore et dolore magna aliqua ut enim ad minim veniam quis nostrud exercitation ullamco laboris nisi ut aliquip.</a:t>
            </a:r>
            <a:endParaRPr lang="en-US" sz="1800" dirty="0"/>
          </a:p>
        </p:txBody>
      </p:sp>
      <p:sp>
        <p:nvSpPr>
          <p:cNvPr id="6" name="Text 4"/>
          <p:cNvSpPr txBox="1"/>
          <p:nvPr/>
        </p:nvSpPr>
        <p:spPr>
          <a:xfrm>
            <a:off x="457200" y="4572000"/>
            <a:ext cx="7315200" cy="320040"/>
          </a:xfrm>
          <a:prstGeom prst="rect">
            <a:avLst/>
          </a:prstGeom>
          <a:noFill/>
          <a:ln/>
        </p:spPr>
        <p:txBody>
          <a:bodyPr wrap="square" lIns="0" tIns="0" rIns="0" bIns="0" rtlCol="0" anchor="t"/>
          <a:lstStyle/>
          <a:p>
            <a:pPr indent="0" marL="0">
              <a:buNone/>
            </a:pPr>
            <a:r>
              <a:rPr lang="en-US" sz="1200" dirty="0">
                <a:solidFill>
                  <a:srgbClr val="CCEBF8"/>
                </a:solidFill>
                <a:latin typeface="IBM Plex Mono" pitchFamily="34" charset="0"/>
                <a:ea typeface="IBM Plex Mono" pitchFamily="34" charset="-122"/>
                <a:cs typeface="IBM Plex Mono" pitchFamily="34" charset="-120"/>
              </a:rPr>
              <a:t>TPL-CAMPAIGN-01 · STORY-CONCEPT-01</a:t>
            </a:r>
            <a:endParaRPr lang="en-US" sz="1200" dirty="0"/>
          </a:p>
        </p:txBody>
      </p:sp>
      <p:sp>
        <p:nvSpPr>
          <p:cNvPr id="7" name="Text 5"/>
          <p:cNvSpPr txBox="1"/>
          <p:nvPr/>
        </p:nvSpPr>
        <p:spPr>
          <a:xfrm>
            <a:off x="457200" y="5989320"/>
            <a:ext cx="7315200" cy="320040"/>
          </a:xfrm>
          <a:prstGeom prst="rect">
            <a:avLst/>
          </a:prstGeom>
          <a:noFill/>
          <a:ln/>
        </p:spPr>
        <p:txBody>
          <a:bodyPr wrap="square" lIns="0" tIns="0" rIns="0" bIns="0" rtlCol="0" anchor="t"/>
          <a:lstStyle/>
          <a:p>
            <a:pPr indent="0" marL="0">
              <a:buNone/>
            </a:pPr>
            <a:r>
              <a:rPr lang="en-US" sz="1350" dirty="0">
                <a:solidFill>
                  <a:srgbClr val="CCEBF8"/>
                </a:solidFill>
                <a:latin typeface="Hanken Grotesk" pitchFamily="34" charset="0"/>
                <a:ea typeface="Hanken Grotesk" pitchFamily="34" charset="-122"/>
                <a:cs typeface="Hanken Grotesk" pitchFamily="34" charset="-120"/>
              </a:rPr>
              <a:t>[Audience] · [Month Year] · Owner: [Name]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HOW TO USE THIS TEMPLATE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Two ways to turn this template into your deck</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HOW-TO · delete before sharing</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02 / 13</a:t>
            </a:r>
            <a:endParaRPr lang="en-US" sz="1050" dirty="0"/>
          </a:p>
        </p:txBody>
      </p:sp>
      <p:sp>
        <p:nvSpPr>
          <p:cNvPr id="7" name="Shape 5"/>
          <p:cNvSpPr/>
          <p:nvPr/>
        </p:nvSpPr>
        <p:spPr>
          <a:xfrm>
            <a:off x="457200" y="1783080"/>
            <a:ext cx="4754880" cy="2011680"/>
          </a:xfrm>
          <a:prstGeom prst="roundRect">
            <a:avLst>
              <a:gd name="adj" fmla="val 5455"/>
            </a:avLst>
          </a:prstGeom>
          <a:solidFill>
            <a:srgbClr val="FFFFFF"/>
          </a:solidFill>
          <a:ln w="9525">
            <a:solidFill>
              <a:srgbClr val="D9D9D6"/>
            </a:solidFill>
            <a:prstDash val="solid"/>
          </a:ln>
        </p:spPr>
      </p:sp>
      <p:sp>
        <p:nvSpPr>
          <p:cNvPr id="8" name="Text 6"/>
          <p:cNvSpPr txBox="1"/>
          <p:nvPr/>
        </p:nvSpPr>
        <p:spPr>
          <a:xfrm>
            <a:off x="731520" y="2011680"/>
            <a:ext cx="420624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OPTION A · EDIT BY HAND</a:t>
            </a:r>
            <a:endParaRPr lang="en-US" sz="1050" dirty="0"/>
          </a:p>
        </p:txBody>
      </p:sp>
      <p:sp>
        <p:nvSpPr>
          <p:cNvPr id="9" name="Text 7"/>
          <p:cNvSpPr txBox="1"/>
          <p:nvPr/>
        </p:nvSpPr>
        <p:spPr>
          <a:xfrm>
            <a:off x="731520" y="2331720"/>
            <a:ext cx="4206240" cy="13716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Replace every lorem ipsum line and dummy number with your content.</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Keep the layouts. Delete slides you have no evidence for.</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Put real screenshots behind the grey phone screens.</a:t>
            </a:r>
            <a:endParaRPr lang="en-US" sz="1350" dirty="0"/>
          </a:p>
        </p:txBody>
      </p:sp>
      <p:sp>
        <p:nvSpPr>
          <p:cNvPr id="10" name="Shape 8"/>
          <p:cNvSpPr/>
          <p:nvPr/>
        </p:nvSpPr>
        <p:spPr>
          <a:xfrm>
            <a:off x="457200" y="3977640"/>
            <a:ext cx="4754880" cy="2148840"/>
          </a:xfrm>
          <a:prstGeom prst="roundRect">
            <a:avLst>
              <a:gd name="adj" fmla="val 5106"/>
            </a:avLst>
          </a:prstGeom>
          <a:solidFill>
            <a:srgbClr val="FFFFFF"/>
          </a:solidFill>
          <a:ln w="9525">
            <a:solidFill>
              <a:srgbClr val="D9D9D6"/>
            </a:solidFill>
            <a:prstDash val="solid"/>
          </a:ln>
        </p:spPr>
      </p:sp>
      <p:sp>
        <p:nvSpPr>
          <p:cNvPr id="11" name="Text 9"/>
          <p:cNvSpPr txBox="1"/>
          <p:nvPr/>
        </p:nvSpPr>
        <p:spPr>
          <a:xfrm>
            <a:off x="731520" y="4206240"/>
            <a:ext cx="420624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OPTION B · USE YOUR AI TOOL</a:t>
            </a:r>
            <a:endParaRPr lang="en-US" sz="1050" dirty="0"/>
          </a:p>
        </p:txBody>
      </p:sp>
      <p:sp>
        <p:nvSpPr>
          <p:cNvPr id="12" name="Text 10"/>
          <p:cNvSpPr txBox="1"/>
          <p:nvPr/>
        </p:nvSpPr>
        <p:spPr>
          <a:xfrm>
            <a:off x="731520" y="4526280"/>
            <a:ext cx="4206240" cy="2743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Attach cx-presentation-system.md, then write:</a:t>
            </a:r>
            <a:endParaRPr lang="en-US" sz="1350" dirty="0"/>
          </a:p>
        </p:txBody>
      </p:sp>
      <p:sp>
        <p:nvSpPr>
          <p:cNvPr id="13" name="Shape 11"/>
          <p:cNvSpPr/>
          <p:nvPr/>
        </p:nvSpPr>
        <p:spPr>
          <a:xfrm>
            <a:off x="731520" y="4846320"/>
            <a:ext cx="4206240" cy="1097280"/>
          </a:xfrm>
          <a:prstGeom prst="roundRect">
            <a:avLst>
              <a:gd name="adj" fmla="val 6667"/>
            </a:avLst>
          </a:prstGeom>
          <a:solidFill>
            <a:srgbClr val="ECECEA"/>
          </a:solidFill>
          <a:ln w="9525">
            <a:solidFill>
              <a:srgbClr val="D9D9D6"/>
            </a:solidFill>
            <a:prstDash val="solid"/>
          </a:ln>
        </p:spPr>
      </p:sp>
      <p:sp>
        <p:nvSpPr>
          <p:cNvPr id="14" name="Text 12"/>
          <p:cNvSpPr txBox="1"/>
          <p:nvPr/>
        </p:nvSpPr>
        <p:spPr>
          <a:xfrm>
            <a:off x="868680" y="4892040"/>
            <a:ext cx="3931920" cy="1005840"/>
          </a:xfrm>
          <a:prstGeom prst="rect">
            <a:avLst/>
          </a:prstGeom>
          <a:noFill/>
          <a:ln/>
        </p:spPr>
        <p:txBody>
          <a:bodyPr wrap="square" lIns="0" tIns="0" rIns="0" bIns="0" rtlCol="0" anchor="ctr"/>
          <a:lstStyle/>
          <a:p>
            <a:pPr indent="0" marL="0">
              <a:buNone/>
            </a:pPr>
            <a:r>
              <a:rPr lang="en-US" sz="1000" dirty="0">
                <a:solidFill>
                  <a:srgbClr val="222731"/>
                </a:solidFill>
                <a:latin typeface="IBM Plex Mono" pitchFamily="34" charset="0"/>
                <a:ea typeface="IBM Plex Mono" pitchFamily="34" charset="-122"/>
                <a:cs typeface="IBM Plex Mono" pitchFamily="34" charset="-120"/>
              </a:rPr>
              <a:t>Use TPL-CAMPAIGN-01 with STORY-CONCEPT-01. Here is my objective, audience and data: …</a:t>
            </a:r>
            <a:endParaRPr lang="en-US" sz="1000" dirty="0"/>
          </a:p>
        </p:txBody>
      </p:sp>
      <p:sp>
        <p:nvSpPr>
          <p:cNvPr id="15" name="Text 13"/>
          <p:cNvSpPr txBox="1"/>
          <p:nvPr/>
        </p:nvSpPr>
        <p:spPr>
          <a:xfrm>
            <a:off x="5577840" y="1783080"/>
            <a:ext cx="6156655"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SLIDE SEQUENCE IN THIS TEMPLATE</a:t>
            </a:r>
            <a:endParaRPr lang="en-US" sz="1050" dirty="0"/>
          </a:p>
        </p:txBody>
      </p:sp>
      <p:sp>
        <p:nvSpPr>
          <p:cNvPr id="16" name="Text 14"/>
          <p:cNvSpPr txBox="1"/>
          <p:nvPr/>
        </p:nvSpPr>
        <p:spPr>
          <a:xfrm>
            <a:off x="5577840" y="214884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03</a:t>
            </a:r>
            <a:endParaRPr lang="en-US" sz="1000" dirty="0"/>
          </a:p>
        </p:txBody>
      </p:sp>
      <p:sp>
        <p:nvSpPr>
          <p:cNvPr id="17" name="Text 15"/>
          <p:cNvSpPr txBox="1"/>
          <p:nvPr/>
        </p:nvSpPr>
        <p:spPr>
          <a:xfrm>
            <a:off x="6035040" y="214884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Context</a:t>
            </a:r>
            <a:endParaRPr lang="en-US" sz="1250" dirty="0"/>
          </a:p>
        </p:txBody>
      </p:sp>
      <p:sp>
        <p:nvSpPr>
          <p:cNvPr id="18" name="Text 16"/>
          <p:cNvSpPr txBox="1"/>
          <p:nvPr/>
        </p:nvSpPr>
        <p:spPr>
          <a:xfrm>
            <a:off x="9402775" y="2148840"/>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SLD-STATEMENT-01</a:t>
            </a:r>
            <a:endParaRPr lang="en-US" sz="1000" dirty="0"/>
          </a:p>
        </p:txBody>
      </p:sp>
      <p:sp>
        <p:nvSpPr>
          <p:cNvPr id="19" name="Shape 17"/>
          <p:cNvSpPr/>
          <p:nvPr/>
        </p:nvSpPr>
        <p:spPr>
          <a:xfrm>
            <a:off x="5577840" y="2478024"/>
            <a:ext cx="6156655" cy="0"/>
          </a:xfrm>
          <a:prstGeom prst="line">
            <a:avLst/>
          </a:prstGeom>
          <a:noFill/>
          <a:ln w="6350">
            <a:solidFill>
              <a:srgbClr val="D9D9D6"/>
            </a:solidFill>
            <a:prstDash val="solid"/>
          </a:ln>
        </p:spPr>
      </p:sp>
      <p:sp>
        <p:nvSpPr>
          <p:cNvPr id="20" name="Text 18"/>
          <p:cNvSpPr txBox="1"/>
          <p:nvPr/>
        </p:nvSpPr>
        <p:spPr>
          <a:xfrm>
            <a:off x="5577840" y="247802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04</a:t>
            </a:r>
            <a:endParaRPr lang="en-US" sz="1000" dirty="0"/>
          </a:p>
        </p:txBody>
      </p:sp>
      <p:sp>
        <p:nvSpPr>
          <p:cNvPr id="21" name="Text 19"/>
          <p:cNvSpPr txBox="1"/>
          <p:nvPr/>
        </p:nvSpPr>
        <p:spPr>
          <a:xfrm>
            <a:off x="6035040" y="247802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Opportunity</a:t>
            </a:r>
            <a:endParaRPr lang="en-US" sz="1250" dirty="0"/>
          </a:p>
        </p:txBody>
      </p:sp>
      <p:sp>
        <p:nvSpPr>
          <p:cNvPr id="22" name="Text 20"/>
          <p:cNvSpPr txBox="1"/>
          <p:nvPr/>
        </p:nvSpPr>
        <p:spPr>
          <a:xfrm>
            <a:off x="9402775" y="2478024"/>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SLD-INSIGHT-01</a:t>
            </a:r>
            <a:endParaRPr lang="en-US" sz="1000" dirty="0"/>
          </a:p>
        </p:txBody>
      </p:sp>
      <p:sp>
        <p:nvSpPr>
          <p:cNvPr id="23" name="Shape 21"/>
          <p:cNvSpPr/>
          <p:nvPr/>
        </p:nvSpPr>
        <p:spPr>
          <a:xfrm>
            <a:off x="5577840" y="2807208"/>
            <a:ext cx="6156655" cy="0"/>
          </a:xfrm>
          <a:prstGeom prst="line">
            <a:avLst/>
          </a:prstGeom>
          <a:noFill/>
          <a:ln w="6350">
            <a:solidFill>
              <a:srgbClr val="D9D9D6"/>
            </a:solidFill>
            <a:prstDash val="solid"/>
          </a:ln>
        </p:spPr>
      </p:sp>
      <p:sp>
        <p:nvSpPr>
          <p:cNvPr id="24" name="Text 22"/>
          <p:cNvSpPr txBox="1"/>
          <p:nvPr/>
        </p:nvSpPr>
        <p:spPr>
          <a:xfrm>
            <a:off x="5577840" y="280720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05</a:t>
            </a:r>
            <a:endParaRPr lang="en-US" sz="1000" dirty="0"/>
          </a:p>
        </p:txBody>
      </p:sp>
      <p:sp>
        <p:nvSpPr>
          <p:cNvPr id="25" name="Text 23"/>
          <p:cNvSpPr txBox="1"/>
          <p:nvPr/>
        </p:nvSpPr>
        <p:spPr>
          <a:xfrm>
            <a:off x="6035040" y="280720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Audience / customer</a:t>
            </a:r>
            <a:endParaRPr lang="en-US" sz="1250" dirty="0"/>
          </a:p>
        </p:txBody>
      </p:sp>
      <p:sp>
        <p:nvSpPr>
          <p:cNvPr id="26" name="Text 24"/>
          <p:cNvSpPr txBox="1"/>
          <p:nvPr/>
        </p:nvSpPr>
        <p:spPr>
          <a:xfrm>
            <a:off x="9402775" y="2807208"/>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SLD-PERSONA-01</a:t>
            </a:r>
            <a:endParaRPr lang="en-US" sz="1000" dirty="0"/>
          </a:p>
        </p:txBody>
      </p:sp>
      <p:sp>
        <p:nvSpPr>
          <p:cNvPr id="27" name="Shape 25"/>
          <p:cNvSpPr/>
          <p:nvPr/>
        </p:nvSpPr>
        <p:spPr>
          <a:xfrm>
            <a:off x="5577840" y="3136392"/>
            <a:ext cx="6156655" cy="0"/>
          </a:xfrm>
          <a:prstGeom prst="line">
            <a:avLst/>
          </a:prstGeom>
          <a:noFill/>
          <a:ln w="6350">
            <a:solidFill>
              <a:srgbClr val="D9D9D6"/>
            </a:solidFill>
            <a:prstDash val="solid"/>
          </a:ln>
        </p:spPr>
      </p:sp>
      <p:sp>
        <p:nvSpPr>
          <p:cNvPr id="28" name="Text 26"/>
          <p:cNvSpPr txBox="1"/>
          <p:nvPr/>
        </p:nvSpPr>
        <p:spPr>
          <a:xfrm>
            <a:off x="5577840" y="313639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06</a:t>
            </a:r>
            <a:endParaRPr lang="en-US" sz="1000" dirty="0"/>
          </a:p>
        </p:txBody>
      </p:sp>
      <p:sp>
        <p:nvSpPr>
          <p:cNvPr id="29" name="Text 27"/>
          <p:cNvSpPr txBox="1"/>
          <p:nvPr/>
        </p:nvSpPr>
        <p:spPr>
          <a:xfrm>
            <a:off x="6035040" y="313639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Insight</a:t>
            </a:r>
            <a:endParaRPr lang="en-US" sz="1250" dirty="0"/>
          </a:p>
        </p:txBody>
      </p:sp>
      <p:sp>
        <p:nvSpPr>
          <p:cNvPr id="30" name="Text 28"/>
          <p:cNvSpPr txBox="1"/>
          <p:nvPr/>
        </p:nvSpPr>
        <p:spPr>
          <a:xfrm>
            <a:off x="9402775" y="3136392"/>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SLD-QUOTE-01</a:t>
            </a:r>
            <a:endParaRPr lang="en-US" sz="1000" dirty="0"/>
          </a:p>
        </p:txBody>
      </p:sp>
      <p:sp>
        <p:nvSpPr>
          <p:cNvPr id="31" name="Shape 29"/>
          <p:cNvSpPr/>
          <p:nvPr/>
        </p:nvSpPr>
        <p:spPr>
          <a:xfrm>
            <a:off x="5577840" y="3465576"/>
            <a:ext cx="6156655" cy="0"/>
          </a:xfrm>
          <a:prstGeom prst="line">
            <a:avLst/>
          </a:prstGeom>
          <a:noFill/>
          <a:ln w="6350">
            <a:solidFill>
              <a:srgbClr val="D9D9D6"/>
            </a:solidFill>
            <a:prstDash val="solid"/>
          </a:ln>
        </p:spPr>
      </p:sp>
      <p:sp>
        <p:nvSpPr>
          <p:cNvPr id="32" name="Text 30"/>
          <p:cNvSpPr txBox="1"/>
          <p:nvPr/>
        </p:nvSpPr>
        <p:spPr>
          <a:xfrm>
            <a:off x="5577840" y="3465576"/>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07</a:t>
            </a:r>
            <a:endParaRPr lang="en-US" sz="1000" dirty="0"/>
          </a:p>
        </p:txBody>
      </p:sp>
      <p:sp>
        <p:nvSpPr>
          <p:cNvPr id="33" name="Text 31"/>
          <p:cNvSpPr txBox="1"/>
          <p:nvPr/>
        </p:nvSpPr>
        <p:spPr>
          <a:xfrm>
            <a:off x="6035040" y="3465576"/>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Concept</a:t>
            </a:r>
            <a:endParaRPr lang="en-US" sz="1250" dirty="0"/>
          </a:p>
        </p:txBody>
      </p:sp>
      <p:sp>
        <p:nvSpPr>
          <p:cNvPr id="34" name="Text 32"/>
          <p:cNvSpPr txBox="1"/>
          <p:nvPr/>
        </p:nvSpPr>
        <p:spPr>
          <a:xfrm>
            <a:off x="9402775" y="3465576"/>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SLD-DEVICE-HERO-01</a:t>
            </a:r>
            <a:endParaRPr lang="en-US" sz="1000" dirty="0"/>
          </a:p>
        </p:txBody>
      </p:sp>
      <p:sp>
        <p:nvSpPr>
          <p:cNvPr id="35" name="Shape 33"/>
          <p:cNvSpPr/>
          <p:nvPr/>
        </p:nvSpPr>
        <p:spPr>
          <a:xfrm>
            <a:off x="5577840" y="3794760"/>
            <a:ext cx="6156655" cy="0"/>
          </a:xfrm>
          <a:prstGeom prst="line">
            <a:avLst/>
          </a:prstGeom>
          <a:noFill/>
          <a:ln w="6350">
            <a:solidFill>
              <a:srgbClr val="D9D9D6"/>
            </a:solidFill>
            <a:prstDash val="solid"/>
          </a:ln>
        </p:spPr>
      </p:sp>
      <p:sp>
        <p:nvSpPr>
          <p:cNvPr id="36" name="Text 34"/>
          <p:cNvSpPr txBox="1"/>
          <p:nvPr/>
        </p:nvSpPr>
        <p:spPr>
          <a:xfrm>
            <a:off x="5577840" y="379476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08</a:t>
            </a:r>
            <a:endParaRPr lang="en-US" sz="1000" dirty="0"/>
          </a:p>
        </p:txBody>
      </p:sp>
      <p:sp>
        <p:nvSpPr>
          <p:cNvPr id="37" name="Text 35"/>
          <p:cNvSpPr txBox="1"/>
          <p:nvPr/>
        </p:nvSpPr>
        <p:spPr>
          <a:xfrm>
            <a:off x="6035040" y="379476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Experience / journey</a:t>
            </a:r>
            <a:endParaRPr lang="en-US" sz="1250" dirty="0"/>
          </a:p>
        </p:txBody>
      </p:sp>
      <p:sp>
        <p:nvSpPr>
          <p:cNvPr id="38" name="Text 36"/>
          <p:cNvSpPr txBox="1"/>
          <p:nvPr/>
        </p:nvSpPr>
        <p:spPr>
          <a:xfrm>
            <a:off x="9402775" y="3794760"/>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SLD-JOURNEY-01</a:t>
            </a:r>
            <a:endParaRPr lang="en-US" sz="1000" dirty="0"/>
          </a:p>
        </p:txBody>
      </p:sp>
      <p:sp>
        <p:nvSpPr>
          <p:cNvPr id="39" name="Shape 37"/>
          <p:cNvSpPr/>
          <p:nvPr/>
        </p:nvSpPr>
        <p:spPr>
          <a:xfrm>
            <a:off x="5577840" y="4123944"/>
            <a:ext cx="6156655" cy="0"/>
          </a:xfrm>
          <a:prstGeom prst="line">
            <a:avLst/>
          </a:prstGeom>
          <a:noFill/>
          <a:ln w="6350">
            <a:solidFill>
              <a:srgbClr val="D9D9D6"/>
            </a:solidFill>
            <a:prstDash val="solid"/>
          </a:ln>
        </p:spPr>
      </p:sp>
      <p:sp>
        <p:nvSpPr>
          <p:cNvPr id="40" name="Text 38"/>
          <p:cNvSpPr txBox="1"/>
          <p:nvPr/>
        </p:nvSpPr>
        <p:spPr>
          <a:xfrm>
            <a:off x="5577840" y="412394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09</a:t>
            </a:r>
            <a:endParaRPr lang="en-US" sz="1000" dirty="0"/>
          </a:p>
        </p:txBody>
      </p:sp>
      <p:sp>
        <p:nvSpPr>
          <p:cNvPr id="41" name="Text 39"/>
          <p:cNvSpPr txBox="1"/>
          <p:nvPr/>
        </p:nvSpPr>
        <p:spPr>
          <a:xfrm>
            <a:off x="6035040" y="412394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Key touchpoints</a:t>
            </a:r>
            <a:endParaRPr lang="en-US" sz="1250" dirty="0"/>
          </a:p>
        </p:txBody>
      </p:sp>
      <p:sp>
        <p:nvSpPr>
          <p:cNvPr id="42" name="Text 40"/>
          <p:cNvSpPr txBox="1"/>
          <p:nvPr/>
        </p:nvSpPr>
        <p:spPr>
          <a:xfrm>
            <a:off x="9402775" y="4123944"/>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SLD-MESSAGING-01</a:t>
            </a:r>
            <a:endParaRPr lang="en-US" sz="1000" dirty="0"/>
          </a:p>
        </p:txBody>
      </p:sp>
      <p:sp>
        <p:nvSpPr>
          <p:cNvPr id="43" name="Shape 41"/>
          <p:cNvSpPr/>
          <p:nvPr/>
        </p:nvSpPr>
        <p:spPr>
          <a:xfrm>
            <a:off x="5577840" y="4453128"/>
            <a:ext cx="6156655" cy="0"/>
          </a:xfrm>
          <a:prstGeom prst="line">
            <a:avLst/>
          </a:prstGeom>
          <a:noFill/>
          <a:ln w="6350">
            <a:solidFill>
              <a:srgbClr val="D9D9D6"/>
            </a:solidFill>
            <a:prstDash val="solid"/>
          </a:ln>
        </p:spPr>
      </p:sp>
      <p:sp>
        <p:nvSpPr>
          <p:cNvPr id="44" name="Text 42"/>
          <p:cNvSpPr txBox="1"/>
          <p:nvPr/>
        </p:nvSpPr>
        <p:spPr>
          <a:xfrm>
            <a:off x="5577840" y="445312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10</a:t>
            </a:r>
            <a:endParaRPr lang="en-US" sz="1000" dirty="0"/>
          </a:p>
        </p:txBody>
      </p:sp>
      <p:sp>
        <p:nvSpPr>
          <p:cNvPr id="45" name="Text 43"/>
          <p:cNvSpPr txBox="1"/>
          <p:nvPr/>
        </p:nvSpPr>
        <p:spPr>
          <a:xfrm>
            <a:off x="6035040" y="445312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Creative direction</a:t>
            </a:r>
            <a:endParaRPr lang="en-US" sz="1250" dirty="0"/>
          </a:p>
        </p:txBody>
      </p:sp>
      <p:sp>
        <p:nvSpPr>
          <p:cNvPr id="46" name="Text 44"/>
          <p:cNvSpPr txBox="1"/>
          <p:nvPr/>
        </p:nvSpPr>
        <p:spPr>
          <a:xfrm>
            <a:off x="9402775" y="4453128"/>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SLD-DEVICE-TRIO-01</a:t>
            </a:r>
            <a:endParaRPr lang="en-US" sz="1000" dirty="0"/>
          </a:p>
        </p:txBody>
      </p:sp>
      <p:sp>
        <p:nvSpPr>
          <p:cNvPr id="47" name="Shape 45"/>
          <p:cNvSpPr/>
          <p:nvPr/>
        </p:nvSpPr>
        <p:spPr>
          <a:xfrm>
            <a:off x="5577840" y="4782312"/>
            <a:ext cx="6156655" cy="0"/>
          </a:xfrm>
          <a:prstGeom prst="line">
            <a:avLst/>
          </a:prstGeom>
          <a:noFill/>
          <a:ln w="6350">
            <a:solidFill>
              <a:srgbClr val="D9D9D6"/>
            </a:solidFill>
            <a:prstDash val="solid"/>
          </a:ln>
        </p:spPr>
      </p:sp>
      <p:sp>
        <p:nvSpPr>
          <p:cNvPr id="48" name="Text 46"/>
          <p:cNvSpPr txBox="1"/>
          <p:nvPr/>
        </p:nvSpPr>
        <p:spPr>
          <a:xfrm>
            <a:off x="5577840" y="478231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11</a:t>
            </a:r>
            <a:endParaRPr lang="en-US" sz="1000" dirty="0"/>
          </a:p>
        </p:txBody>
      </p:sp>
      <p:sp>
        <p:nvSpPr>
          <p:cNvPr id="49" name="Text 47"/>
          <p:cNvSpPr txBox="1"/>
          <p:nvPr/>
        </p:nvSpPr>
        <p:spPr>
          <a:xfrm>
            <a:off x="6035040" y="478231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Supporting evidence</a:t>
            </a:r>
            <a:endParaRPr lang="en-US" sz="1250" dirty="0"/>
          </a:p>
        </p:txBody>
      </p:sp>
      <p:sp>
        <p:nvSpPr>
          <p:cNvPr id="50" name="Text 48"/>
          <p:cNvSpPr txBox="1"/>
          <p:nvPr/>
        </p:nvSpPr>
        <p:spPr>
          <a:xfrm>
            <a:off x="9402775" y="4782312"/>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SLD-2COL-01</a:t>
            </a:r>
            <a:endParaRPr lang="en-US" sz="1000" dirty="0"/>
          </a:p>
        </p:txBody>
      </p:sp>
      <p:sp>
        <p:nvSpPr>
          <p:cNvPr id="51" name="Shape 49"/>
          <p:cNvSpPr/>
          <p:nvPr/>
        </p:nvSpPr>
        <p:spPr>
          <a:xfrm>
            <a:off x="5577840" y="5111496"/>
            <a:ext cx="6156655" cy="0"/>
          </a:xfrm>
          <a:prstGeom prst="line">
            <a:avLst/>
          </a:prstGeom>
          <a:noFill/>
          <a:ln w="6350">
            <a:solidFill>
              <a:srgbClr val="D9D9D6"/>
            </a:solidFill>
            <a:prstDash val="solid"/>
          </a:ln>
        </p:spPr>
      </p:sp>
      <p:sp>
        <p:nvSpPr>
          <p:cNvPr id="52" name="Text 50"/>
          <p:cNvSpPr txBox="1"/>
          <p:nvPr/>
        </p:nvSpPr>
        <p:spPr>
          <a:xfrm>
            <a:off x="5577840" y="5111496"/>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12</a:t>
            </a:r>
            <a:endParaRPr lang="en-US" sz="1000" dirty="0"/>
          </a:p>
        </p:txBody>
      </p:sp>
      <p:sp>
        <p:nvSpPr>
          <p:cNvPr id="53" name="Text 51"/>
          <p:cNvSpPr txBox="1"/>
          <p:nvPr/>
        </p:nvSpPr>
        <p:spPr>
          <a:xfrm>
            <a:off x="6035040" y="5111496"/>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Expected impact</a:t>
            </a:r>
            <a:endParaRPr lang="en-US" sz="1250" dirty="0"/>
          </a:p>
        </p:txBody>
      </p:sp>
      <p:sp>
        <p:nvSpPr>
          <p:cNvPr id="54" name="Text 52"/>
          <p:cNvSpPr txBox="1"/>
          <p:nvPr/>
        </p:nvSpPr>
        <p:spPr>
          <a:xfrm>
            <a:off x="9402775" y="5111496"/>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SLD-KPI-GRID-01</a:t>
            </a:r>
            <a:endParaRPr lang="en-US" sz="1000" dirty="0"/>
          </a:p>
        </p:txBody>
      </p:sp>
      <p:sp>
        <p:nvSpPr>
          <p:cNvPr id="55" name="Shape 53"/>
          <p:cNvSpPr/>
          <p:nvPr/>
        </p:nvSpPr>
        <p:spPr>
          <a:xfrm>
            <a:off x="5577840" y="5440680"/>
            <a:ext cx="6156655" cy="0"/>
          </a:xfrm>
          <a:prstGeom prst="line">
            <a:avLst/>
          </a:prstGeom>
          <a:noFill/>
          <a:ln w="6350">
            <a:solidFill>
              <a:srgbClr val="D9D9D6"/>
            </a:solidFill>
            <a:prstDash val="solid"/>
          </a:ln>
        </p:spPr>
      </p:sp>
      <p:sp>
        <p:nvSpPr>
          <p:cNvPr id="56" name="Text 54"/>
          <p:cNvSpPr txBox="1"/>
          <p:nvPr/>
        </p:nvSpPr>
        <p:spPr>
          <a:xfrm>
            <a:off x="5577840" y="544068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13</a:t>
            </a:r>
            <a:endParaRPr lang="en-US" sz="1000" dirty="0"/>
          </a:p>
        </p:txBody>
      </p:sp>
      <p:sp>
        <p:nvSpPr>
          <p:cNvPr id="57" name="Text 55"/>
          <p:cNvSpPr txBox="1"/>
          <p:nvPr/>
        </p:nvSpPr>
        <p:spPr>
          <a:xfrm>
            <a:off x="6035040" y="544068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Next steps</a:t>
            </a:r>
            <a:endParaRPr lang="en-US" sz="1250" dirty="0"/>
          </a:p>
        </p:txBody>
      </p:sp>
      <p:sp>
        <p:nvSpPr>
          <p:cNvPr id="58" name="Text 56"/>
          <p:cNvSpPr txBox="1"/>
          <p:nvPr/>
        </p:nvSpPr>
        <p:spPr>
          <a:xfrm>
            <a:off x="9402775" y="5440680"/>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SLD-NEXT-STEPS-01</a:t>
            </a:r>
            <a:endParaRPr lang="en-US" sz="1000" dirty="0"/>
          </a:p>
        </p:txBody>
      </p:sp>
      <p:sp>
        <p:nvSpPr>
          <p:cNvPr id="59" name="Text 57"/>
          <p:cNvSpPr txBox="1"/>
          <p:nvPr/>
        </p:nvSpPr>
        <p:spPr>
          <a:xfrm>
            <a:off x="5577840" y="6172200"/>
            <a:ext cx="6156655" cy="228600"/>
          </a:xfrm>
          <a:prstGeom prst="rect">
            <a:avLst/>
          </a:prstGeom>
          <a:noFill/>
          <a:ln/>
        </p:spPr>
        <p:txBody>
          <a:bodyPr wrap="square" lIns="0" tIns="0" rIns="0" bIns="0" rtlCol="0" anchor="t"/>
          <a:lstStyle/>
          <a:p>
            <a:pPr indent="0" marL="0">
              <a:buNone/>
            </a:pPr>
            <a:r>
              <a:rPr lang="en-US" sz="1050" b="1" dirty="0">
                <a:solidFill>
                  <a:srgbClr val="A84600"/>
                </a:solidFill>
                <a:latin typeface="Hanken Grotesk" pitchFamily="34" charset="0"/>
                <a:ea typeface="Hanken Grotesk" pitchFamily="34" charset="-122"/>
                <a:cs typeface="Hanken Grotesk" pitchFamily="34" charset="-120"/>
              </a:rPr>
              <a:t>All copy is lorem ipsum and every number is dummy data.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CONTEXT</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Elit sed do eiusmod tempor incididunt ut labore et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SLD-STATEMENT-01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03 / 13</a:t>
            </a:r>
            <a:endParaRPr lang="en-US" sz="1050" dirty="0"/>
          </a:p>
        </p:txBody>
      </p:sp>
      <p:sp>
        <p:nvSpPr>
          <p:cNvPr id="7" name="Shape 5"/>
          <p:cNvSpPr/>
          <p:nvPr/>
        </p:nvSpPr>
        <p:spPr>
          <a:xfrm>
            <a:off x="457200" y="1783080"/>
            <a:ext cx="11277295" cy="3291840"/>
          </a:xfrm>
          <a:prstGeom prst="roundRect">
            <a:avLst>
              <a:gd name="adj" fmla="val 3889"/>
            </a:avLst>
          </a:prstGeom>
          <a:solidFill>
            <a:srgbClr val="004F71"/>
          </a:solidFill>
          <a:ln w="9525">
            <a:solidFill>
              <a:srgbClr val="004F71"/>
            </a:solidFill>
            <a:prstDash val="solid"/>
          </a:ln>
        </p:spPr>
      </p:sp>
      <p:sp>
        <p:nvSpPr>
          <p:cNvPr id="8" name="Text 6"/>
          <p:cNvSpPr txBox="1"/>
          <p:nvPr/>
        </p:nvSpPr>
        <p:spPr>
          <a:xfrm>
            <a:off x="868680" y="2194560"/>
            <a:ext cx="10454335" cy="2103120"/>
          </a:xfrm>
          <a:prstGeom prst="rect">
            <a:avLst/>
          </a:prstGeom>
          <a:noFill/>
          <a:ln/>
        </p:spPr>
        <p:txBody>
          <a:bodyPr wrap="square" lIns="0" tIns="0" rIns="0" bIns="0" rtlCol="0" anchor="ctr"/>
          <a:lstStyle/>
          <a:p>
            <a:pPr indent="0" marL="0">
              <a:buNone/>
            </a:pPr>
            <a:r>
              <a:rPr lang="en-US" sz="3000" b="1" dirty="0">
                <a:solidFill>
                  <a:srgbClr val="FFFFFF"/>
                </a:solidFill>
                <a:latin typeface="Bricolage Grotesque" pitchFamily="34" charset="0"/>
                <a:ea typeface="Bricolage Grotesque" pitchFamily="34" charset="-122"/>
                <a:cs typeface="Bricolage Grotesque" pitchFamily="34" charset="-120"/>
              </a:rPr>
              <a:t>Consequat duis aute irure dolor in reprehenderit in voluptate velit esse cillum dolore eu fugiat nulla pariatur excepteur sint occaecat.</a:t>
            </a:r>
            <a:endParaRPr lang="en-US" sz="3000" dirty="0"/>
          </a:p>
        </p:txBody>
      </p:sp>
      <p:sp>
        <p:nvSpPr>
          <p:cNvPr id="9" name="Text 7"/>
          <p:cNvSpPr txBox="1"/>
          <p:nvPr/>
        </p:nvSpPr>
        <p:spPr>
          <a:xfrm>
            <a:off x="457200"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WHY NOW</a:t>
            </a:r>
            <a:endParaRPr lang="en-US" sz="1050" dirty="0"/>
          </a:p>
        </p:txBody>
      </p:sp>
      <p:sp>
        <p:nvSpPr>
          <p:cNvPr id="10" name="Text 8"/>
          <p:cNvSpPr txBox="1"/>
          <p:nvPr/>
        </p:nvSpPr>
        <p:spPr>
          <a:xfrm>
            <a:off x="457200"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Dolor in reprehenderit in voluptate velit esse cillum dolore eu fugiat nulla pariatur excepteur.</a:t>
            </a:r>
            <a:endParaRPr lang="en-US" sz="1350" dirty="0"/>
          </a:p>
        </p:txBody>
      </p:sp>
      <p:sp>
        <p:nvSpPr>
          <p:cNvPr id="11" name="Text 9"/>
          <p:cNvSpPr txBox="1"/>
          <p:nvPr/>
        </p:nvSpPr>
        <p:spPr>
          <a:xfrm>
            <a:off x="4307738"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WHAT'S CHANGED</a:t>
            </a:r>
            <a:endParaRPr lang="en-US" sz="1050" dirty="0"/>
          </a:p>
        </p:txBody>
      </p:sp>
      <p:sp>
        <p:nvSpPr>
          <p:cNvPr id="12" name="Text 10"/>
          <p:cNvSpPr txBox="1"/>
          <p:nvPr/>
        </p:nvSpPr>
        <p:spPr>
          <a:xfrm>
            <a:off x="4307738"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Et commodo pharetra est eros bibendum elit nec luctus magna felis sollicitudin mauris integer.</a:t>
            </a:r>
            <a:endParaRPr lang="en-US" sz="1350" dirty="0"/>
          </a:p>
        </p:txBody>
      </p:sp>
      <p:sp>
        <p:nvSpPr>
          <p:cNvPr id="13" name="Text 11"/>
          <p:cNvSpPr txBox="1"/>
          <p:nvPr/>
        </p:nvSpPr>
        <p:spPr>
          <a:xfrm>
            <a:off x="8158277"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WHAT'S AT STAKE</a:t>
            </a:r>
            <a:endParaRPr lang="en-US" sz="1050" dirty="0"/>
          </a:p>
        </p:txBody>
      </p:sp>
      <p:sp>
        <p:nvSpPr>
          <p:cNvPr id="14" name="Text 12"/>
          <p:cNvSpPr txBox="1"/>
          <p:nvPr/>
        </p:nvSpPr>
        <p:spPr>
          <a:xfrm>
            <a:off x="8158277"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Nisi ut aliquip ex ea commodo consequat duis aute irure dolor in reprehenderit in.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OPPORTUNITY</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Laboris nisi ut aliquip ex ea commodo consequat duis aute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SLD-INSIGHT-01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04 / 13</a:t>
            </a:r>
            <a:endParaRPr lang="en-US" sz="1050" dirty="0"/>
          </a:p>
        </p:txBody>
      </p:sp>
      <p:sp>
        <p:nvSpPr>
          <p:cNvPr id="7" name="Shape 5"/>
          <p:cNvSpPr/>
          <p:nvPr/>
        </p:nvSpPr>
        <p:spPr>
          <a:xfrm>
            <a:off x="457200" y="1783080"/>
            <a:ext cx="5120640" cy="4343400"/>
          </a:xfrm>
          <a:prstGeom prst="roundRect">
            <a:avLst>
              <a:gd name="adj" fmla="val 2526"/>
            </a:avLst>
          </a:prstGeom>
          <a:solidFill>
            <a:srgbClr val="004F71"/>
          </a:solidFill>
          <a:ln w="9525">
            <a:solidFill>
              <a:srgbClr val="004F71"/>
            </a:solidFill>
            <a:prstDash val="solid"/>
          </a:ln>
        </p:spPr>
      </p:sp>
      <p:sp>
        <p:nvSpPr>
          <p:cNvPr id="8" name="Shape 6"/>
          <p:cNvSpPr/>
          <p:nvPr/>
        </p:nvSpPr>
        <p:spPr>
          <a:xfrm>
            <a:off x="822960" y="2148840"/>
            <a:ext cx="548640" cy="548640"/>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932688" y="2258568"/>
            <a:ext cx="329184" cy="329184"/>
          </a:xfrm>
          <a:prstGeom prst="rect">
            <a:avLst/>
          </a:prstGeom>
        </p:spPr>
      </p:pic>
      <p:sp>
        <p:nvSpPr>
          <p:cNvPr id="10" name="Text 7"/>
          <p:cNvSpPr txBox="1"/>
          <p:nvPr/>
        </p:nvSpPr>
        <p:spPr>
          <a:xfrm>
            <a:off x="822960" y="2926080"/>
            <a:ext cx="4389120" cy="274320"/>
          </a:xfrm>
          <a:prstGeom prst="rect">
            <a:avLst/>
          </a:prstGeom>
          <a:noFill/>
          <a:ln/>
        </p:spPr>
        <p:txBody>
          <a:bodyPr wrap="square" lIns="0" tIns="0" rIns="0" bIns="0" rtlCol="0" anchor="t"/>
          <a:lstStyle/>
          <a:p>
            <a:pPr indent="0" marL="0">
              <a:buNone/>
            </a:pPr>
            <a:r>
              <a:rPr lang="en-US" sz="1050" b="1" spc="100" kern="0" dirty="0">
                <a:solidFill>
                  <a:srgbClr val="CCEBF8"/>
                </a:solidFill>
                <a:latin typeface="Hanken Grotesk" pitchFamily="34" charset="0"/>
                <a:ea typeface="Hanken Grotesk" pitchFamily="34" charset="-122"/>
                <a:cs typeface="Hanken Grotesk" pitchFamily="34" charset="-120"/>
              </a:rPr>
              <a:t>INSIGHT</a:t>
            </a:r>
            <a:endParaRPr lang="en-US" sz="1050" dirty="0"/>
          </a:p>
        </p:txBody>
      </p:sp>
      <p:sp>
        <p:nvSpPr>
          <p:cNvPr id="11" name="Text 8"/>
          <p:cNvSpPr txBox="1"/>
          <p:nvPr/>
        </p:nvSpPr>
        <p:spPr>
          <a:xfrm>
            <a:off x="822960" y="3246120"/>
            <a:ext cx="4389120" cy="1371600"/>
          </a:xfrm>
          <a:prstGeom prst="rect">
            <a:avLst/>
          </a:prstGeom>
          <a:noFill/>
          <a:ln/>
        </p:spPr>
        <p:txBody>
          <a:bodyPr wrap="square" lIns="0" tIns="0" rIns="0" bIns="0" rtlCol="0" anchor="t"/>
          <a:lstStyle/>
          <a:p>
            <a:pPr indent="0" marL="0">
              <a:buNone/>
            </a:pPr>
            <a:r>
              <a:rPr lang="en-US" sz="2200" b="1" dirty="0">
                <a:solidFill>
                  <a:srgbClr val="FFFFFF"/>
                </a:solidFill>
                <a:latin typeface="Bricolage Grotesque" pitchFamily="34" charset="0"/>
                <a:ea typeface="Bricolage Grotesque" pitchFamily="34" charset="-122"/>
                <a:cs typeface="Bricolage Grotesque" pitchFamily="34" charset="-120"/>
              </a:rPr>
              <a:t>Ad minim veniam quis nostrud exercitation ullamco laboris nisi ut aliquip ex ea commodo.</a:t>
            </a:r>
            <a:endParaRPr lang="en-US" sz="2200" dirty="0"/>
          </a:p>
        </p:txBody>
      </p:sp>
      <p:sp>
        <p:nvSpPr>
          <p:cNvPr id="12" name="Text 9"/>
          <p:cNvSpPr txBox="1"/>
          <p:nvPr/>
        </p:nvSpPr>
        <p:spPr>
          <a:xfrm>
            <a:off x="822960" y="4800600"/>
            <a:ext cx="4389120" cy="274320"/>
          </a:xfrm>
          <a:prstGeom prst="rect">
            <a:avLst/>
          </a:prstGeom>
          <a:noFill/>
          <a:ln/>
        </p:spPr>
        <p:txBody>
          <a:bodyPr wrap="square" lIns="0" tIns="0" rIns="0" bIns="0" rtlCol="0" anchor="t"/>
          <a:lstStyle/>
          <a:p>
            <a:pPr indent="0" marL="0">
              <a:buNone/>
            </a:pPr>
            <a:r>
              <a:rPr lang="en-US" sz="1050" b="1" spc="100" kern="0" dirty="0">
                <a:solidFill>
                  <a:srgbClr val="CCEBF8"/>
                </a:solidFill>
                <a:latin typeface="Hanken Grotesk" pitchFamily="34" charset="0"/>
                <a:ea typeface="Hanken Grotesk" pitchFamily="34" charset="-122"/>
                <a:cs typeface="Hanken Grotesk" pitchFamily="34" charset="-120"/>
              </a:rPr>
              <a:t>IMPLICATION</a:t>
            </a:r>
            <a:endParaRPr lang="en-US" sz="1050" dirty="0"/>
          </a:p>
        </p:txBody>
      </p:sp>
      <p:sp>
        <p:nvSpPr>
          <p:cNvPr id="13" name="Text 10"/>
          <p:cNvSpPr txBox="1"/>
          <p:nvPr/>
        </p:nvSpPr>
        <p:spPr>
          <a:xfrm>
            <a:off x="822960" y="5102352"/>
            <a:ext cx="4389120" cy="868680"/>
          </a:xfrm>
          <a:prstGeom prst="rect">
            <a:avLst/>
          </a:prstGeom>
          <a:noFill/>
          <a:ln/>
        </p:spPr>
        <p:txBody>
          <a:bodyPr wrap="square" lIns="0" tIns="0" rIns="0" bIns="0" rtlCol="0" anchor="t"/>
          <a:lstStyle/>
          <a:p>
            <a:pPr indent="0" marL="0">
              <a:buNone/>
            </a:pPr>
            <a:r>
              <a:rPr lang="en-US" sz="1350" dirty="0">
                <a:solidFill>
                  <a:srgbClr val="FFFFFF"/>
                </a:solidFill>
                <a:latin typeface="Hanken Grotesk" pitchFamily="34" charset="0"/>
                <a:ea typeface="Hanken Grotesk" pitchFamily="34" charset="-122"/>
                <a:cs typeface="Hanken Grotesk" pitchFamily="34" charset="-120"/>
              </a:rPr>
              <a:t>Est eros bibendum elit nec luctus magna felis sollicitudin mauris integer in mauris eu nibh euismod gravida lorem.</a:t>
            </a:r>
            <a:endParaRPr lang="en-US" sz="1350" dirty="0"/>
          </a:p>
        </p:txBody>
      </p:sp>
      <p:sp>
        <p:nvSpPr>
          <p:cNvPr id="14" name="Shape 11"/>
          <p:cNvSpPr/>
          <p:nvPr/>
        </p:nvSpPr>
        <p:spPr>
          <a:xfrm>
            <a:off x="5897880" y="1783080"/>
            <a:ext cx="5836615" cy="1335024"/>
          </a:xfrm>
          <a:prstGeom prst="roundRect">
            <a:avLst>
              <a:gd name="adj" fmla="val 8219"/>
            </a:avLst>
          </a:prstGeom>
          <a:solidFill>
            <a:srgbClr val="FFFFFF"/>
          </a:solidFill>
          <a:ln w="9525">
            <a:solidFill>
              <a:srgbClr val="D9D9D6"/>
            </a:solidFill>
            <a:prstDash val="solid"/>
          </a:ln>
        </p:spPr>
      </p:sp>
      <p:sp>
        <p:nvSpPr>
          <p:cNvPr id="15" name="Text 12"/>
          <p:cNvSpPr txBox="1"/>
          <p:nvPr/>
        </p:nvSpPr>
        <p:spPr>
          <a:xfrm>
            <a:off x="6172200" y="1965960"/>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1 in 3</a:t>
            </a:r>
            <a:endParaRPr lang="en-US" sz="3200" dirty="0"/>
          </a:p>
        </p:txBody>
      </p:sp>
      <p:sp>
        <p:nvSpPr>
          <p:cNvPr id="16" name="Text 13"/>
          <p:cNvSpPr txBox="1"/>
          <p:nvPr/>
        </p:nvSpPr>
        <p:spPr>
          <a:xfrm>
            <a:off x="8275320" y="1984248"/>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Laboris nisi ut aliquip ex ea commodo.</a:t>
            </a:r>
            <a:endParaRPr lang="en-US" sz="1350" dirty="0"/>
          </a:p>
        </p:txBody>
      </p:sp>
      <p:sp>
        <p:nvSpPr>
          <p:cNvPr id="17" name="Text 14"/>
          <p:cNvSpPr txBox="1"/>
          <p:nvPr/>
        </p:nvSpPr>
        <p:spPr>
          <a:xfrm>
            <a:off x="6172200" y="2724912"/>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Lorem · order data · n = 4,200</a:t>
            </a:r>
            <a:endParaRPr lang="en-US" sz="1050" dirty="0"/>
          </a:p>
        </p:txBody>
      </p:sp>
      <p:sp>
        <p:nvSpPr>
          <p:cNvPr id="18" name="Shape 15"/>
          <p:cNvSpPr/>
          <p:nvPr/>
        </p:nvSpPr>
        <p:spPr>
          <a:xfrm>
            <a:off x="5897880" y="3264408"/>
            <a:ext cx="5836615" cy="1335024"/>
          </a:xfrm>
          <a:prstGeom prst="roundRect">
            <a:avLst>
              <a:gd name="adj" fmla="val 8219"/>
            </a:avLst>
          </a:prstGeom>
          <a:solidFill>
            <a:srgbClr val="FFFFFF"/>
          </a:solidFill>
          <a:ln w="9525">
            <a:solidFill>
              <a:srgbClr val="D9D9D6"/>
            </a:solidFill>
            <a:prstDash val="solid"/>
          </a:ln>
        </p:spPr>
      </p:sp>
      <p:sp>
        <p:nvSpPr>
          <p:cNvPr id="19" name="Text 16"/>
          <p:cNvSpPr txBox="1"/>
          <p:nvPr/>
        </p:nvSpPr>
        <p:spPr>
          <a:xfrm>
            <a:off x="6172200" y="3447288"/>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62%</a:t>
            </a:r>
            <a:endParaRPr lang="en-US" sz="3200" dirty="0"/>
          </a:p>
        </p:txBody>
      </p:sp>
      <p:sp>
        <p:nvSpPr>
          <p:cNvPr id="20" name="Text 17"/>
          <p:cNvSpPr txBox="1"/>
          <p:nvPr/>
        </p:nvSpPr>
        <p:spPr>
          <a:xfrm>
            <a:off x="8275320" y="3465576"/>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Deserunt mollit anim id est laborum curabitur.</a:t>
            </a:r>
            <a:endParaRPr lang="en-US" sz="1350" dirty="0"/>
          </a:p>
        </p:txBody>
      </p:sp>
      <p:sp>
        <p:nvSpPr>
          <p:cNvPr id="21" name="Text 18"/>
          <p:cNvSpPr txBox="1"/>
          <p:nvPr/>
        </p:nvSpPr>
        <p:spPr>
          <a:xfrm>
            <a:off x="6172200" y="4206240"/>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Survey · online · n = 1,200</a:t>
            </a:r>
            <a:endParaRPr lang="en-US" sz="1050" dirty="0"/>
          </a:p>
        </p:txBody>
      </p:sp>
      <p:sp>
        <p:nvSpPr>
          <p:cNvPr id="22" name="Shape 19"/>
          <p:cNvSpPr/>
          <p:nvPr/>
        </p:nvSpPr>
        <p:spPr>
          <a:xfrm>
            <a:off x="5897880" y="4745736"/>
            <a:ext cx="5836615" cy="1335024"/>
          </a:xfrm>
          <a:prstGeom prst="roundRect">
            <a:avLst>
              <a:gd name="adj" fmla="val 8219"/>
            </a:avLst>
          </a:prstGeom>
          <a:solidFill>
            <a:srgbClr val="FFFFFF"/>
          </a:solidFill>
          <a:ln w="9525">
            <a:solidFill>
              <a:srgbClr val="D9D9D6"/>
            </a:solidFill>
            <a:prstDash val="solid"/>
          </a:ln>
        </p:spPr>
      </p:sp>
      <p:sp>
        <p:nvSpPr>
          <p:cNvPr id="23" name="Text 20"/>
          <p:cNvSpPr txBox="1"/>
          <p:nvPr/>
        </p:nvSpPr>
        <p:spPr>
          <a:xfrm>
            <a:off x="6172200" y="4928616"/>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5 steps</a:t>
            </a:r>
            <a:endParaRPr lang="en-US" sz="3200" dirty="0"/>
          </a:p>
        </p:txBody>
      </p:sp>
      <p:sp>
        <p:nvSpPr>
          <p:cNvPr id="24" name="Text 21"/>
          <p:cNvSpPr txBox="1"/>
          <p:nvPr/>
        </p:nvSpPr>
        <p:spPr>
          <a:xfrm>
            <a:off x="8275320" y="4946904"/>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Nibh euismod gravida lorem ipsum dolor sit.</a:t>
            </a:r>
            <a:endParaRPr lang="en-US" sz="1350" dirty="0"/>
          </a:p>
        </p:txBody>
      </p:sp>
      <p:sp>
        <p:nvSpPr>
          <p:cNvPr id="25" name="Text 22"/>
          <p:cNvSpPr txBox="1"/>
          <p:nvPr/>
        </p:nvSpPr>
        <p:spPr>
          <a:xfrm>
            <a:off x="6172200" y="5687568"/>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Journey audit · 3 channels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AUDIENCE / CUSTOMER</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Fugiat nulla pariatur excepteur sint occaecat cupidatat non proident sunt in</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SLD-PERSONA-01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05 / 13</a:t>
            </a:r>
            <a:endParaRPr lang="en-US" sz="1050" dirty="0"/>
          </a:p>
        </p:txBody>
      </p:sp>
      <p:sp>
        <p:nvSpPr>
          <p:cNvPr id="7" name="Shape 5"/>
          <p:cNvSpPr/>
          <p:nvPr/>
        </p:nvSpPr>
        <p:spPr>
          <a:xfrm>
            <a:off x="457200" y="1783080"/>
            <a:ext cx="3576218" cy="4343400"/>
          </a:xfrm>
          <a:prstGeom prst="roundRect">
            <a:avLst>
              <a:gd name="adj" fmla="val 3068"/>
            </a:avLst>
          </a:prstGeom>
          <a:solidFill>
            <a:srgbClr val="FFFFFF"/>
          </a:solidFill>
          <a:ln w="9525">
            <a:solidFill>
              <a:srgbClr val="D9D9D6"/>
            </a:solidFill>
            <a:prstDash val="solid"/>
          </a:ln>
        </p:spPr>
      </p:sp>
      <p:sp>
        <p:nvSpPr>
          <p:cNvPr id="8" name="Shape 6"/>
          <p:cNvSpPr/>
          <p:nvPr/>
        </p:nvSpPr>
        <p:spPr>
          <a:xfrm>
            <a:off x="731520" y="2057400"/>
            <a:ext cx="640080" cy="640080"/>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859536" y="2185416"/>
            <a:ext cx="384048" cy="384048"/>
          </a:xfrm>
          <a:prstGeom prst="rect">
            <a:avLst/>
          </a:prstGeom>
        </p:spPr>
      </p:pic>
      <p:sp>
        <p:nvSpPr>
          <p:cNvPr id="10" name="Text 7"/>
          <p:cNvSpPr txBox="1"/>
          <p:nvPr/>
        </p:nvSpPr>
        <p:spPr>
          <a:xfrm>
            <a:off x="1508760" y="2075688"/>
            <a:ext cx="2296058" cy="329184"/>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Segment A</a:t>
            </a:r>
            <a:endParaRPr lang="en-US" sz="1500" dirty="0"/>
          </a:p>
        </p:txBody>
      </p:sp>
      <p:sp>
        <p:nvSpPr>
          <p:cNvPr id="11" name="Text 8"/>
          <p:cNvSpPr txBox="1"/>
          <p:nvPr/>
        </p:nvSpPr>
        <p:spPr>
          <a:xfrm>
            <a:off x="1508760" y="2423160"/>
            <a:ext cx="229605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Age 45–54 · lorem ipsum</a:t>
            </a:r>
            <a:endParaRPr lang="en-US" sz="1050" dirty="0"/>
          </a:p>
        </p:txBody>
      </p:sp>
      <p:sp>
        <p:nvSpPr>
          <p:cNvPr id="12" name="Text 9"/>
          <p:cNvSpPr txBox="1"/>
          <p:nvPr/>
        </p:nvSpPr>
        <p:spPr>
          <a:xfrm>
            <a:off x="731520" y="2971800"/>
            <a:ext cx="302757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NEEDS</a:t>
            </a:r>
            <a:endParaRPr lang="en-US" sz="1050" dirty="0"/>
          </a:p>
        </p:txBody>
      </p:sp>
      <p:sp>
        <p:nvSpPr>
          <p:cNvPr id="13" name="Text 10"/>
          <p:cNvSpPr txBox="1"/>
          <p:nvPr/>
        </p:nvSpPr>
        <p:spPr>
          <a:xfrm>
            <a:off x="731520" y="3246120"/>
            <a:ext cx="3027578" cy="9144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Labore et dolore magna aliqua ut enim ad.</a:t>
            </a:r>
            <a:endParaRPr lang="en-US" sz="1150" dirty="0"/>
          </a:p>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Deserunt mollit anim id est laborum curabitur.</a:t>
            </a:r>
            <a:endParaRPr lang="en-US" sz="1150" dirty="0"/>
          </a:p>
        </p:txBody>
      </p:sp>
      <p:sp>
        <p:nvSpPr>
          <p:cNvPr id="14" name="Text 11"/>
          <p:cNvSpPr txBox="1"/>
          <p:nvPr/>
        </p:nvSpPr>
        <p:spPr>
          <a:xfrm>
            <a:off x="731520" y="4114800"/>
            <a:ext cx="302757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BEHAVIORS</a:t>
            </a:r>
            <a:endParaRPr lang="en-US" sz="1050" dirty="0"/>
          </a:p>
        </p:txBody>
      </p:sp>
      <p:sp>
        <p:nvSpPr>
          <p:cNvPr id="15" name="Text 12"/>
          <p:cNvSpPr txBox="1"/>
          <p:nvPr/>
        </p:nvSpPr>
        <p:spPr>
          <a:xfrm>
            <a:off x="731520" y="4389120"/>
            <a:ext cx="3027578" cy="9144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Consequat duis aute irure dolor in reprehenderit in.</a:t>
            </a:r>
            <a:endParaRPr lang="en-US" sz="1150" dirty="0"/>
          </a:p>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Est eros bibendum elit nec luctus magna.</a:t>
            </a:r>
            <a:endParaRPr lang="en-US" sz="1150" dirty="0"/>
          </a:p>
        </p:txBody>
      </p:sp>
      <p:sp>
        <p:nvSpPr>
          <p:cNvPr id="16" name="Shape 13"/>
          <p:cNvSpPr/>
          <p:nvPr/>
        </p:nvSpPr>
        <p:spPr>
          <a:xfrm>
            <a:off x="731520" y="5486400"/>
            <a:ext cx="3027578" cy="411480"/>
          </a:xfrm>
          <a:prstGeom prst="roundRect">
            <a:avLst>
              <a:gd name="adj" fmla="val 17778"/>
            </a:avLst>
          </a:prstGeom>
          <a:solidFill>
            <a:srgbClr val="ECECEA"/>
          </a:solidFill>
          <a:ln w="9525">
            <a:solidFill>
              <a:srgbClr val="ECECEA"/>
            </a:solidFill>
            <a:prstDash val="solid"/>
          </a:ln>
        </p:spPr>
      </p:sp>
      <p:sp>
        <p:nvSpPr>
          <p:cNvPr id="17" name="Text 14"/>
          <p:cNvSpPr txBox="1"/>
          <p:nvPr/>
        </p:nvSpPr>
        <p:spPr>
          <a:xfrm>
            <a:off x="868680" y="5486400"/>
            <a:ext cx="2753258" cy="411480"/>
          </a:xfrm>
          <a:prstGeom prst="rect">
            <a:avLst/>
          </a:prstGeom>
          <a:noFill/>
          <a:ln/>
        </p:spPr>
        <p:txBody>
          <a:bodyPr wrap="square" lIns="0" tIns="0" rIns="0" bIns="0" rtlCol="0" anchor="ctr"/>
          <a:lstStyle/>
          <a:p>
            <a:pPr indent="0" marL="0">
              <a:buNone/>
            </a:pPr>
            <a:r>
              <a:rPr lang="en-US" sz="1100" b="1" dirty="0">
                <a:solidFill>
                  <a:srgbClr val="004F71"/>
                </a:solidFill>
                <a:latin typeface="Hanken Grotesk" pitchFamily="34" charset="0"/>
                <a:ea typeface="Hanken Grotesk" pitchFamily="34" charset="-122"/>
                <a:cs typeface="Hanken Grotesk" pitchFamily="34" charset="-120"/>
              </a:rPr>
              <a:t>Top need: Ad minim veniam quis</a:t>
            </a:r>
            <a:endParaRPr lang="en-US" sz="1100" dirty="0"/>
          </a:p>
        </p:txBody>
      </p:sp>
      <p:sp>
        <p:nvSpPr>
          <p:cNvPr id="18" name="Shape 15"/>
          <p:cNvSpPr/>
          <p:nvPr/>
        </p:nvSpPr>
        <p:spPr>
          <a:xfrm>
            <a:off x="4307738" y="1783080"/>
            <a:ext cx="3576218" cy="4343400"/>
          </a:xfrm>
          <a:prstGeom prst="roundRect">
            <a:avLst>
              <a:gd name="adj" fmla="val 3068"/>
            </a:avLst>
          </a:prstGeom>
          <a:solidFill>
            <a:srgbClr val="FFFFFF"/>
          </a:solidFill>
          <a:ln w="9525">
            <a:solidFill>
              <a:srgbClr val="D9D9D6"/>
            </a:solidFill>
            <a:prstDash val="solid"/>
          </a:ln>
        </p:spPr>
      </p:sp>
      <p:sp>
        <p:nvSpPr>
          <p:cNvPr id="19" name="Shape 16"/>
          <p:cNvSpPr/>
          <p:nvPr/>
        </p:nvSpPr>
        <p:spPr>
          <a:xfrm>
            <a:off x="4582058" y="2057400"/>
            <a:ext cx="640080" cy="640080"/>
          </a:xfrm>
          <a:prstGeom prst="roundRect">
            <a:avLst>
              <a:gd name="adj" fmla="val 30000"/>
            </a:avLst>
          </a:prstGeom>
          <a:solidFill>
            <a:srgbClr val="E5F5FC"/>
          </a:solidFill>
          <a:ln w="9525">
            <a:solidFill>
              <a:srgbClr val="E5F5FC"/>
            </a:solidFill>
            <a:prstDash val="solid"/>
          </a:ln>
        </p:spPr>
      </p:sp>
      <p:pic>
        <p:nvPicPr>
          <p:cNvPr id="20" name="Image 1" descr="preencoded.png">    </p:cNvPr>
          <p:cNvPicPr>
            <a:picLocks noChangeAspect="1"/>
          </p:cNvPicPr>
          <p:nvPr/>
        </p:nvPicPr>
        <p:blipFill>
          <a:blip r:embed="rId2"/>
          <a:stretch>
            <a:fillRect/>
          </a:stretch>
        </p:blipFill>
        <p:spPr>
          <a:xfrm>
            <a:off x="4710074" y="2185416"/>
            <a:ext cx="384048" cy="384048"/>
          </a:xfrm>
          <a:prstGeom prst="rect">
            <a:avLst/>
          </a:prstGeom>
        </p:spPr>
      </p:pic>
      <p:sp>
        <p:nvSpPr>
          <p:cNvPr id="21" name="Text 17"/>
          <p:cNvSpPr txBox="1"/>
          <p:nvPr/>
        </p:nvSpPr>
        <p:spPr>
          <a:xfrm>
            <a:off x="5359298" y="2075688"/>
            <a:ext cx="2296058" cy="329184"/>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Segment B</a:t>
            </a:r>
            <a:endParaRPr lang="en-US" sz="1500" dirty="0"/>
          </a:p>
        </p:txBody>
      </p:sp>
      <p:sp>
        <p:nvSpPr>
          <p:cNvPr id="22" name="Text 18"/>
          <p:cNvSpPr txBox="1"/>
          <p:nvPr/>
        </p:nvSpPr>
        <p:spPr>
          <a:xfrm>
            <a:off x="5359298" y="2423160"/>
            <a:ext cx="229605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Age 55–64 · dolor sit</a:t>
            </a:r>
            <a:endParaRPr lang="en-US" sz="1050" dirty="0"/>
          </a:p>
        </p:txBody>
      </p:sp>
      <p:sp>
        <p:nvSpPr>
          <p:cNvPr id="23" name="Text 19"/>
          <p:cNvSpPr txBox="1"/>
          <p:nvPr/>
        </p:nvSpPr>
        <p:spPr>
          <a:xfrm>
            <a:off x="4582058" y="2971800"/>
            <a:ext cx="302757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NEEDS</a:t>
            </a:r>
            <a:endParaRPr lang="en-US" sz="1050" dirty="0"/>
          </a:p>
        </p:txBody>
      </p:sp>
      <p:sp>
        <p:nvSpPr>
          <p:cNvPr id="24" name="Text 20"/>
          <p:cNvSpPr txBox="1"/>
          <p:nvPr/>
        </p:nvSpPr>
        <p:spPr>
          <a:xfrm>
            <a:off x="4582058" y="3246120"/>
            <a:ext cx="3027578" cy="9144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Fugiat nulla pariatur excepteur sint occaecat cupidatat non.</a:t>
            </a:r>
            <a:endParaRPr lang="en-US" sz="1150" dirty="0"/>
          </a:p>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Nibh euismod gravida lorem ipsum dolor sit.</a:t>
            </a:r>
            <a:endParaRPr lang="en-US" sz="1150" dirty="0"/>
          </a:p>
        </p:txBody>
      </p:sp>
      <p:sp>
        <p:nvSpPr>
          <p:cNvPr id="25" name="Text 21"/>
          <p:cNvSpPr txBox="1"/>
          <p:nvPr/>
        </p:nvSpPr>
        <p:spPr>
          <a:xfrm>
            <a:off x="4582058" y="4114800"/>
            <a:ext cx="302757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BEHAVIORS</a:t>
            </a:r>
            <a:endParaRPr lang="en-US" sz="1050" dirty="0"/>
          </a:p>
        </p:txBody>
      </p:sp>
      <p:sp>
        <p:nvSpPr>
          <p:cNvPr id="26" name="Text 22"/>
          <p:cNvSpPr txBox="1"/>
          <p:nvPr/>
        </p:nvSpPr>
        <p:spPr>
          <a:xfrm>
            <a:off x="4582058" y="4389120"/>
            <a:ext cx="3027578" cy="9144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Pretium tincidunt lacus nulla gravida orci a odio.</a:t>
            </a:r>
            <a:endParaRPr lang="en-US" sz="1150" dirty="0"/>
          </a:p>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Aliqua ut enim ad minim veniam quis.</a:t>
            </a:r>
            <a:endParaRPr lang="en-US" sz="1150" dirty="0"/>
          </a:p>
        </p:txBody>
      </p:sp>
      <p:sp>
        <p:nvSpPr>
          <p:cNvPr id="27" name="Shape 23"/>
          <p:cNvSpPr/>
          <p:nvPr/>
        </p:nvSpPr>
        <p:spPr>
          <a:xfrm>
            <a:off x="4582058" y="5486400"/>
            <a:ext cx="3027578" cy="411480"/>
          </a:xfrm>
          <a:prstGeom prst="roundRect">
            <a:avLst>
              <a:gd name="adj" fmla="val 17778"/>
            </a:avLst>
          </a:prstGeom>
          <a:solidFill>
            <a:srgbClr val="ECECEA"/>
          </a:solidFill>
          <a:ln w="9525">
            <a:solidFill>
              <a:srgbClr val="ECECEA"/>
            </a:solidFill>
            <a:prstDash val="solid"/>
          </a:ln>
        </p:spPr>
      </p:sp>
      <p:sp>
        <p:nvSpPr>
          <p:cNvPr id="28" name="Text 24"/>
          <p:cNvSpPr txBox="1"/>
          <p:nvPr/>
        </p:nvSpPr>
        <p:spPr>
          <a:xfrm>
            <a:off x="4719218" y="5486400"/>
            <a:ext cx="2753258" cy="411480"/>
          </a:xfrm>
          <a:prstGeom prst="rect">
            <a:avLst/>
          </a:prstGeom>
          <a:noFill/>
          <a:ln/>
        </p:spPr>
        <p:txBody>
          <a:bodyPr wrap="square" lIns="0" tIns="0" rIns="0" bIns="0" rtlCol="0" anchor="ctr"/>
          <a:lstStyle/>
          <a:p>
            <a:pPr indent="0" marL="0">
              <a:buNone/>
            </a:pPr>
            <a:r>
              <a:rPr lang="en-US" sz="1100" b="1" dirty="0">
                <a:solidFill>
                  <a:srgbClr val="004F71"/>
                </a:solidFill>
                <a:latin typeface="Hanken Grotesk" pitchFamily="34" charset="0"/>
                <a:ea typeface="Hanken Grotesk" pitchFamily="34" charset="-122"/>
                <a:cs typeface="Hanken Grotesk" pitchFamily="34" charset="-120"/>
              </a:rPr>
              <a:t>Top need: Pretium tincidunt lacus nulla</a:t>
            </a:r>
            <a:endParaRPr lang="en-US" sz="1100" dirty="0"/>
          </a:p>
        </p:txBody>
      </p:sp>
      <p:sp>
        <p:nvSpPr>
          <p:cNvPr id="29" name="Shape 25"/>
          <p:cNvSpPr/>
          <p:nvPr/>
        </p:nvSpPr>
        <p:spPr>
          <a:xfrm>
            <a:off x="8158277" y="1783080"/>
            <a:ext cx="3576218" cy="4343400"/>
          </a:xfrm>
          <a:prstGeom prst="roundRect">
            <a:avLst>
              <a:gd name="adj" fmla="val 3068"/>
            </a:avLst>
          </a:prstGeom>
          <a:solidFill>
            <a:srgbClr val="FFFFFF"/>
          </a:solidFill>
          <a:ln w="9525">
            <a:solidFill>
              <a:srgbClr val="D9D9D6"/>
            </a:solidFill>
            <a:prstDash val="solid"/>
          </a:ln>
        </p:spPr>
      </p:sp>
      <p:sp>
        <p:nvSpPr>
          <p:cNvPr id="30" name="Shape 26"/>
          <p:cNvSpPr/>
          <p:nvPr/>
        </p:nvSpPr>
        <p:spPr>
          <a:xfrm>
            <a:off x="8432597" y="2057400"/>
            <a:ext cx="640080" cy="640080"/>
          </a:xfrm>
          <a:prstGeom prst="roundRect">
            <a:avLst>
              <a:gd name="adj" fmla="val 30000"/>
            </a:avLst>
          </a:prstGeom>
          <a:solidFill>
            <a:srgbClr val="E5F5FC"/>
          </a:solidFill>
          <a:ln w="9525">
            <a:solidFill>
              <a:srgbClr val="E5F5FC"/>
            </a:solidFill>
            <a:prstDash val="solid"/>
          </a:ln>
        </p:spPr>
      </p:sp>
      <p:pic>
        <p:nvPicPr>
          <p:cNvPr id="31" name="Image 2" descr="preencoded.png">    </p:cNvPr>
          <p:cNvPicPr>
            <a:picLocks noChangeAspect="1"/>
          </p:cNvPicPr>
          <p:nvPr/>
        </p:nvPicPr>
        <p:blipFill>
          <a:blip r:embed="rId3"/>
          <a:stretch>
            <a:fillRect/>
          </a:stretch>
        </p:blipFill>
        <p:spPr>
          <a:xfrm>
            <a:off x="8560613" y="2185416"/>
            <a:ext cx="384048" cy="384048"/>
          </a:xfrm>
          <a:prstGeom prst="rect">
            <a:avLst/>
          </a:prstGeom>
        </p:spPr>
      </p:pic>
      <p:sp>
        <p:nvSpPr>
          <p:cNvPr id="32" name="Text 27"/>
          <p:cNvSpPr txBox="1"/>
          <p:nvPr/>
        </p:nvSpPr>
        <p:spPr>
          <a:xfrm>
            <a:off x="9209837" y="2075688"/>
            <a:ext cx="2296058" cy="329184"/>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Segment C</a:t>
            </a:r>
            <a:endParaRPr lang="en-US" sz="1500" dirty="0"/>
          </a:p>
        </p:txBody>
      </p:sp>
      <p:sp>
        <p:nvSpPr>
          <p:cNvPr id="33" name="Text 28"/>
          <p:cNvSpPr txBox="1"/>
          <p:nvPr/>
        </p:nvSpPr>
        <p:spPr>
          <a:xfrm>
            <a:off x="9209837" y="2423160"/>
            <a:ext cx="229605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Age 65–75 · amet elit</a:t>
            </a:r>
            <a:endParaRPr lang="en-US" sz="1050" dirty="0"/>
          </a:p>
        </p:txBody>
      </p:sp>
      <p:sp>
        <p:nvSpPr>
          <p:cNvPr id="34" name="Text 29"/>
          <p:cNvSpPr txBox="1"/>
          <p:nvPr/>
        </p:nvSpPr>
        <p:spPr>
          <a:xfrm>
            <a:off x="8432597" y="2971800"/>
            <a:ext cx="302757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NEEDS</a:t>
            </a:r>
            <a:endParaRPr lang="en-US" sz="1050" dirty="0"/>
          </a:p>
        </p:txBody>
      </p:sp>
      <p:sp>
        <p:nvSpPr>
          <p:cNvPr id="35" name="Text 30"/>
          <p:cNvSpPr txBox="1"/>
          <p:nvPr/>
        </p:nvSpPr>
        <p:spPr>
          <a:xfrm>
            <a:off x="8432597" y="3246120"/>
            <a:ext cx="3027578" cy="9144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Est eros bibendum elit nec luctus magna felis.</a:t>
            </a:r>
            <a:endParaRPr lang="en-US" sz="1150" dirty="0"/>
          </a:p>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Ex ea commodo consequat duis aute irure.</a:t>
            </a:r>
            <a:endParaRPr lang="en-US" sz="1150" dirty="0"/>
          </a:p>
        </p:txBody>
      </p:sp>
      <p:sp>
        <p:nvSpPr>
          <p:cNvPr id="36" name="Text 31"/>
          <p:cNvSpPr txBox="1"/>
          <p:nvPr/>
        </p:nvSpPr>
        <p:spPr>
          <a:xfrm>
            <a:off x="8432597" y="4114800"/>
            <a:ext cx="302757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BEHAVIORS</a:t>
            </a:r>
            <a:endParaRPr lang="en-US" sz="1050" dirty="0"/>
          </a:p>
        </p:txBody>
      </p:sp>
      <p:sp>
        <p:nvSpPr>
          <p:cNvPr id="37" name="Text 32"/>
          <p:cNvSpPr txBox="1"/>
          <p:nvPr/>
        </p:nvSpPr>
        <p:spPr>
          <a:xfrm>
            <a:off x="8432597" y="4389120"/>
            <a:ext cx="3027578" cy="9144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Amet consectetur adipiscing elit sed do eiusmod tempor.</a:t>
            </a:r>
            <a:endParaRPr lang="en-US" sz="1150" dirty="0"/>
          </a:p>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Sint occaecat cupidatat non proident sunt in.</a:t>
            </a:r>
            <a:endParaRPr lang="en-US" sz="1150" dirty="0"/>
          </a:p>
        </p:txBody>
      </p:sp>
      <p:sp>
        <p:nvSpPr>
          <p:cNvPr id="38" name="Shape 33"/>
          <p:cNvSpPr/>
          <p:nvPr/>
        </p:nvSpPr>
        <p:spPr>
          <a:xfrm>
            <a:off x="8432597" y="5486400"/>
            <a:ext cx="3027578" cy="411480"/>
          </a:xfrm>
          <a:prstGeom prst="roundRect">
            <a:avLst>
              <a:gd name="adj" fmla="val 17778"/>
            </a:avLst>
          </a:prstGeom>
          <a:solidFill>
            <a:srgbClr val="ECECEA"/>
          </a:solidFill>
          <a:ln w="9525">
            <a:solidFill>
              <a:srgbClr val="ECECEA"/>
            </a:solidFill>
            <a:prstDash val="solid"/>
          </a:ln>
        </p:spPr>
      </p:sp>
      <p:sp>
        <p:nvSpPr>
          <p:cNvPr id="39" name="Text 34"/>
          <p:cNvSpPr txBox="1"/>
          <p:nvPr/>
        </p:nvSpPr>
        <p:spPr>
          <a:xfrm>
            <a:off x="8569757" y="5486400"/>
            <a:ext cx="2753258" cy="411480"/>
          </a:xfrm>
          <a:prstGeom prst="rect">
            <a:avLst/>
          </a:prstGeom>
          <a:noFill/>
          <a:ln/>
        </p:spPr>
        <p:txBody>
          <a:bodyPr wrap="square" lIns="0" tIns="0" rIns="0" bIns="0" rtlCol="0" anchor="ctr"/>
          <a:lstStyle/>
          <a:p>
            <a:pPr indent="0" marL="0">
              <a:buNone/>
            </a:pPr>
            <a:r>
              <a:rPr lang="en-US" sz="1100" b="1" dirty="0">
                <a:solidFill>
                  <a:srgbClr val="004F71"/>
                </a:solidFill>
                <a:latin typeface="Hanken Grotesk" pitchFamily="34" charset="0"/>
                <a:ea typeface="Hanken Grotesk" pitchFamily="34" charset="-122"/>
                <a:cs typeface="Hanken Grotesk" pitchFamily="34" charset="-120"/>
              </a:rPr>
              <a:t>Top need: Aliqua ut enim ad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INSIGHT</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Pretium tincidunt lacus nulla gravida orci a odio nullam</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SLD-QUOTE-01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06 / 13</a:t>
            </a:r>
            <a:endParaRPr lang="en-US" sz="1050" dirty="0"/>
          </a:p>
        </p:txBody>
      </p:sp>
      <p:sp>
        <p:nvSpPr>
          <p:cNvPr id="7" name="Shape 5"/>
          <p:cNvSpPr/>
          <p:nvPr/>
        </p:nvSpPr>
        <p:spPr>
          <a:xfrm>
            <a:off x="457200" y="1783080"/>
            <a:ext cx="3576218" cy="4343400"/>
          </a:xfrm>
          <a:prstGeom prst="roundRect">
            <a:avLst>
              <a:gd name="adj" fmla="val 3068"/>
            </a:avLst>
          </a:prstGeom>
          <a:solidFill>
            <a:srgbClr val="FFFFFF"/>
          </a:solidFill>
          <a:ln w="9525">
            <a:solidFill>
              <a:srgbClr val="D9D9D6"/>
            </a:solidFill>
            <a:prstDash val="solid"/>
          </a:ln>
        </p:spPr>
      </p:sp>
      <p:sp>
        <p:nvSpPr>
          <p:cNvPr id="8" name="Shape 6"/>
          <p:cNvSpPr/>
          <p:nvPr/>
        </p:nvSpPr>
        <p:spPr>
          <a:xfrm>
            <a:off x="731520" y="2011680"/>
            <a:ext cx="457200" cy="457200"/>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822960" y="2103120"/>
            <a:ext cx="274320" cy="274320"/>
          </a:xfrm>
          <a:prstGeom prst="rect">
            <a:avLst/>
          </a:prstGeom>
        </p:spPr>
      </p:pic>
      <p:sp>
        <p:nvSpPr>
          <p:cNvPr id="10" name="Text 7"/>
          <p:cNvSpPr txBox="1"/>
          <p:nvPr/>
        </p:nvSpPr>
        <p:spPr>
          <a:xfrm>
            <a:off x="731520" y="2606040"/>
            <a:ext cx="3027578" cy="1828800"/>
          </a:xfrm>
          <a:prstGeom prst="rect">
            <a:avLst/>
          </a:prstGeom>
          <a:noFill/>
          <a:ln/>
        </p:spPr>
        <p:txBody>
          <a:bodyPr wrap="square" lIns="0" tIns="0" rIns="0" bIns="0" rtlCol="0" anchor="t"/>
          <a:lstStyle/>
          <a:p>
            <a:pPr indent="0" marL="0">
              <a:buNone/>
            </a:pPr>
            <a:r>
              <a:rPr lang="en-US" sz="1600" dirty="0">
                <a:solidFill>
                  <a:srgbClr val="222731"/>
                </a:solidFill>
                <a:latin typeface="Bricolage Grotesque" pitchFamily="34" charset="0"/>
                <a:ea typeface="Bricolage Grotesque" pitchFamily="34" charset="-122"/>
                <a:cs typeface="Bricolage Grotesque" pitchFamily="34" charset="-120"/>
              </a:rPr>
              <a:t>“Labore et dolore magna aliqua ut enim ad minim veniam quis nostrud exercitation ullamco laboris nisi ut aliquip ex ea.”</a:t>
            </a:r>
            <a:endParaRPr lang="en-US" sz="1600" dirty="0"/>
          </a:p>
        </p:txBody>
      </p:sp>
      <p:sp>
        <p:nvSpPr>
          <p:cNvPr id="11" name="Shape 8"/>
          <p:cNvSpPr/>
          <p:nvPr/>
        </p:nvSpPr>
        <p:spPr>
          <a:xfrm>
            <a:off x="731520" y="4572000"/>
            <a:ext cx="3027578" cy="0"/>
          </a:xfrm>
          <a:prstGeom prst="line">
            <a:avLst/>
          </a:prstGeom>
          <a:noFill/>
          <a:ln w="9525">
            <a:solidFill>
              <a:srgbClr val="D9D9D6"/>
            </a:solidFill>
            <a:prstDash val="solid"/>
          </a:ln>
        </p:spPr>
      </p:sp>
      <p:sp>
        <p:nvSpPr>
          <p:cNvPr id="12" name="Text 9"/>
          <p:cNvSpPr txBox="1"/>
          <p:nvPr/>
        </p:nvSpPr>
        <p:spPr>
          <a:xfrm>
            <a:off x="731520" y="4709160"/>
            <a:ext cx="3027578"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Segment A</a:t>
            </a:r>
            <a:endParaRPr lang="en-US" sz="1500" dirty="0"/>
          </a:p>
        </p:txBody>
      </p:sp>
      <p:sp>
        <p:nvSpPr>
          <p:cNvPr id="13" name="Text 10"/>
          <p:cNvSpPr txBox="1"/>
          <p:nvPr/>
        </p:nvSpPr>
        <p:spPr>
          <a:xfrm>
            <a:off x="731520" y="5029200"/>
            <a:ext cx="302757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Age 45–64 · interview · 2025</a:t>
            </a:r>
            <a:endParaRPr lang="en-US" sz="1050" dirty="0"/>
          </a:p>
        </p:txBody>
      </p:sp>
      <p:sp>
        <p:nvSpPr>
          <p:cNvPr id="14" name="Shape 11"/>
          <p:cNvSpPr/>
          <p:nvPr/>
        </p:nvSpPr>
        <p:spPr>
          <a:xfrm>
            <a:off x="731520" y="5440680"/>
            <a:ext cx="3027578" cy="411480"/>
          </a:xfrm>
          <a:prstGeom prst="roundRect">
            <a:avLst>
              <a:gd name="adj" fmla="val 17778"/>
            </a:avLst>
          </a:prstGeom>
          <a:solidFill>
            <a:srgbClr val="ECECEA"/>
          </a:solidFill>
          <a:ln w="9525">
            <a:solidFill>
              <a:srgbClr val="ECECEA"/>
            </a:solidFill>
            <a:prstDash val="solid"/>
          </a:ln>
        </p:spPr>
      </p:sp>
      <p:sp>
        <p:nvSpPr>
          <p:cNvPr id="15" name="Text 12"/>
          <p:cNvSpPr txBox="1"/>
          <p:nvPr/>
        </p:nvSpPr>
        <p:spPr>
          <a:xfrm>
            <a:off x="868680" y="5440680"/>
            <a:ext cx="2753258" cy="411480"/>
          </a:xfrm>
          <a:prstGeom prst="rect">
            <a:avLst/>
          </a:prstGeom>
          <a:noFill/>
          <a:ln/>
        </p:spPr>
        <p:txBody>
          <a:bodyPr wrap="square" lIns="0" tIns="0" rIns="0" bIns="0" rtlCol="0" anchor="ctr"/>
          <a:lstStyle/>
          <a:p>
            <a:pPr indent="0" marL="0">
              <a:buNone/>
            </a:pPr>
            <a:r>
              <a:rPr lang="en-US" sz="1100" b="1" dirty="0">
                <a:solidFill>
                  <a:srgbClr val="004F71"/>
                </a:solidFill>
                <a:latin typeface="Hanken Grotesk" pitchFamily="34" charset="0"/>
                <a:ea typeface="Hanken Grotesk" pitchFamily="34" charset="-122"/>
                <a:cs typeface="Hanken Grotesk" pitchFamily="34" charset="-120"/>
              </a:rPr>
              <a:t>Theme: Non proident sunt</a:t>
            </a:r>
            <a:endParaRPr lang="en-US" sz="1100" dirty="0"/>
          </a:p>
        </p:txBody>
      </p:sp>
      <p:sp>
        <p:nvSpPr>
          <p:cNvPr id="16" name="Shape 13"/>
          <p:cNvSpPr/>
          <p:nvPr/>
        </p:nvSpPr>
        <p:spPr>
          <a:xfrm>
            <a:off x="4307738" y="1783080"/>
            <a:ext cx="3576218" cy="4343400"/>
          </a:xfrm>
          <a:prstGeom prst="roundRect">
            <a:avLst>
              <a:gd name="adj" fmla="val 3068"/>
            </a:avLst>
          </a:prstGeom>
          <a:solidFill>
            <a:srgbClr val="FFFFFF"/>
          </a:solidFill>
          <a:ln w="9525">
            <a:solidFill>
              <a:srgbClr val="D9D9D6"/>
            </a:solidFill>
            <a:prstDash val="solid"/>
          </a:ln>
        </p:spPr>
      </p:sp>
      <p:sp>
        <p:nvSpPr>
          <p:cNvPr id="17" name="Shape 14"/>
          <p:cNvSpPr/>
          <p:nvPr/>
        </p:nvSpPr>
        <p:spPr>
          <a:xfrm>
            <a:off x="4582058" y="2011680"/>
            <a:ext cx="457200" cy="457200"/>
          </a:xfrm>
          <a:prstGeom prst="roundRect">
            <a:avLst>
              <a:gd name="adj" fmla="val 30000"/>
            </a:avLst>
          </a:prstGeom>
          <a:solidFill>
            <a:srgbClr val="E5F5FC"/>
          </a:solidFill>
          <a:ln w="9525">
            <a:solidFill>
              <a:srgbClr val="E5F5FC"/>
            </a:solidFill>
            <a:prstDash val="solid"/>
          </a:ln>
        </p:spPr>
      </p:sp>
      <p:pic>
        <p:nvPicPr>
          <p:cNvPr id="18" name="Image 1" descr="preencoded.png">    </p:cNvPr>
          <p:cNvPicPr>
            <a:picLocks noChangeAspect="1"/>
          </p:cNvPicPr>
          <p:nvPr/>
        </p:nvPicPr>
        <p:blipFill>
          <a:blip r:embed="rId2"/>
          <a:stretch>
            <a:fillRect/>
          </a:stretch>
        </p:blipFill>
        <p:spPr>
          <a:xfrm>
            <a:off x="4673498" y="2103120"/>
            <a:ext cx="274320" cy="274320"/>
          </a:xfrm>
          <a:prstGeom prst="rect">
            <a:avLst/>
          </a:prstGeom>
        </p:spPr>
      </p:pic>
      <p:sp>
        <p:nvSpPr>
          <p:cNvPr id="19" name="Text 15"/>
          <p:cNvSpPr txBox="1"/>
          <p:nvPr/>
        </p:nvSpPr>
        <p:spPr>
          <a:xfrm>
            <a:off x="4582058" y="2606040"/>
            <a:ext cx="3027578" cy="1828800"/>
          </a:xfrm>
          <a:prstGeom prst="rect">
            <a:avLst/>
          </a:prstGeom>
          <a:noFill/>
          <a:ln/>
        </p:spPr>
        <p:txBody>
          <a:bodyPr wrap="square" lIns="0" tIns="0" rIns="0" bIns="0" rtlCol="0" anchor="t"/>
          <a:lstStyle/>
          <a:p>
            <a:pPr indent="0" marL="0">
              <a:buNone/>
            </a:pPr>
            <a:r>
              <a:rPr lang="en-US" sz="1600" dirty="0">
                <a:solidFill>
                  <a:srgbClr val="222731"/>
                </a:solidFill>
                <a:latin typeface="Bricolage Grotesque" pitchFamily="34" charset="0"/>
                <a:ea typeface="Bricolage Grotesque" pitchFamily="34" charset="-122"/>
                <a:cs typeface="Bricolage Grotesque" pitchFamily="34" charset="-120"/>
              </a:rPr>
              <a:t>“Non proident sunt in culpa qui officia deserunt mollit anim id est laborum curabitur pretium tincidunt lacus nulla gravida orci.”</a:t>
            </a:r>
            <a:endParaRPr lang="en-US" sz="1600" dirty="0"/>
          </a:p>
        </p:txBody>
      </p:sp>
      <p:sp>
        <p:nvSpPr>
          <p:cNvPr id="20" name="Shape 16"/>
          <p:cNvSpPr/>
          <p:nvPr/>
        </p:nvSpPr>
        <p:spPr>
          <a:xfrm>
            <a:off x="4582058" y="4572000"/>
            <a:ext cx="3027578" cy="0"/>
          </a:xfrm>
          <a:prstGeom prst="line">
            <a:avLst/>
          </a:prstGeom>
          <a:noFill/>
          <a:ln w="9525">
            <a:solidFill>
              <a:srgbClr val="D9D9D6"/>
            </a:solidFill>
            <a:prstDash val="solid"/>
          </a:ln>
        </p:spPr>
      </p:sp>
      <p:sp>
        <p:nvSpPr>
          <p:cNvPr id="21" name="Text 17"/>
          <p:cNvSpPr txBox="1"/>
          <p:nvPr/>
        </p:nvSpPr>
        <p:spPr>
          <a:xfrm>
            <a:off x="4582058" y="4709160"/>
            <a:ext cx="3027578"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Segment B</a:t>
            </a:r>
            <a:endParaRPr lang="en-US" sz="1500" dirty="0"/>
          </a:p>
        </p:txBody>
      </p:sp>
      <p:sp>
        <p:nvSpPr>
          <p:cNvPr id="22" name="Text 18"/>
          <p:cNvSpPr txBox="1"/>
          <p:nvPr/>
        </p:nvSpPr>
        <p:spPr>
          <a:xfrm>
            <a:off x="4582058" y="5029200"/>
            <a:ext cx="302757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Age 45–64 · interview · 2026</a:t>
            </a:r>
            <a:endParaRPr lang="en-US" sz="1050" dirty="0"/>
          </a:p>
        </p:txBody>
      </p:sp>
      <p:sp>
        <p:nvSpPr>
          <p:cNvPr id="23" name="Shape 19"/>
          <p:cNvSpPr/>
          <p:nvPr/>
        </p:nvSpPr>
        <p:spPr>
          <a:xfrm>
            <a:off x="4582058" y="5440680"/>
            <a:ext cx="3027578" cy="411480"/>
          </a:xfrm>
          <a:prstGeom prst="roundRect">
            <a:avLst>
              <a:gd name="adj" fmla="val 17778"/>
            </a:avLst>
          </a:prstGeom>
          <a:solidFill>
            <a:srgbClr val="ECECEA"/>
          </a:solidFill>
          <a:ln w="9525">
            <a:solidFill>
              <a:srgbClr val="ECECEA"/>
            </a:solidFill>
            <a:prstDash val="solid"/>
          </a:ln>
        </p:spPr>
      </p:sp>
      <p:sp>
        <p:nvSpPr>
          <p:cNvPr id="24" name="Text 20"/>
          <p:cNvSpPr txBox="1"/>
          <p:nvPr/>
        </p:nvSpPr>
        <p:spPr>
          <a:xfrm>
            <a:off x="4719218" y="5440680"/>
            <a:ext cx="2753258" cy="411480"/>
          </a:xfrm>
          <a:prstGeom prst="rect">
            <a:avLst/>
          </a:prstGeom>
          <a:noFill/>
          <a:ln/>
        </p:spPr>
        <p:txBody>
          <a:bodyPr wrap="square" lIns="0" tIns="0" rIns="0" bIns="0" rtlCol="0" anchor="ctr"/>
          <a:lstStyle/>
          <a:p>
            <a:pPr indent="0" marL="0">
              <a:buNone/>
            </a:pPr>
            <a:r>
              <a:rPr lang="en-US" sz="1100" b="1" dirty="0">
                <a:solidFill>
                  <a:srgbClr val="004F71"/>
                </a:solidFill>
                <a:latin typeface="Hanken Grotesk" pitchFamily="34" charset="0"/>
                <a:ea typeface="Hanken Grotesk" pitchFamily="34" charset="-122"/>
                <a:cs typeface="Hanken Grotesk" pitchFamily="34" charset="-120"/>
              </a:rPr>
              <a:t>Theme: Felis sollicitudin mauris</a:t>
            </a:r>
            <a:endParaRPr lang="en-US" sz="1100" dirty="0"/>
          </a:p>
        </p:txBody>
      </p:sp>
      <p:sp>
        <p:nvSpPr>
          <p:cNvPr id="25" name="Shape 21"/>
          <p:cNvSpPr/>
          <p:nvPr/>
        </p:nvSpPr>
        <p:spPr>
          <a:xfrm>
            <a:off x="8158277" y="1783080"/>
            <a:ext cx="3576218" cy="4343400"/>
          </a:xfrm>
          <a:prstGeom prst="roundRect">
            <a:avLst>
              <a:gd name="adj" fmla="val 3068"/>
            </a:avLst>
          </a:prstGeom>
          <a:solidFill>
            <a:srgbClr val="FFFFFF"/>
          </a:solidFill>
          <a:ln w="9525">
            <a:solidFill>
              <a:srgbClr val="D9D9D6"/>
            </a:solidFill>
            <a:prstDash val="solid"/>
          </a:ln>
        </p:spPr>
      </p:sp>
      <p:sp>
        <p:nvSpPr>
          <p:cNvPr id="26" name="Shape 22"/>
          <p:cNvSpPr/>
          <p:nvPr/>
        </p:nvSpPr>
        <p:spPr>
          <a:xfrm>
            <a:off x="8432597" y="2011680"/>
            <a:ext cx="457200" cy="457200"/>
          </a:xfrm>
          <a:prstGeom prst="roundRect">
            <a:avLst>
              <a:gd name="adj" fmla="val 30000"/>
            </a:avLst>
          </a:prstGeom>
          <a:solidFill>
            <a:srgbClr val="E5F5FC"/>
          </a:solidFill>
          <a:ln w="9525">
            <a:solidFill>
              <a:srgbClr val="E5F5FC"/>
            </a:solidFill>
            <a:prstDash val="solid"/>
          </a:ln>
        </p:spPr>
      </p:sp>
      <p:pic>
        <p:nvPicPr>
          <p:cNvPr id="27" name="Image 2" descr="preencoded.png">    </p:cNvPr>
          <p:cNvPicPr>
            <a:picLocks noChangeAspect="1"/>
          </p:cNvPicPr>
          <p:nvPr/>
        </p:nvPicPr>
        <p:blipFill>
          <a:blip r:embed="rId3"/>
          <a:stretch>
            <a:fillRect/>
          </a:stretch>
        </p:blipFill>
        <p:spPr>
          <a:xfrm>
            <a:off x="8524037" y="2103120"/>
            <a:ext cx="274320" cy="274320"/>
          </a:xfrm>
          <a:prstGeom prst="rect">
            <a:avLst/>
          </a:prstGeom>
        </p:spPr>
      </p:pic>
      <p:sp>
        <p:nvSpPr>
          <p:cNvPr id="28" name="Text 23"/>
          <p:cNvSpPr txBox="1"/>
          <p:nvPr/>
        </p:nvSpPr>
        <p:spPr>
          <a:xfrm>
            <a:off x="8432597" y="2606040"/>
            <a:ext cx="3027578" cy="1828800"/>
          </a:xfrm>
          <a:prstGeom prst="rect">
            <a:avLst/>
          </a:prstGeom>
          <a:noFill/>
          <a:ln/>
        </p:spPr>
        <p:txBody>
          <a:bodyPr wrap="square" lIns="0" tIns="0" rIns="0" bIns="0" rtlCol="0" anchor="t"/>
          <a:lstStyle/>
          <a:p>
            <a:pPr indent="0" marL="0">
              <a:buNone/>
            </a:pPr>
            <a:r>
              <a:rPr lang="en-US" sz="1600" dirty="0">
                <a:solidFill>
                  <a:srgbClr val="222731"/>
                </a:solidFill>
                <a:latin typeface="Bricolage Grotesque" pitchFamily="34" charset="0"/>
                <a:ea typeface="Bricolage Grotesque" pitchFamily="34" charset="-122"/>
                <a:cs typeface="Bricolage Grotesque" pitchFamily="34" charset="-120"/>
              </a:rPr>
              <a:t>“Nibh euismod gravida lorem ipsum dolor sit amet consectetur adipiscing elit sed do eiusmod tempor incididunt ut labore et dolore.”</a:t>
            </a:r>
            <a:endParaRPr lang="en-US" sz="1600" dirty="0"/>
          </a:p>
        </p:txBody>
      </p:sp>
      <p:sp>
        <p:nvSpPr>
          <p:cNvPr id="29" name="Shape 24"/>
          <p:cNvSpPr/>
          <p:nvPr/>
        </p:nvSpPr>
        <p:spPr>
          <a:xfrm>
            <a:off x="8432597" y="4572000"/>
            <a:ext cx="3027578" cy="0"/>
          </a:xfrm>
          <a:prstGeom prst="line">
            <a:avLst/>
          </a:prstGeom>
          <a:noFill/>
          <a:ln w="9525">
            <a:solidFill>
              <a:srgbClr val="D9D9D6"/>
            </a:solidFill>
            <a:prstDash val="solid"/>
          </a:ln>
        </p:spPr>
      </p:sp>
      <p:sp>
        <p:nvSpPr>
          <p:cNvPr id="30" name="Text 25"/>
          <p:cNvSpPr txBox="1"/>
          <p:nvPr/>
        </p:nvSpPr>
        <p:spPr>
          <a:xfrm>
            <a:off x="8432597" y="4709160"/>
            <a:ext cx="3027578"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Segment C</a:t>
            </a:r>
            <a:endParaRPr lang="en-US" sz="1500" dirty="0"/>
          </a:p>
        </p:txBody>
      </p:sp>
      <p:sp>
        <p:nvSpPr>
          <p:cNvPr id="31" name="Text 26"/>
          <p:cNvSpPr txBox="1"/>
          <p:nvPr/>
        </p:nvSpPr>
        <p:spPr>
          <a:xfrm>
            <a:off x="8432597" y="5029200"/>
            <a:ext cx="302757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Age 45–64 · interview · 2026</a:t>
            </a:r>
            <a:endParaRPr lang="en-US" sz="1050" dirty="0"/>
          </a:p>
        </p:txBody>
      </p:sp>
      <p:sp>
        <p:nvSpPr>
          <p:cNvPr id="32" name="Shape 27"/>
          <p:cNvSpPr/>
          <p:nvPr/>
        </p:nvSpPr>
        <p:spPr>
          <a:xfrm>
            <a:off x="8432597" y="5440680"/>
            <a:ext cx="3027578" cy="411480"/>
          </a:xfrm>
          <a:prstGeom prst="roundRect">
            <a:avLst>
              <a:gd name="adj" fmla="val 17778"/>
            </a:avLst>
          </a:prstGeom>
          <a:solidFill>
            <a:srgbClr val="ECECEA"/>
          </a:solidFill>
          <a:ln w="9525">
            <a:solidFill>
              <a:srgbClr val="ECECEA"/>
            </a:solidFill>
            <a:prstDash val="solid"/>
          </a:ln>
        </p:spPr>
      </p:sp>
      <p:sp>
        <p:nvSpPr>
          <p:cNvPr id="33" name="Text 28"/>
          <p:cNvSpPr txBox="1"/>
          <p:nvPr/>
        </p:nvSpPr>
        <p:spPr>
          <a:xfrm>
            <a:off x="8569757" y="5440680"/>
            <a:ext cx="2753258" cy="411480"/>
          </a:xfrm>
          <a:prstGeom prst="rect">
            <a:avLst/>
          </a:prstGeom>
          <a:noFill/>
          <a:ln/>
        </p:spPr>
        <p:txBody>
          <a:bodyPr wrap="square" lIns="0" tIns="0" rIns="0" bIns="0" rtlCol="0" anchor="ctr"/>
          <a:lstStyle/>
          <a:p>
            <a:pPr indent="0" marL="0">
              <a:buNone/>
            </a:pPr>
            <a:r>
              <a:rPr lang="en-US" sz="1100" b="1" dirty="0">
                <a:solidFill>
                  <a:srgbClr val="004F71"/>
                </a:solidFill>
                <a:latin typeface="Hanken Grotesk" pitchFamily="34" charset="0"/>
                <a:ea typeface="Hanken Grotesk" pitchFamily="34" charset="-122"/>
                <a:cs typeface="Hanken Grotesk" pitchFamily="34" charset="-120"/>
              </a:rPr>
              <a:t>Theme: Nostrud exercitation ullamco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CONCEPT</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Felis sollicitudin mauris integer in mauris eu nibh euismod gravida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SLD-DEVICE-HERO-01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07 / 13</a:t>
            </a:r>
            <a:endParaRPr lang="en-US" sz="1050" dirty="0"/>
          </a:p>
        </p:txBody>
      </p:sp>
      <p:sp>
        <p:nvSpPr>
          <p:cNvPr id="7" name="Shape 5"/>
          <p:cNvSpPr/>
          <p:nvPr/>
        </p:nvSpPr>
        <p:spPr>
          <a:xfrm>
            <a:off x="9539935" y="384048"/>
            <a:ext cx="2194560" cy="329184"/>
          </a:xfrm>
          <a:prstGeom prst="roundRect">
            <a:avLst>
              <a:gd name="adj" fmla="val 22222"/>
            </a:avLst>
          </a:prstGeom>
          <a:solidFill>
            <a:srgbClr val="64CCC9"/>
          </a:solidFill>
          <a:ln w="9525">
            <a:solidFill>
              <a:srgbClr val="64CCC9"/>
            </a:solidFill>
            <a:prstDash val="solid"/>
          </a:ln>
        </p:spPr>
      </p:sp>
      <p:sp>
        <p:nvSpPr>
          <p:cNvPr id="8" name="Text 6"/>
          <p:cNvSpPr txBox="1"/>
          <p:nvPr/>
        </p:nvSpPr>
        <p:spPr>
          <a:xfrm>
            <a:off x="9539935" y="384048"/>
            <a:ext cx="2194560" cy="329184"/>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[Concept name]</a:t>
            </a:r>
            <a:endParaRPr lang="en-US" sz="1050" dirty="0"/>
          </a:p>
        </p:txBody>
      </p:sp>
      <p:sp>
        <p:nvSpPr>
          <p:cNvPr id="9" name="Shape 7"/>
          <p:cNvSpPr/>
          <p:nvPr/>
        </p:nvSpPr>
        <p:spPr>
          <a:xfrm>
            <a:off x="1301198" y="1790313"/>
            <a:ext cx="2041579" cy="4328482"/>
          </a:xfrm>
          <a:prstGeom prst="roundRect">
            <a:avLst>
              <a:gd name="adj" fmla="val 13437"/>
            </a:avLst>
          </a:prstGeom>
          <a:solidFill>
            <a:srgbClr val="ECECEA"/>
          </a:solidFill>
          <a:ln w="9525">
            <a:solidFill>
              <a:srgbClr val="ECECEA"/>
            </a:solidFill>
            <a:prstDash val="solid"/>
          </a:ln>
        </p:spPr>
      </p:sp>
      <p:sp>
        <p:nvSpPr>
          <p:cNvPr id="10" name="Text 8"/>
          <p:cNvSpPr txBox="1"/>
          <p:nvPr/>
        </p:nvSpPr>
        <p:spPr>
          <a:xfrm>
            <a:off x="1392638" y="3680234"/>
            <a:ext cx="1858699"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Product screen</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1" name="Image 0" descr="preencoded.png">    </p:cNvPr>
          <p:cNvPicPr>
            <a:picLocks noChangeAspect="1"/>
          </p:cNvPicPr>
          <p:nvPr/>
        </p:nvPicPr>
        <p:blipFill>
          <a:blip r:embed="rId1"/>
          <a:stretch>
            <a:fillRect/>
          </a:stretch>
        </p:blipFill>
        <p:spPr>
          <a:xfrm>
            <a:off x="1188720" y="1691640"/>
            <a:ext cx="2263140" cy="4526280"/>
          </a:xfrm>
          <a:prstGeom prst="rect">
            <a:avLst/>
          </a:prstGeom>
        </p:spPr>
      </p:pic>
      <p:sp>
        <p:nvSpPr>
          <p:cNvPr id="12" name="Shape 9"/>
          <p:cNvSpPr/>
          <p:nvPr/>
        </p:nvSpPr>
        <p:spPr>
          <a:xfrm>
            <a:off x="4549140" y="2011680"/>
            <a:ext cx="329184" cy="329184"/>
          </a:xfrm>
          <a:prstGeom prst="ellipse">
            <a:avLst/>
          </a:prstGeom>
          <a:solidFill>
            <a:srgbClr val="004F71"/>
          </a:solidFill>
          <a:ln w="12700">
            <a:solidFill>
              <a:srgbClr val="004F71"/>
            </a:solidFill>
            <a:prstDash val="solid"/>
          </a:ln>
        </p:spPr>
      </p:sp>
      <p:sp>
        <p:nvSpPr>
          <p:cNvPr id="13" name="Text 10"/>
          <p:cNvSpPr txBox="1"/>
          <p:nvPr/>
        </p:nvSpPr>
        <p:spPr>
          <a:xfrm>
            <a:off x="4549140" y="201168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1</a:t>
            </a:r>
            <a:endParaRPr lang="en-US" sz="1050" dirty="0"/>
          </a:p>
        </p:txBody>
      </p:sp>
      <p:sp>
        <p:nvSpPr>
          <p:cNvPr id="14" name="Text 11"/>
          <p:cNvSpPr txBox="1"/>
          <p:nvPr/>
        </p:nvSpPr>
        <p:spPr>
          <a:xfrm>
            <a:off x="5024628" y="1993392"/>
            <a:ext cx="6709867"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Ad minim veniam quis</a:t>
            </a:r>
            <a:endParaRPr lang="en-US" sz="1500" dirty="0"/>
          </a:p>
        </p:txBody>
      </p:sp>
      <p:sp>
        <p:nvSpPr>
          <p:cNvPr id="15" name="Text 12"/>
          <p:cNvSpPr txBox="1"/>
          <p:nvPr/>
        </p:nvSpPr>
        <p:spPr>
          <a:xfrm>
            <a:off x="5024628" y="2322576"/>
            <a:ext cx="6709867" cy="685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Consequat duis aute irure dolor in reprehenderit in voluptate velit esse cillum dolore eu fugiat nulla.</a:t>
            </a:r>
            <a:endParaRPr lang="en-US" sz="1350" dirty="0"/>
          </a:p>
        </p:txBody>
      </p:sp>
      <p:sp>
        <p:nvSpPr>
          <p:cNvPr id="16" name="Shape 13"/>
          <p:cNvSpPr/>
          <p:nvPr/>
        </p:nvSpPr>
        <p:spPr>
          <a:xfrm>
            <a:off x="4549140" y="3383280"/>
            <a:ext cx="329184" cy="329184"/>
          </a:xfrm>
          <a:prstGeom prst="ellipse">
            <a:avLst/>
          </a:prstGeom>
          <a:solidFill>
            <a:srgbClr val="004F71"/>
          </a:solidFill>
          <a:ln w="12700">
            <a:solidFill>
              <a:srgbClr val="004F71"/>
            </a:solidFill>
            <a:prstDash val="solid"/>
          </a:ln>
        </p:spPr>
      </p:sp>
      <p:sp>
        <p:nvSpPr>
          <p:cNvPr id="17" name="Text 14"/>
          <p:cNvSpPr txBox="1"/>
          <p:nvPr/>
        </p:nvSpPr>
        <p:spPr>
          <a:xfrm>
            <a:off x="4549140" y="338328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2</a:t>
            </a:r>
            <a:endParaRPr lang="en-US" sz="1050" dirty="0"/>
          </a:p>
        </p:txBody>
      </p:sp>
      <p:sp>
        <p:nvSpPr>
          <p:cNvPr id="18" name="Text 15"/>
          <p:cNvSpPr txBox="1"/>
          <p:nvPr/>
        </p:nvSpPr>
        <p:spPr>
          <a:xfrm>
            <a:off x="5024628" y="3364992"/>
            <a:ext cx="6709867"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Non proident sunt in</a:t>
            </a:r>
            <a:endParaRPr lang="en-US" sz="1500" dirty="0"/>
          </a:p>
        </p:txBody>
      </p:sp>
      <p:sp>
        <p:nvSpPr>
          <p:cNvPr id="19" name="Text 16"/>
          <p:cNvSpPr txBox="1"/>
          <p:nvPr/>
        </p:nvSpPr>
        <p:spPr>
          <a:xfrm>
            <a:off x="5024628" y="3694176"/>
            <a:ext cx="6709867" cy="685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Odio nullam varius turpis et commodo pharetra est eros bibendum elit nec luctus magna felis sollicitudin.</a:t>
            </a:r>
            <a:endParaRPr lang="en-US" sz="1350" dirty="0"/>
          </a:p>
        </p:txBody>
      </p:sp>
      <p:sp>
        <p:nvSpPr>
          <p:cNvPr id="20" name="Shape 17"/>
          <p:cNvSpPr/>
          <p:nvPr/>
        </p:nvSpPr>
        <p:spPr>
          <a:xfrm>
            <a:off x="4549140" y="4754880"/>
            <a:ext cx="329184" cy="329184"/>
          </a:xfrm>
          <a:prstGeom prst="ellipse">
            <a:avLst/>
          </a:prstGeom>
          <a:solidFill>
            <a:srgbClr val="004F71"/>
          </a:solidFill>
          <a:ln w="12700">
            <a:solidFill>
              <a:srgbClr val="004F71"/>
            </a:solidFill>
            <a:prstDash val="solid"/>
          </a:ln>
        </p:spPr>
      </p:sp>
      <p:sp>
        <p:nvSpPr>
          <p:cNvPr id="21" name="Text 18"/>
          <p:cNvSpPr txBox="1"/>
          <p:nvPr/>
        </p:nvSpPr>
        <p:spPr>
          <a:xfrm>
            <a:off x="4549140" y="475488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3</a:t>
            </a:r>
            <a:endParaRPr lang="en-US" sz="1050" dirty="0"/>
          </a:p>
        </p:txBody>
      </p:sp>
      <p:sp>
        <p:nvSpPr>
          <p:cNvPr id="22" name="Text 19"/>
          <p:cNvSpPr txBox="1"/>
          <p:nvPr/>
        </p:nvSpPr>
        <p:spPr>
          <a:xfrm>
            <a:off x="5024628" y="4736592"/>
            <a:ext cx="6709867"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Felis sollicitudin mauris integer</a:t>
            </a:r>
            <a:endParaRPr lang="en-US" sz="1500" dirty="0"/>
          </a:p>
        </p:txBody>
      </p:sp>
      <p:sp>
        <p:nvSpPr>
          <p:cNvPr id="23" name="Text 20"/>
          <p:cNvSpPr txBox="1"/>
          <p:nvPr/>
        </p:nvSpPr>
        <p:spPr>
          <a:xfrm>
            <a:off x="5024628" y="5065776"/>
            <a:ext cx="6709867" cy="685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Aliqua ut enim ad minim veniam quis nostrud exercitation ullamco laboris nisi ut aliquip ex ea.</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EXPERIENCE / JOURNEY</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Tempor incididunt ut labore et dolore magna aliqua ut enim ad</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SLD-JOURNEY-01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08 / 13</a:t>
            </a:r>
            <a:endParaRPr lang="en-US" sz="1050" dirty="0"/>
          </a:p>
        </p:txBody>
      </p:sp>
      <p:sp>
        <p:nvSpPr>
          <p:cNvPr id="7" name="Shape 5"/>
          <p:cNvSpPr/>
          <p:nvPr/>
        </p:nvSpPr>
        <p:spPr>
          <a:xfrm>
            <a:off x="1965960" y="1645920"/>
            <a:ext cx="1865925" cy="548640"/>
          </a:xfrm>
          <a:prstGeom prst="roundRect">
            <a:avLst>
              <a:gd name="adj" fmla="val 13333"/>
            </a:avLst>
          </a:prstGeom>
          <a:solidFill>
            <a:srgbClr val="004F71"/>
          </a:solidFill>
          <a:ln w="9525">
            <a:solidFill>
              <a:srgbClr val="004F71"/>
            </a:solidFill>
            <a:prstDash val="solid"/>
          </a:ln>
        </p:spPr>
      </p:sp>
      <p:sp>
        <p:nvSpPr>
          <p:cNvPr id="8" name="Text 6"/>
          <p:cNvSpPr txBox="1"/>
          <p:nvPr/>
        </p:nvSpPr>
        <p:spPr>
          <a:xfrm>
            <a:off x="2093976" y="1645920"/>
            <a:ext cx="1683045" cy="548640"/>
          </a:xfrm>
          <a:prstGeom prst="rect">
            <a:avLst/>
          </a:prstGeom>
          <a:noFill/>
          <a:ln/>
        </p:spPr>
        <p:txBody>
          <a:bodyPr wrap="square" lIns="0" tIns="0" rIns="0" bIns="0" rtlCol="0" anchor="ctr"/>
          <a:lstStyle/>
          <a:p>
            <a:pPr indent="0" marL="0">
              <a:buNone/>
            </a:pPr>
            <a:r>
              <a:rPr lang="en-US" sz="1150" b="1" dirty="0">
                <a:solidFill>
                  <a:srgbClr val="FFFFFF"/>
                </a:solidFill>
                <a:latin typeface="Hanken Grotesk" pitchFamily="34" charset="0"/>
                <a:ea typeface="Hanken Grotesk" pitchFamily="34" charset="-122"/>
                <a:cs typeface="Hanken Grotesk" pitchFamily="34" charset="-120"/>
              </a:rPr>
              <a:t>Stage 1 · Ad minim</a:t>
            </a:r>
            <a:endParaRPr lang="en-US" sz="1150" dirty="0"/>
          </a:p>
          <a:p>
            <a:pPr indent="0" marL="0">
              <a:buNone/>
            </a:pPr>
            <a:r>
              <a:rPr lang="en-US" sz="1050" dirty="0">
                <a:solidFill>
                  <a:srgbClr val="CCEBF8"/>
                </a:solidFill>
                <a:latin typeface="Hanken Grotesk" pitchFamily="34" charset="0"/>
                <a:ea typeface="Hanken Grotesk" pitchFamily="34" charset="-122"/>
                <a:cs typeface="Hanken Grotesk" pitchFamily="34" charset="-120"/>
              </a:rPr>
              <a:t>T–45 days</a:t>
            </a:r>
            <a:endParaRPr lang="en-US" sz="1150" dirty="0"/>
          </a:p>
        </p:txBody>
      </p:sp>
      <p:sp>
        <p:nvSpPr>
          <p:cNvPr id="9" name="Shape 7"/>
          <p:cNvSpPr/>
          <p:nvPr/>
        </p:nvSpPr>
        <p:spPr>
          <a:xfrm>
            <a:off x="3941613" y="1645920"/>
            <a:ext cx="1865925" cy="548640"/>
          </a:xfrm>
          <a:prstGeom prst="roundRect">
            <a:avLst>
              <a:gd name="adj" fmla="val 13333"/>
            </a:avLst>
          </a:prstGeom>
          <a:solidFill>
            <a:srgbClr val="004F71"/>
          </a:solidFill>
          <a:ln w="9525">
            <a:solidFill>
              <a:srgbClr val="004F71"/>
            </a:solidFill>
            <a:prstDash val="solid"/>
          </a:ln>
        </p:spPr>
      </p:sp>
      <p:sp>
        <p:nvSpPr>
          <p:cNvPr id="10" name="Text 8"/>
          <p:cNvSpPr txBox="1"/>
          <p:nvPr/>
        </p:nvSpPr>
        <p:spPr>
          <a:xfrm>
            <a:off x="4069629" y="1645920"/>
            <a:ext cx="1683045" cy="548640"/>
          </a:xfrm>
          <a:prstGeom prst="rect">
            <a:avLst/>
          </a:prstGeom>
          <a:noFill/>
          <a:ln/>
        </p:spPr>
        <p:txBody>
          <a:bodyPr wrap="square" lIns="0" tIns="0" rIns="0" bIns="0" rtlCol="0" anchor="ctr"/>
          <a:lstStyle/>
          <a:p>
            <a:pPr indent="0" marL="0">
              <a:buNone/>
            </a:pPr>
            <a:r>
              <a:rPr lang="en-US" sz="1150" b="1" dirty="0">
                <a:solidFill>
                  <a:srgbClr val="FFFFFF"/>
                </a:solidFill>
                <a:latin typeface="Hanken Grotesk" pitchFamily="34" charset="0"/>
                <a:ea typeface="Hanken Grotesk" pitchFamily="34" charset="-122"/>
                <a:cs typeface="Hanken Grotesk" pitchFamily="34" charset="-120"/>
              </a:rPr>
              <a:t>Stage 2 · Laboris nisi</a:t>
            </a:r>
            <a:endParaRPr lang="en-US" sz="1150" dirty="0"/>
          </a:p>
          <a:p>
            <a:pPr indent="0" marL="0">
              <a:buNone/>
            </a:pPr>
            <a:r>
              <a:rPr lang="en-US" sz="1050" dirty="0">
                <a:solidFill>
                  <a:srgbClr val="CCEBF8"/>
                </a:solidFill>
                <a:latin typeface="Hanken Grotesk" pitchFamily="34" charset="0"/>
                <a:ea typeface="Hanken Grotesk" pitchFamily="34" charset="-122"/>
                <a:cs typeface="Hanken Grotesk" pitchFamily="34" charset="-120"/>
              </a:rPr>
              <a:t>T–30 days</a:t>
            </a:r>
            <a:endParaRPr lang="en-US" sz="1150" dirty="0"/>
          </a:p>
        </p:txBody>
      </p:sp>
      <p:sp>
        <p:nvSpPr>
          <p:cNvPr id="11" name="Shape 9"/>
          <p:cNvSpPr/>
          <p:nvPr/>
        </p:nvSpPr>
        <p:spPr>
          <a:xfrm>
            <a:off x="5917265" y="1645920"/>
            <a:ext cx="1865925" cy="548640"/>
          </a:xfrm>
          <a:prstGeom prst="roundRect">
            <a:avLst>
              <a:gd name="adj" fmla="val 13333"/>
            </a:avLst>
          </a:prstGeom>
          <a:solidFill>
            <a:srgbClr val="004F71"/>
          </a:solidFill>
          <a:ln w="9525">
            <a:solidFill>
              <a:srgbClr val="004F71"/>
            </a:solidFill>
            <a:prstDash val="solid"/>
          </a:ln>
        </p:spPr>
      </p:sp>
      <p:sp>
        <p:nvSpPr>
          <p:cNvPr id="12" name="Text 10"/>
          <p:cNvSpPr txBox="1"/>
          <p:nvPr/>
        </p:nvSpPr>
        <p:spPr>
          <a:xfrm>
            <a:off x="6045281" y="1645920"/>
            <a:ext cx="1683045" cy="548640"/>
          </a:xfrm>
          <a:prstGeom prst="rect">
            <a:avLst/>
          </a:prstGeom>
          <a:noFill/>
          <a:ln/>
        </p:spPr>
        <p:txBody>
          <a:bodyPr wrap="square" lIns="0" tIns="0" rIns="0" bIns="0" rtlCol="0" anchor="ctr"/>
          <a:lstStyle/>
          <a:p>
            <a:pPr indent="0" marL="0">
              <a:buNone/>
            </a:pPr>
            <a:r>
              <a:rPr lang="en-US" sz="1150" b="1" dirty="0">
                <a:solidFill>
                  <a:srgbClr val="FFFFFF"/>
                </a:solidFill>
                <a:latin typeface="Hanken Grotesk" pitchFamily="34" charset="0"/>
                <a:ea typeface="Hanken Grotesk" pitchFamily="34" charset="-122"/>
                <a:cs typeface="Hanken Grotesk" pitchFamily="34" charset="-120"/>
              </a:rPr>
              <a:t>Stage 3 · Consequat duis</a:t>
            </a:r>
            <a:endParaRPr lang="en-US" sz="1150" dirty="0"/>
          </a:p>
          <a:p>
            <a:pPr indent="0" marL="0">
              <a:buNone/>
            </a:pPr>
            <a:r>
              <a:rPr lang="en-US" sz="1050" dirty="0">
                <a:solidFill>
                  <a:srgbClr val="CCEBF8"/>
                </a:solidFill>
                <a:latin typeface="Hanken Grotesk" pitchFamily="34" charset="0"/>
                <a:ea typeface="Hanken Grotesk" pitchFamily="34" charset="-122"/>
                <a:cs typeface="Hanken Grotesk" pitchFamily="34" charset="-120"/>
              </a:rPr>
              <a:t>T–0</a:t>
            </a:r>
            <a:endParaRPr lang="en-US" sz="1150" dirty="0"/>
          </a:p>
        </p:txBody>
      </p:sp>
      <p:sp>
        <p:nvSpPr>
          <p:cNvPr id="13" name="Shape 11"/>
          <p:cNvSpPr/>
          <p:nvPr/>
        </p:nvSpPr>
        <p:spPr>
          <a:xfrm>
            <a:off x="7892918" y="1645920"/>
            <a:ext cx="1865925" cy="548640"/>
          </a:xfrm>
          <a:prstGeom prst="roundRect">
            <a:avLst>
              <a:gd name="adj" fmla="val 13333"/>
            </a:avLst>
          </a:prstGeom>
          <a:solidFill>
            <a:srgbClr val="004F71"/>
          </a:solidFill>
          <a:ln w="9525">
            <a:solidFill>
              <a:srgbClr val="004F71"/>
            </a:solidFill>
            <a:prstDash val="solid"/>
          </a:ln>
        </p:spPr>
      </p:sp>
      <p:sp>
        <p:nvSpPr>
          <p:cNvPr id="14" name="Text 12"/>
          <p:cNvSpPr txBox="1"/>
          <p:nvPr/>
        </p:nvSpPr>
        <p:spPr>
          <a:xfrm>
            <a:off x="8020934" y="1645920"/>
            <a:ext cx="1683045" cy="548640"/>
          </a:xfrm>
          <a:prstGeom prst="rect">
            <a:avLst/>
          </a:prstGeom>
          <a:noFill/>
          <a:ln/>
        </p:spPr>
        <p:txBody>
          <a:bodyPr wrap="square" lIns="0" tIns="0" rIns="0" bIns="0" rtlCol="0" anchor="ctr"/>
          <a:lstStyle/>
          <a:p>
            <a:pPr indent="0" marL="0">
              <a:buNone/>
            </a:pPr>
            <a:r>
              <a:rPr lang="en-US" sz="1150" b="1" dirty="0">
                <a:solidFill>
                  <a:srgbClr val="FFFFFF"/>
                </a:solidFill>
                <a:latin typeface="Hanken Grotesk" pitchFamily="34" charset="0"/>
                <a:ea typeface="Hanken Grotesk" pitchFamily="34" charset="-122"/>
                <a:cs typeface="Hanken Grotesk" pitchFamily="34" charset="-120"/>
              </a:rPr>
              <a:t>Stage 4 · In voluptate</a:t>
            </a:r>
            <a:endParaRPr lang="en-US" sz="1150" dirty="0"/>
          </a:p>
          <a:p>
            <a:pPr indent="0" marL="0">
              <a:buNone/>
            </a:pPr>
            <a:r>
              <a:rPr lang="en-US" sz="1050" dirty="0">
                <a:solidFill>
                  <a:srgbClr val="CCEBF8"/>
                </a:solidFill>
                <a:latin typeface="Hanken Grotesk" pitchFamily="34" charset="0"/>
                <a:ea typeface="Hanken Grotesk" pitchFamily="34" charset="-122"/>
                <a:cs typeface="Hanken Grotesk" pitchFamily="34" charset="-120"/>
              </a:rPr>
              <a:t>+3 to +10 days</a:t>
            </a:r>
            <a:endParaRPr lang="en-US" sz="1150" dirty="0"/>
          </a:p>
        </p:txBody>
      </p:sp>
      <p:sp>
        <p:nvSpPr>
          <p:cNvPr id="15" name="Shape 13"/>
          <p:cNvSpPr/>
          <p:nvPr/>
        </p:nvSpPr>
        <p:spPr>
          <a:xfrm>
            <a:off x="9868571" y="1645920"/>
            <a:ext cx="1865925" cy="548640"/>
          </a:xfrm>
          <a:prstGeom prst="roundRect">
            <a:avLst>
              <a:gd name="adj" fmla="val 13333"/>
            </a:avLst>
          </a:prstGeom>
          <a:solidFill>
            <a:srgbClr val="004F71"/>
          </a:solidFill>
          <a:ln w="9525">
            <a:solidFill>
              <a:srgbClr val="004F71"/>
            </a:solidFill>
            <a:prstDash val="solid"/>
          </a:ln>
        </p:spPr>
      </p:sp>
      <p:sp>
        <p:nvSpPr>
          <p:cNvPr id="16" name="Text 14"/>
          <p:cNvSpPr txBox="1"/>
          <p:nvPr/>
        </p:nvSpPr>
        <p:spPr>
          <a:xfrm>
            <a:off x="9996587" y="1645920"/>
            <a:ext cx="1683045" cy="548640"/>
          </a:xfrm>
          <a:prstGeom prst="rect">
            <a:avLst/>
          </a:prstGeom>
          <a:noFill/>
          <a:ln/>
        </p:spPr>
        <p:txBody>
          <a:bodyPr wrap="square" lIns="0" tIns="0" rIns="0" bIns="0" rtlCol="0" anchor="ctr"/>
          <a:lstStyle/>
          <a:p>
            <a:pPr indent="0" marL="0">
              <a:buNone/>
            </a:pPr>
            <a:r>
              <a:rPr lang="en-US" sz="1150" b="1" dirty="0">
                <a:solidFill>
                  <a:srgbClr val="FFFFFF"/>
                </a:solidFill>
                <a:latin typeface="Hanken Grotesk" pitchFamily="34" charset="0"/>
                <a:ea typeface="Hanken Grotesk" pitchFamily="34" charset="-122"/>
                <a:cs typeface="Hanken Grotesk" pitchFamily="34" charset="-120"/>
              </a:rPr>
              <a:t>Stage 5 · Fugiat nulla</a:t>
            </a:r>
            <a:endParaRPr lang="en-US" sz="1150" dirty="0"/>
          </a:p>
          <a:p>
            <a:pPr indent="0" marL="0">
              <a:buNone/>
            </a:pPr>
            <a:r>
              <a:rPr lang="en-US" sz="1050" dirty="0">
                <a:solidFill>
                  <a:srgbClr val="CCEBF8"/>
                </a:solidFill>
                <a:latin typeface="Hanken Grotesk" pitchFamily="34" charset="0"/>
                <a:ea typeface="Hanken Grotesk" pitchFamily="34" charset="-122"/>
                <a:cs typeface="Hanken Grotesk" pitchFamily="34" charset="-120"/>
              </a:rPr>
              <a:t>+14 days</a:t>
            </a:r>
            <a:endParaRPr lang="en-US" sz="1150" dirty="0"/>
          </a:p>
        </p:txBody>
      </p:sp>
      <p:sp>
        <p:nvSpPr>
          <p:cNvPr id="17" name="Text 15"/>
          <p:cNvSpPr txBox="1"/>
          <p:nvPr/>
        </p:nvSpPr>
        <p:spPr>
          <a:xfrm>
            <a:off x="457200" y="2331720"/>
            <a:ext cx="1371600" cy="457200"/>
          </a:xfrm>
          <a:prstGeom prst="rect">
            <a:avLst/>
          </a:prstGeom>
          <a:noFill/>
          <a:ln/>
        </p:spPr>
        <p:txBody>
          <a:bodyPr wrap="square" lIns="0" tIns="0" rIns="0" bIns="0" rtlCol="0" anchor="ct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Channel moment</a:t>
            </a:r>
            <a:endParaRPr lang="en-US" sz="1050" dirty="0"/>
          </a:p>
        </p:txBody>
      </p:sp>
      <p:sp>
        <p:nvSpPr>
          <p:cNvPr id="18" name="Shape 16"/>
          <p:cNvSpPr/>
          <p:nvPr/>
        </p:nvSpPr>
        <p:spPr>
          <a:xfrm>
            <a:off x="1965960" y="2331720"/>
            <a:ext cx="1865925" cy="457200"/>
          </a:xfrm>
          <a:prstGeom prst="roundRect">
            <a:avLst>
              <a:gd name="adj" fmla="val 16000"/>
            </a:avLst>
          </a:prstGeom>
          <a:solidFill>
            <a:srgbClr val="FFFFFF"/>
          </a:solidFill>
          <a:ln w="15875">
            <a:solidFill>
              <a:srgbClr val="004F71"/>
            </a:solidFill>
            <a:prstDash val="solid"/>
          </a:ln>
        </p:spPr>
      </p:sp>
      <p:sp>
        <p:nvSpPr>
          <p:cNvPr id="19" name="Shape 17"/>
          <p:cNvSpPr/>
          <p:nvPr/>
        </p:nvSpPr>
        <p:spPr>
          <a:xfrm>
            <a:off x="2093976" y="2487168"/>
            <a:ext cx="146304" cy="146304"/>
          </a:xfrm>
          <a:prstGeom prst="ellipse">
            <a:avLst/>
          </a:prstGeom>
          <a:solidFill>
            <a:srgbClr val="004F71"/>
          </a:solidFill>
          <a:ln w="12700">
            <a:solidFill>
              <a:srgbClr val="004F71"/>
            </a:solidFill>
            <a:prstDash val="solid"/>
          </a:ln>
        </p:spPr>
      </p:sp>
      <p:sp>
        <p:nvSpPr>
          <p:cNvPr id="20" name="Text 18"/>
          <p:cNvSpPr txBox="1"/>
          <p:nvPr/>
        </p:nvSpPr>
        <p:spPr>
          <a:xfrm>
            <a:off x="2313432" y="2331720"/>
            <a:ext cx="1454445" cy="457200"/>
          </a:xfrm>
          <a:prstGeom prst="rect">
            <a:avLst/>
          </a:prstGeom>
          <a:noFill/>
          <a:ln/>
        </p:spPr>
        <p:txBody>
          <a:bodyPr wrap="square" lIns="0" tIns="0" rIns="0" bIns="0" rtlCol="0" anchor="ctr"/>
          <a:lstStyle/>
          <a:p>
            <a:pPr indent="0" marL="0">
              <a:buNone/>
            </a:pPr>
            <a:r>
              <a:rPr lang="en-US" sz="1050" b="1" dirty="0">
                <a:solidFill>
                  <a:srgbClr val="004F71"/>
                </a:solidFill>
                <a:latin typeface="Hanken Grotesk" pitchFamily="34" charset="0"/>
                <a:ea typeface="Hanken Grotesk" pitchFamily="34" charset="-122"/>
                <a:cs typeface="Hanken Grotesk" pitchFamily="34" charset="-120"/>
              </a:rPr>
              <a:t>Email  </a:t>
            </a:r>
            <a:pPr indent="0" marL="0">
              <a:buNone/>
            </a:pPr>
            <a:r>
              <a:rPr lang="en-US" sz="1050" dirty="0">
                <a:solidFill>
                  <a:srgbClr val="222731"/>
                </a:solidFill>
                <a:latin typeface="Hanken Grotesk" pitchFamily="34" charset="0"/>
                <a:ea typeface="Hanken Grotesk" pitchFamily="34" charset="-122"/>
                <a:cs typeface="Hanken Grotesk" pitchFamily="34" charset="-120"/>
              </a:rPr>
              <a:t>Laboris nisi</a:t>
            </a:r>
            <a:endParaRPr lang="en-US" sz="1050" dirty="0"/>
          </a:p>
        </p:txBody>
      </p:sp>
      <p:sp>
        <p:nvSpPr>
          <p:cNvPr id="21" name="Shape 19"/>
          <p:cNvSpPr/>
          <p:nvPr/>
        </p:nvSpPr>
        <p:spPr>
          <a:xfrm>
            <a:off x="3941613" y="2331720"/>
            <a:ext cx="1865925" cy="457200"/>
          </a:xfrm>
          <a:prstGeom prst="roundRect">
            <a:avLst>
              <a:gd name="adj" fmla="val 16000"/>
            </a:avLst>
          </a:prstGeom>
          <a:solidFill>
            <a:srgbClr val="FFFFFF"/>
          </a:solidFill>
          <a:ln w="15875">
            <a:solidFill>
              <a:srgbClr val="0077A8"/>
            </a:solidFill>
            <a:prstDash val="solid"/>
          </a:ln>
        </p:spPr>
      </p:sp>
      <p:sp>
        <p:nvSpPr>
          <p:cNvPr id="22" name="Shape 20"/>
          <p:cNvSpPr/>
          <p:nvPr/>
        </p:nvSpPr>
        <p:spPr>
          <a:xfrm>
            <a:off x="4069629" y="2487168"/>
            <a:ext cx="146304" cy="146304"/>
          </a:xfrm>
          <a:prstGeom prst="ellipse">
            <a:avLst/>
          </a:prstGeom>
          <a:solidFill>
            <a:srgbClr val="0077A8"/>
          </a:solidFill>
          <a:ln w="12700">
            <a:solidFill>
              <a:srgbClr val="0077A8"/>
            </a:solidFill>
            <a:prstDash val="solid"/>
          </a:ln>
        </p:spPr>
      </p:sp>
      <p:sp>
        <p:nvSpPr>
          <p:cNvPr id="23" name="Text 21"/>
          <p:cNvSpPr txBox="1"/>
          <p:nvPr/>
        </p:nvSpPr>
        <p:spPr>
          <a:xfrm>
            <a:off x="4289085" y="2331720"/>
            <a:ext cx="1454445" cy="457200"/>
          </a:xfrm>
          <a:prstGeom prst="rect">
            <a:avLst/>
          </a:prstGeom>
          <a:noFill/>
          <a:ln/>
        </p:spPr>
        <p:txBody>
          <a:bodyPr wrap="square" lIns="0" tIns="0" rIns="0" bIns="0" rtlCol="0" anchor="ctr"/>
          <a:lstStyle/>
          <a:p>
            <a:pPr indent="0" marL="0">
              <a:buNone/>
            </a:pPr>
            <a:r>
              <a:rPr lang="en-US" sz="1050" b="1" dirty="0">
                <a:solidFill>
                  <a:srgbClr val="0077A8"/>
                </a:solidFill>
                <a:latin typeface="Hanken Grotesk" pitchFamily="34" charset="0"/>
                <a:ea typeface="Hanken Grotesk" pitchFamily="34" charset="-122"/>
                <a:cs typeface="Hanken Grotesk" pitchFamily="34" charset="-120"/>
              </a:rPr>
              <a:t>SMS  </a:t>
            </a:r>
            <a:pPr indent="0" marL="0">
              <a:buNone/>
            </a:pPr>
            <a:r>
              <a:rPr lang="en-US" sz="1050" dirty="0">
                <a:solidFill>
                  <a:srgbClr val="222731"/>
                </a:solidFill>
                <a:latin typeface="Hanken Grotesk" pitchFamily="34" charset="0"/>
                <a:ea typeface="Hanken Grotesk" pitchFamily="34" charset="-122"/>
                <a:cs typeface="Hanken Grotesk" pitchFamily="34" charset="-120"/>
              </a:rPr>
              <a:t>Fugiat nulla</a:t>
            </a:r>
            <a:endParaRPr lang="en-US" sz="1050" dirty="0"/>
          </a:p>
        </p:txBody>
      </p:sp>
      <p:sp>
        <p:nvSpPr>
          <p:cNvPr id="24" name="Shape 22"/>
          <p:cNvSpPr/>
          <p:nvPr/>
        </p:nvSpPr>
        <p:spPr>
          <a:xfrm>
            <a:off x="5917265" y="2331720"/>
            <a:ext cx="1865925" cy="457200"/>
          </a:xfrm>
          <a:prstGeom prst="roundRect">
            <a:avLst>
              <a:gd name="adj" fmla="val 16000"/>
            </a:avLst>
          </a:prstGeom>
          <a:solidFill>
            <a:srgbClr val="FFFFFF"/>
          </a:solidFill>
          <a:ln w="15875">
            <a:solidFill>
              <a:srgbClr val="B0412D"/>
            </a:solidFill>
            <a:prstDash val="solid"/>
          </a:ln>
        </p:spPr>
      </p:sp>
      <p:sp>
        <p:nvSpPr>
          <p:cNvPr id="25" name="Shape 23"/>
          <p:cNvSpPr/>
          <p:nvPr/>
        </p:nvSpPr>
        <p:spPr>
          <a:xfrm>
            <a:off x="6045281" y="2487168"/>
            <a:ext cx="146304" cy="146304"/>
          </a:xfrm>
          <a:prstGeom prst="ellipse">
            <a:avLst/>
          </a:prstGeom>
          <a:solidFill>
            <a:srgbClr val="B0412D"/>
          </a:solidFill>
          <a:ln w="12700">
            <a:solidFill>
              <a:srgbClr val="B0412D"/>
            </a:solidFill>
            <a:prstDash val="solid"/>
          </a:ln>
        </p:spPr>
      </p:sp>
      <p:sp>
        <p:nvSpPr>
          <p:cNvPr id="26" name="Text 24"/>
          <p:cNvSpPr txBox="1"/>
          <p:nvPr/>
        </p:nvSpPr>
        <p:spPr>
          <a:xfrm>
            <a:off x="6264737" y="2331720"/>
            <a:ext cx="1454445" cy="457200"/>
          </a:xfrm>
          <a:prstGeom prst="rect">
            <a:avLst/>
          </a:prstGeom>
          <a:noFill/>
          <a:ln/>
        </p:spPr>
        <p:txBody>
          <a:bodyPr wrap="square" lIns="0" tIns="0" rIns="0" bIns="0" rtlCol="0" anchor="ctr"/>
          <a:lstStyle/>
          <a:p>
            <a:pPr indent="0" marL="0">
              <a:buNone/>
            </a:pPr>
            <a:r>
              <a:rPr lang="en-US" sz="1050" b="1" dirty="0">
                <a:solidFill>
                  <a:srgbClr val="B0412D"/>
                </a:solidFill>
                <a:latin typeface="Hanken Grotesk" pitchFamily="34" charset="0"/>
                <a:ea typeface="Hanken Grotesk" pitchFamily="34" charset="-122"/>
                <a:cs typeface="Hanken Grotesk" pitchFamily="34" charset="-120"/>
              </a:rPr>
              <a:t>RCS  </a:t>
            </a:r>
            <a:pPr indent="0" marL="0">
              <a:buNone/>
            </a:pPr>
            <a:r>
              <a:rPr lang="en-US" sz="1050" dirty="0">
                <a:solidFill>
                  <a:srgbClr val="222731"/>
                </a:solidFill>
                <a:latin typeface="Hanken Grotesk" pitchFamily="34" charset="0"/>
                <a:ea typeface="Hanken Grotesk" pitchFamily="34" charset="-122"/>
                <a:cs typeface="Hanken Grotesk" pitchFamily="34" charset="-120"/>
              </a:rPr>
              <a:t>Pretium tincidunt</a:t>
            </a:r>
            <a:endParaRPr lang="en-US" sz="1050" dirty="0"/>
          </a:p>
        </p:txBody>
      </p:sp>
      <p:sp>
        <p:nvSpPr>
          <p:cNvPr id="27" name="Shape 25"/>
          <p:cNvSpPr/>
          <p:nvPr/>
        </p:nvSpPr>
        <p:spPr>
          <a:xfrm>
            <a:off x="7892918" y="2331720"/>
            <a:ext cx="1865925" cy="457200"/>
          </a:xfrm>
          <a:prstGeom prst="roundRect">
            <a:avLst>
              <a:gd name="adj" fmla="val 16000"/>
            </a:avLst>
          </a:prstGeom>
          <a:solidFill>
            <a:srgbClr val="FFFFFF"/>
          </a:solidFill>
          <a:ln w="15875">
            <a:solidFill>
              <a:srgbClr val="0077A8"/>
            </a:solidFill>
            <a:prstDash val="solid"/>
          </a:ln>
        </p:spPr>
      </p:sp>
      <p:sp>
        <p:nvSpPr>
          <p:cNvPr id="28" name="Shape 26"/>
          <p:cNvSpPr/>
          <p:nvPr/>
        </p:nvSpPr>
        <p:spPr>
          <a:xfrm>
            <a:off x="8020934" y="2487168"/>
            <a:ext cx="146304" cy="146304"/>
          </a:xfrm>
          <a:prstGeom prst="ellipse">
            <a:avLst/>
          </a:prstGeom>
          <a:solidFill>
            <a:srgbClr val="0077A8"/>
          </a:solidFill>
          <a:ln w="12700">
            <a:solidFill>
              <a:srgbClr val="0077A8"/>
            </a:solidFill>
            <a:prstDash val="solid"/>
          </a:ln>
        </p:spPr>
      </p:sp>
      <p:sp>
        <p:nvSpPr>
          <p:cNvPr id="29" name="Text 27"/>
          <p:cNvSpPr txBox="1"/>
          <p:nvPr/>
        </p:nvSpPr>
        <p:spPr>
          <a:xfrm>
            <a:off x="8240390" y="2331720"/>
            <a:ext cx="1454445" cy="457200"/>
          </a:xfrm>
          <a:prstGeom prst="rect">
            <a:avLst/>
          </a:prstGeom>
          <a:noFill/>
          <a:ln/>
        </p:spPr>
        <p:txBody>
          <a:bodyPr wrap="square" lIns="0" tIns="0" rIns="0" bIns="0" rtlCol="0" anchor="ctr"/>
          <a:lstStyle/>
          <a:p>
            <a:pPr indent="0" marL="0">
              <a:buNone/>
            </a:pPr>
            <a:r>
              <a:rPr lang="en-US" sz="1050" b="1" dirty="0">
                <a:solidFill>
                  <a:srgbClr val="0077A8"/>
                </a:solidFill>
                <a:latin typeface="Hanken Grotesk" pitchFamily="34" charset="0"/>
                <a:ea typeface="Hanken Grotesk" pitchFamily="34" charset="-122"/>
                <a:cs typeface="Hanken Grotesk" pitchFamily="34" charset="-120"/>
              </a:rPr>
              <a:t>SMS  </a:t>
            </a:r>
            <a:pPr indent="0" marL="0">
              <a:buNone/>
            </a:pPr>
            <a:r>
              <a:rPr lang="en-US" sz="1050" dirty="0">
                <a:solidFill>
                  <a:srgbClr val="222731"/>
                </a:solidFill>
                <a:latin typeface="Hanken Grotesk" pitchFamily="34" charset="0"/>
                <a:ea typeface="Hanken Grotesk" pitchFamily="34" charset="-122"/>
                <a:cs typeface="Hanken Grotesk" pitchFamily="34" charset="-120"/>
              </a:rPr>
              <a:t>Felis sollicitudin</a:t>
            </a:r>
            <a:endParaRPr lang="en-US" sz="1050" dirty="0"/>
          </a:p>
        </p:txBody>
      </p:sp>
      <p:sp>
        <p:nvSpPr>
          <p:cNvPr id="30" name="Shape 28"/>
          <p:cNvSpPr/>
          <p:nvPr/>
        </p:nvSpPr>
        <p:spPr>
          <a:xfrm>
            <a:off x="9868571" y="2331720"/>
            <a:ext cx="1865925" cy="457200"/>
          </a:xfrm>
          <a:prstGeom prst="roundRect">
            <a:avLst>
              <a:gd name="adj" fmla="val 16000"/>
            </a:avLst>
          </a:prstGeom>
          <a:solidFill>
            <a:srgbClr val="FFFFFF"/>
          </a:solidFill>
          <a:ln w="15875">
            <a:solidFill>
              <a:srgbClr val="004F71"/>
            </a:solidFill>
            <a:prstDash val="solid"/>
          </a:ln>
        </p:spPr>
      </p:sp>
      <p:sp>
        <p:nvSpPr>
          <p:cNvPr id="31" name="Shape 29"/>
          <p:cNvSpPr/>
          <p:nvPr/>
        </p:nvSpPr>
        <p:spPr>
          <a:xfrm>
            <a:off x="9996587" y="2487168"/>
            <a:ext cx="146304" cy="146304"/>
          </a:xfrm>
          <a:prstGeom prst="ellipse">
            <a:avLst/>
          </a:prstGeom>
          <a:solidFill>
            <a:srgbClr val="004F71"/>
          </a:solidFill>
          <a:ln w="12700">
            <a:solidFill>
              <a:srgbClr val="004F71"/>
            </a:solidFill>
            <a:prstDash val="solid"/>
          </a:ln>
        </p:spPr>
      </p:sp>
      <p:sp>
        <p:nvSpPr>
          <p:cNvPr id="32" name="Text 30"/>
          <p:cNvSpPr txBox="1"/>
          <p:nvPr/>
        </p:nvSpPr>
        <p:spPr>
          <a:xfrm>
            <a:off x="10216043" y="2331720"/>
            <a:ext cx="1454445" cy="457200"/>
          </a:xfrm>
          <a:prstGeom prst="rect">
            <a:avLst/>
          </a:prstGeom>
          <a:noFill/>
          <a:ln/>
        </p:spPr>
        <p:txBody>
          <a:bodyPr wrap="square" lIns="0" tIns="0" rIns="0" bIns="0" rtlCol="0" anchor="ctr"/>
          <a:lstStyle/>
          <a:p>
            <a:pPr indent="0" marL="0">
              <a:buNone/>
            </a:pPr>
            <a:r>
              <a:rPr lang="en-US" sz="1050" b="1" dirty="0">
                <a:solidFill>
                  <a:srgbClr val="004F71"/>
                </a:solidFill>
                <a:latin typeface="Hanken Grotesk" pitchFamily="34" charset="0"/>
                <a:ea typeface="Hanken Grotesk" pitchFamily="34" charset="-122"/>
                <a:cs typeface="Hanken Grotesk" pitchFamily="34" charset="-120"/>
              </a:rPr>
              <a:t>Email  </a:t>
            </a:r>
            <a:pPr indent="0" marL="0">
              <a:buNone/>
            </a:pPr>
            <a:r>
              <a:rPr lang="en-US" sz="1050" dirty="0">
                <a:solidFill>
                  <a:srgbClr val="222731"/>
                </a:solidFill>
                <a:latin typeface="Hanken Grotesk" pitchFamily="34" charset="0"/>
                <a:ea typeface="Hanken Grotesk" pitchFamily="34" charset="-122"/>
                <a:cs typeface="Hanken Grotesk" pitchFamily="34" charset="-120"/>
              </a:rPr>
              <a:t>Tempor incididunt</a:t>
            </a:r>
            <a:endParaRPr lang="en-US" sz="1050" dirty="0"/>
          </a:p>
        </p:txBody>
      </p:sp>
      <p:sp>
        <p:nvSpPr>
          <p:cNvPr id="33" name="Text 31"/>
          <p:cNvSpPr txBox="1"/>
          <p:nvPr/>
        </p:nvSpPr>
        <p:spPr>
          <a:xfrm>
            <a:off x="457200" y="2880360"/>
            <a:ext cx="1371600" cy="914400"/>
          </a:xfrm>
          <a:prstGeom prst="rect">
            <a:avLst/>
          </a:prstGeom>
          <a:noFill/>
          <a:ln/>
        </p:spPr>
        <p:txBody>
          <a:bodyPr wrap="square" lIns="0" tIns="0" rIns="0" bIns="0" rtlCol="0" anchor="ct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What the customer does</a:t>
            </a:r>
            <a:endParaRPr lang="en-US" sz="1050" dirty="0"/>
          </a:p>
        </p:txBody>
      </p:sp>
      <p:sp>
        <p:nvSpPr>
          <p:cNvPr id="34" name="Shape 32"/>
          <p:cNvSpPr/>
          <p:nvPr/>
        </p:nvSpPr>
        <p:spPr>
          <a:xfrm>
            <a:off x="1965960" y="2880360"/>
            <a:ext cx="1865925" cy="914400"/>
          </a:xfrm>
          <a:prstGeom prst="roundRect">
            <a:avLst>
              <a:gd name="adj" fmla="val 8000"/>
            </a:avLst>
          </a:prstGeom>
          <a:solidFill>
            <a:srgbClr val="FFFFFF"/>
          </a:solidFill>
          <a:ln w="9525">
            <a:solidFill>
              <a:srgbClr val="D9D9D6"/>
            </a:solidFill>
            <a:prstDash val="solid"/>
          </a:ln>
        </p:spPr>
      </p:sp>
      <p:sp>
        <p:nvSpPr>
          <p:cNvPr id="35" name="Text 33"/>
          <p:cNvSpPr txBox="1"/>
          <p:nvPr/>
        </p:nvSpPr>
        <p:spPr>
          <a:xfrm>
            <a:off x="2093976" y="2990088"/>
            <a:ext cx="1609893" cy="73152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In voluptate velit esse cillum dolore eu.</a:t>
            </a:r>
            <a:endParaRPr lang="en-US" sz="1150" dirty="0"/>
          </a:p>
        </p:txBody>
      </p:sp>
      <p:sp>
        <p:nvSpPr>
          <p:cNvPr id="36" name="Shape 34"/>
          <p:cNvSpPr/>
          <p:nvPr/>
        </p:nvSpPr>
        <p:spPr>
          <a:xfrm>
            <a:off x="3941613" y="2880360"/>
            <a:ext cx="1865925" cy="914400"/>
          </a:xfrm>
          <a:prstGeom prst="roundRect">
            <a:avLst>
              <a:gd name="adj" fmla="val 8000"/>
            </a:avLst>
          </a:prstGeom>
          <a:solidFill>
            <a:srgbClr val="FFFFFF"/>
          </a:solidFill>
          <a:ln w="9525">
            <a:solidFill>
              <a:srgbClr val="D9D9D6"/>
            </a:solidFill>
            <a:prstDash val="solid"/>
          </a:ln>
        </p:spPr>
      </p:sp>
      <p:sp>
        <p:nvSpPr>
          <p:cNvPr id="37" name="Text 35"/>
          <p:cNvSpPr txBox="1"/>
          <p:nvPr/>
        </p:nvSpPr>
        <p:spPr>
          <a:xfrm>
            <a:off x="4069629" y="2990088"/>
            <a:ext cx="1609893" cy="73152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Fugiat nulla pariatur excepteur sint occaecat cupidatat.</a:t>
            </a:r>
            <a:endParaRPr lang="en-US" sz="1150" dirty="0"/>
          </a:p>
        </p:txBody>
      </p:sp>
      <p:sp>
        <p:nvSpPr>
          <p:cNvPr id="38" name="Shape 36"/>
          <p:cNvSpPr/>
          <p:nvPr/>
        </p:nvSpPr>
        <p:spPr>
          <a:xfrm>
            <a:off x="5917265" y="2880360"/>
            <a:ext cx="1865925" cy="914400"/>
          </a:xfrm>
          <a:prstGeom prst="roundRect">
            <a:avLst>
              <a:gd name="adj" fmla="val 8000"/>
            </a:avLst>
          </a:prstGeom>
          <a:solidFill>
            <a:srgbClr val="FFFFFF"/>
          </a:solidFill>
          <a:ln w="9525">
            <a:solidFill>
              <a:srgbClr val="D9D9D6"/>
            </a:solidFill>
            <a:prstDash val="solid"/>
          </a:ln>
        </p:spPr>
      </p:sp>
      <p:sp>
        <p:nvSpPr>
          <p:cNvPr id="39" name="Text 37"/>
          <p:cNvSpPr txBox="1"/>
          <p:nvPr/>
        </p:nvSpPr>
        <p:spPr>
          <a:xfrm>
            <a:off x="6045281" y="2990088"/>
            <a:ext cx="1609893" cy="73152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Non proident sunt in culpa qui officia.</a:t>
            </a:r>
            <a:endParaRPr lang="en-US" sz="1150" dirty="0"/>
          </a:p>
        </p:txBody>
      </p:sp>
      <p:sp>
        <p:nvSpPr>
          <p:cNvPr id="40" name="Shape 38"/>
          <p:cNvSpPr/>
          <p:nvPr/>
        </p:nvSpPr>
        <p:spPr>
          <a:xfrm>
            <a:off x="7892918" y="2880360"/>
            <a:ext cx="1865925" cy="914400"/>
          </a:xfrm>
          <a:prstGeom prst="roundRect">
            <a:avLst>
              <a:gd name="adj" fmla="val 8000"/>
            </a:avLst>
          </a:prstGeom>
          <a:solidFill>
            <a:srgbClr val="FFFFFF"/>
          </a:solidFill>
          <a:ln w="9525">
            <a:solidFill>
              <a:srgbClr val="D9D9D6"/>
            </a:solidFill>
            <a:prstDash val="solid"/>
          </a:ln>
        </p:spPr>
      </p:sp>
      <p:sp>
        <p:nvSpPr>
          <p:cNvPr id="41" name="Text 39"/>
          <p:cNvSpPr txBox="1"/>
          <p:nvPr/>
        </p:nvSpPr>
        <p:spPr>
          <a:xfrm>
            <a:off x="8020934" y="2990088"/>
            <a:ext cx="1609893" cy="73152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Deserunt mollit anim id est laborum curabitur.</a:t>
            </a:r>
            <a:endParaRPr lang="en-US" sz="1150" dirty="0"/>
          </a:p>
        </p:txBody>
      </p:sp>
      <p:sp>
        <p:nvSpPr>
          <p:cNvPr id="42" name="Shape 40"/>
          <p:cNvSpPr/>
          <p:nvPr/>
        </p:nvSpPr>
        <p:spPr>
          <a:xfrm>
            <a:off x="9868571" y="2880360"/>
            <a:ext cx="1865925" cy="914400"/>
          </a:xfrm>
          <a:prstGeom prst="roundRect">
            <a:avLst>
              <a:gd name="adj" fmla="val 8000"/>
            </a:avLst>
          </a:prstGeom>
          <a:solidFill>
            <a:srgbClr val="FFFFFF"/>
          </a:solidFill>
          <a:ln w="9525">
            <a:solidFill>
              <a:srgbClr val="D9D9D6"/>
            </a:solidFill>
            <a:prstDash val="solid"/>
          </a:ln>
        </p:spPr>
      </p:sp>
      <p:sp>
        <p:nvSpPr>
          <p:cNvPr id="43" name="Text 41"/>
          <p:cNvSpPr txBox="1"/>
          <p:nvPr/>
        </p:nvSpPr>
        <p:spPr>
          <a:xfrm>
            <a:off x="9996587" y="2990088"/>
            <a:ext cx="1609893" cy="73152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Pretium tincidunt lacus nulla gravida orci a.</a:t>
            </a:r>
            <a:endParaRPr lang="en-US" sz="1150" dirty="0"/>
          </a:p>
        </p:txBody>
      </p:sp>
      <p:sp>
        <p:nvSpPr>
          <p:cNvPr id="44" name="Text 42"/>
          <p:cNvSpPr txBox="1"/>
          <p:nvPr/>
        </p:nvSpPr>
        <p:spPr>
          <a:xfrm>
            <a:off x="457200" y="3886200"/>
            <a:ext cx="1371600" cy="1097280"/>
          </a:xfrm>
          <a:prstGeom prst="rect">
            <a:avLst/>
          </a:prstGeom>
          <a:noFill/>
          <a:ln/>
        </p:spPr>
        <p:txBody>
          <a:bodyPr wrap="square" lIns="0" tIns="0" rIns="0" bIns="0" rtlCol="0" anchor="ct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How they feel</a:t>
            </a:r>
            <a:endParaRPr lang="en-US" sz="1050" dirty="0"/>
          </a:p>
        </p:txBody>
      </p:sp>
      <p:sp>
        <p:nvSpPr>
          <p:cNvPr id="45" name="Shape 43"/>
          <p:cNvSpPr/>
          <p:nvPr/>
        </p:nvSpPr>
        <p:spPr>
          <a:xfrm>
            <a:off x="1965960" y="3886200"/>
            <a:ext cx="9768535" cy="1097280"/>
          </a:xfrm>
          <a:prstGeom prst="roundRect">
            <a:avLst>
              <a:gd name="adj" fmla="val 8333"/>
            </a:avLst>
          </a:prstGeom>
          <a:solidFill>
            <a:srgbClr val="FFFFFF"/>
          </a:solidFill>
          <a:ln w="9525">
            <a:solidFill>
              <a:srgbClr val="D9D9D6"/>
            </a:solidFill>
            <a:prstDash val="solid"/>
          </a:ln>
        </p:spPr>
      </p:sp>
      <p:sp>
        <p:nvSpPr>
          <p:cNvPr id="46" name="Shape 44"/>
          <p:cNvSpPr/>
          <p:nvPr/>
        </p:nvSpPr>
        <p:spPr>
          <a:xfrm flipV="1">
            <a:off x="2898922" y="4210263"/>
            <a:ext cx="1975653" cy="52669"/>
          </a:xfrm>
          <a:prstGeom prst="line">
            <a:avLst/>
          </a:prstGeom>
          <a:noFill/>
          <a:ln w="25400">
            <a:solidFill>
              <a:srgbClr val="007A2C"/>
            </a:solidFill>
            <a:prstDash val="solid"/>
          </a:ln>
        </p:spPr>
      </p:sp>
      <p:sp>
        <p:nvSpPr>
          <p:cNvPr id="47" name="Shape 45"/>
          <p:cNvSpPr/>
          <p:nvPr/>
        </p:nvSpPr>
        <p:spPr>
          <a:xfrm flipV="1">
            <a:off x="4874575" y="4153205"/>
            <a:ext cx="1975653" cy="57059"/>
          </a:xfrm>
          <a:prstGeom prst="line">
            <a:avLst/>
          </a:prstGeom>
          <a:noFill/>
          <a:ln w="25400">
            <a:solidFill>
              <a:srgbClr val="007A2C"/>
            </a:solidFill>
            <a:prstDash val="solid"/>
          </a:ln>
        </p:spPr>
      </p:sp>
      <p:sp>
        <p:nvSpPr>
          <p:cNvPr id="48" name="Shape 46"/>
          <p:cNvSpPr/>
          <p:nvPr/>
        </p:nvSpPr>
        <p:spPr>
          <a:xfrm>
            <a:off x="6850228" y="4153205"/>
            <a:ext cx="1975653" cy="65837"/>
          </a:xfrm>
          <a:prstGeom prst="line">
            <a:avLst/>
          </a:prstGeom>
          <a:noFill/>
          <a:ln w="25400">
            <a:solidFill>
              <a:srgbClr val="007A2C"/>
            </a:solidFill>
            <a:prstDash val="solid"/>
          </a:ln>
        </p:spPr>
      </p:sp>
      <p:sp>
        <p:nvSpPr>
          <p:cNvPr id="49" name="Shape 47"/>
          <p:cNvSpPr/>
          <p:nvPr/>
        </p:nvSpPr>
        <p:spPr>
          <a:xfrm flipV="1">
            <a:off x="8825880" y="4131259"/>
            <a:ext cx="1975653" cy="87782"/>
          </a:xfrm>
          <a:prstGeom prst="line">
            <a:avLst/>
          </a:prstGeom>
          <a:noFill/>
          <a:ln w="25400">
            <a:solidFill>
              <a:srgbClr val="007A2C"/>
            </a:solidFill>
            <a:prstDash val="solid"/>
          </a:ln>
        </p:spPr>
      </p:sp>
      <p:sp>
        <p:nvSpPr>
          <p:cNvPr id="50" name="Shape 48"/>
          <p:cNvSpPr/>
          <p:nvPr/>
        </p:nvSpPr>
        <p:spPr>
          <a:xfrm>
            <a:off x="2816626" y="4180637"/>
            <a:ext cx="164592" cy="164592"/>
          </a:xfrm>
          <a:prstGeom prst="ellipse">
            <a:avLst/>
          </a:prstGeom>
          <a:solidFill>
            <a:srgbClr val="007A2C"/>
          </a:solidFill>
          <a:ln w="19050">
            <a:solidFill>
              <a:srgbClr val="FFFFFF"/>
            </a:solidFill>
            <a:prstDash val="solid"/>
          </a:ln>
        </p:spPr>
      </p:sp>
      <p:sp>
        <p:nvSpPr>
          <p:cNvPr id="51" name="Text 49"/>
          <p:cNvSpPr txBox="1"/>
          <p:nvPr/>
        </p:nvSpPr>
        <p:spPr>
          <a:xfrm>
            <a:off x="1965960" y="4381805"/>
            <a:ext cx="1865925" cy="237744"/>
          </a:xfrm>
          <a:prstGeom prst="rect">
            <a:avLst/>
          </a:prstGeom>
          <a:noFill/>
          <a:ln/>
        </p:spPr>
        <p:txBody>
          <a:bodyPr wrap="square" lIns="0" tIns="0" rIns="0" bIns="0" rtlCol="0" anchor="t"/>
          <a:lstStyle/>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Informed</a:t>
            </a:r>
            <a:endParaRPr lang="en-US" sz="1050" dirty="0"/>
          </a:p>
        </p:txBody>
      </p:sp>
      <p:sp>
        <p:nvSpPr>
          <p:cNvPr id="52" name="Shape 50"/>
          <p:cNvSpPr/>
          <p:nvPr/>
        </p:nvSpPr>
        <p:spPr>
          <a:xfrm>
            <a:off x="4792279" y="4127967"/>
            <a:ext cx="164592" cy="164592"/>
          </a:xfrm>
          <a:prstGeom prst="ellipse">
            <a:avLst/>
          </a:prstGeom>
          <a:solidFill>
            <a:srgbClr val="007A2C"/>
          </a:solidFill>
          <a:ln w="19050">
            <a:solidFill>
              <a:srgbClr val="FFFFFF"/>
            </a:solidFill>
            <a:prstDash val="solid"/>
          </a:ln>
        </p:spPr>
      </p:sp>
      <p:sp>
        <p:nvSpPr>
          <p:cNvPr id="53" name="Text 51"/>
          <p:cNvSpPr txBox="1"/>
          <p:nvPr/>
        </p:nvSpPr>
        <p:spPr>
          <a:xfrm>
            <a:off x="3941613" y="4329135"/>
            <a:ext cx="1865925" cy="237744"/>
          </a:xfrm>
          <a:prstGeom prst="rect">
            <a:avLst/>
          </a:prstGeom>
          <a:noFill/>
          <a:ln/>
        </p:spPr>
        <p:txBody>
          <a:bodyPr wrap="square" lIns="0" tIns="0" rIns="0" bIns="0" rtlCol="0" anchor="t"/>
          <a:lstStyle/>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Ready</a:t>
            </a:r>
            <a:endParaRPr lang="en-US" sz="1050" dirty="0"/>
          </a:p>
        </p:txBody>
      </p:sp>
      <p:sp>
        <p:nvSpPr>
          <p:cNvPr id="54" name="Shape 52"/>
          <p:cNvSpPr/>
          <p:nvPr/>
        </p:nvSpPr>
        <p:spPr>
          <a:xfrm>
            <a:off x="6767932" y="4070909"/>
            <a:ext cx="164592" cy="164592"/>
          </a:xfrm>
          <a:prstGeom prst="ellipse">
            <a:avLst/>
          </a:prstGeom>
          <a:solidFill>
            <a:srgbClr val="007A2C"/>
          </a:solidFill>
          <a:ln w="19050">
            <a:solidFill>
              <a:srgbClr val="FFFFFF"/>
            </a:solidFill>
            <a:prstDash val="solid"/>
          </a:ln>
        </p:spPr>
      </p:sp>
      <p:sp>
        <p:nvSpPr>
          <p:cNvPr id="55" name="Text 53"/>
          <p:cNvSpPr txBox="1"/>
          <p:nvPr/>
        </p:nvSpPr>
        <p:spPr>
          <a:xfrm>
            <a:off x="5917265" y="4272077"/>
            <a:ext cx="1865925" cy="237744"/>
          </a:xfrm>
          <a:prstGeom prst="rect">
            <a:avLst/>
          </a:prstGeom>
          <a:noFill/>
          <a:ln/>
        </p:spPr>
        <p:txBody>
          <a:bodyPr wrap="square" lIns="0" tIns="0" rIns="0" bIns="0" rtlCol="0" anchor="t"/>
          <a:lstStyle/>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In control</a:t>
            </a:r>
            <a:endParaRPr lang="en-US" sz="1050" dirty="0"/>
          </a:p>
        </p:txBody>
      </p:sp>
      <p:sp>
        <p:nvSpPr>
          <p:cNvPr id="56" name="Shape 54"/>
          <p:cNvSpPr/>
          <p:nvPr/>
        </p:nvSpPr>
        <p:spPr>
          <a:xfrm>
            <a:off x="8743584" y="4136746"/>
            <a:ext cx="164592" cy="164592"/>
          </a:xfrm>
          <a:prstGeom prst="ellipse">
            <a:avLst/>
          </a:prstGeom>
          <a:solidFill>
            <a:srgbClr val="007A2C"/>
          </a:solidFill>
          <a:ln w="19050">
            <a:solidFill>
              <a:srgbClr val="FFFFFF"/>
            </a:solidFill>
            <a:prstDash val="solid"/>
          </a:ln>
        </p:spPr>
      </p:sp>
      <p:sp>
        <p:nvSpPr>
          <p:cNvPr id="57" name="Text 55"/>
          <p:cNvSpPr txBox="1"/>
          <p:nvPr/>
        </p:nvSpPr>
        <p:spPr>
          <a:xfrm>
            <a:off x="7892918" y="4337914"/>
            <a:ext cx="1865925" cy="237744"/>
          </a:xfrm>
          <a:prstGeom prst="rect">
            <a:avLst/>
          </a:prstGeom>
          <a:noFill/>
          <a:ln/>
        </p:spPr>
        <p:txBody>
          <a:bodyPr wrap="square" lIns="0" tIns="0" rIns="0" bIns="0" rtlCol="0" anchor="t"/>
          <a:lstStyle/>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Supported</a:t>
            </a:r>
            <a:endParaRPr lang="en-US" sz="1050" dirty="0"/>
          </a:p>
        </p:txBody>
      </p:sp>
      <p:sp>
        <p:nvSpPr>
          <p:cNvPr id="58" name="Shape 56"/>
          <p:cNvSpPr/>
          <p:nvPr/>
        </p:nvSpPr>
        <p:spPr>
          <a:xfrm>
            <a:off x="10719237" y="4048963"/>
            <a:ext cx="164592" cy="164592"/>
          </a:xfrm>
          <a:prstGeom prst="ellipse">
            <a:avLst/>
          </a:prstGeom>
          <a:solidFill>
            <a:srgbClr val="007A2C"/>
          </a:solidFill>
          <a:ln w="19050">
            <a:solidFill>
              <a:srgbClr val="FFFFFF"/>
            </a:solidFill>
            <a:prstDash val="solid"/>
          </a:ln>
        </p:spPr>
      </p:sp>
      <p:sp>
        <p:nvSpPr>
          <p:cNvPr id="59" name="Text 57"/>
          <p:cNvSpPr txBox="1"/>
          <p:nvPr/>
        </p:nvSpPr>
        <p:spPr>
          <a:xfrm>
            <a:off x="9868571" y="4250131"/>
            <a:ext cx="1865925" cy="237744"/>
          </a:xfrm>
          <a:prstGeom prst="rect">
            <a:avLst/>
          </a:prstGeom>
          <a:noFill/>
          <a:ln/>
        </p:spPr>
        <p:txBody>
          <a:bodyPr wrap="square" lIns="0" tIns="0" rIns="0" bIns="0" rtlCol="0" anchor="t"/>
          <a:lstStyle/>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Reassured</a:t>
            </a:r>
            <a:endParaRPr lang="en-US" sz="1050" dirty="0"/>
          </a:p>
        </p:txBody>
      </p:sp>
      <p:sp>
        <p:nvSpPr>
          <p:cNvPr id="60" name="Text 58"/>
          <p:cNvSpPr txBox="1"/>
          <p:nvPr/>
        </p:nvSpPr>
        <p:spPr>
          <a:xfrm>
            <a:off x="457200" y="5074920"/>
            <a:ext cx="1371600" cy="1097280"/>
          </a:xfrm>
          <a:prstGeom prst="rect">
            <a:avLst/>
          </a:prstGeom>
          <a:noFill/>
          <a:ln/>
        </p:spPr>
        <p:txBody>
          <a:bodyPr wrap="square" lIns="0" tIns="0" rIns="0" bIns="0" rtlCol="0" anchor="ct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What changes</a:t>
            </a:r>
            <a:endParaRPr lang="en-US" sz="1050" dirty="0"/>
          </a:p>
        </p:txBody>
      </p:sp>
      <p:sp>
        <p:nvSpPr>
          <p:cNvPr id="61" name="Shape 59"/>
          <p:cNvSpPr/>
          <p:nvPr/>
        </p:nvSpPr>
        <p:spPr>
          <a:xfrm>
            <a:off x="1965960" y="5074920"/>
            <a:ext cx="1865925" cy="1097280"/>
          </a:xfrm>
          <a:prstGeom prst="roundRect">
            <a:avLst>
              <a:gd name="adj" fmla="val 6667"/>
            </a:avLst>
          </a:prstGeom>
          <a:solidFill>
            <a:srgbClr val="E5F7EC"/>
          </a:solidFill>
          <a:ln w="9525">
            <a:solidFill>
              <a:srgbClr val="E5F7EC"/>
            </a:solidFill>
            <a:prstDash val="solid"/>
          </a:ln>
        </p:spPr>
      </p:sp>
      <p:sp>
        <p:nvSpPr>
          <p:cNvPr id="62" name="Text 60"/>
          <p:cNvSpPr txBox="1"/>
          <p:nvPr/>
        </p:nvSpPr>
        <p:spPr>
          <a:xfrm>
            <a:off x="2093976" y="5184648"/>
            <a:ext cx="1609893" cy="91440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Nibh euismod gravida lorem ipsum dolor.</a:t>
            </a:r>
            <a:endParaRPr lang="en-US" sz="1150" dirty="0"/>
          </a:p>
        </p:txBody>
      </p:sp>
      <p:sp>
        <p:nvSpPr>
          <p:cNvPr id="63" name="Shape 61"/>
          <p:cNvSpPr/>
          <p:nvPr/>
        </p:nvSpPr>
        <p:spPr>
          <a:xfrm>
            <a:off x="3941613" y="5074920"/>
            <a:ext cx="1865925" cy="1097280"/>
          </a:xfrm>
          <a:prstGeom prst="roundRect">
            <a:avLst>
              <a:gd name="adj" fmla="val 6667"/>
            </a:avLst>
          </a:prstGeom>
          <a:solidFill>
            <a:srgbClr val="E5F7EC"/>
          </a:solidFill>
          <a:ln w="9525">
            <a:solidFill>
              <a:srgbClr val="E5F7EC"/>
            </a:solidFill>
            <a:prstDash val="solid"/>
          </a:ln>
        </p:spPr>
      </p:sp>
      <p:sp>
        <p:nvSpPr>
          <p:cNvPr id="64" name="Text 62"/>
          <p:cNvSpPr txBox="1"/>
          <p:nvPr/>
        </p:nvSpPr>
        <p:spPr>
          <a:xfrm>
            <a:off x="4069629" y="5184648"/>
            <a:ext cx="1609893" cy="91440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Amet consectetur adipiscing elit sed do.</a:t>
            </a:r>
            <a:endParaRPr lang="en-US" sz="1150" dirty="0"/>
          </a:p>
        </p:txBody>
      </p:sp>
      <p:sp>
        <p:nvSpPr>
          <p:cNvPr id="65" name="Shape 63"/>
          <p:cNvSpPr/>
          <p:nvPr/>
        </p:nvSpPr>
        <p:spPr>
          <a:xfrm>
            <a:off x="5917265" y="5074920"/>
            <a:ext cx="1865925" cy="1097280"/>
          </a:xfrm>
          <a:prstGeom prst="roundRect">
            <a:avLst>
              <a:gd name="adj" fmla="val 6667"/>
            </a:avLst>
          </a:prstGeom>
          <a:solidFill>
            <a:srgbClr val="E5F7EC"/>
          </a:solidFill>
          <a:ln w="9525">
            <a:solidFill>
              <a:srgbClr val="E5F7EC"/>
            </a:solidFill>
            <a:prstDash val="solid"/>
          </a:ln>
        </p:spPr>
      </p:sp>
      <p:sp>
        <p:nvSpPr>
          <p:cNvPr id="66" name="Text 64"/>
          <p:cNvSpPr txBox="1"/>
          <p:nvPr/>
        </p:nvSpPr>
        <p:spPr>
          <a:xfrm>
            <a:off x="6045281" y="5184648"/>
            <a:ext cx="1609893" cy="91440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Tempor incididunt ut labore et dolore.</a:t>
            </a:r>
            <a:endParaRPr lang="en-US" sz="1150" dirty="0"/>
          </a:p>
        </p:txBody>
      </p:sp>
      <p:sp>
        <p:nvSpPr>
          <p:cNvPr id="67" name="Shape 65"/>
          <p:cNvSpPr/>
          <p:nvPr/>
        </p:nvSpPr>
        <p:spPr>
          <a:xfrm>
            <a:off x="7892918" y="5074920"/>
            <a:ext cx="1865925" cy="1097280"/>
          </a:xfrm>
          <a:prstGeom prst="roundRect">
            <a:avLst>
              <a:gd name="adj" fmla="val 6667"/>
            </a:avLst>
          </a:prstGeom>
          <a:solidFill>
            <a:srgbClr val="E5F7EC"/>
          </a:solidFill>
          <a:ln w="9525">
            <a:solidFill>
              <a:srgbClr val="E5F7EC"/>
            </a:solidFill>
            <a:prstDash val="solid"/>
          </a:ln>
        </p:spPr>
      </p:sp>
      <p:sp>
        <p:nvSpPr>
          <p:cNvPr id="68" name="Text 66"/>
          <p:cNvSpPr txBox="1"/>
          <p:nvPr/>
        </p:nvSpPr>
        <p:spPr>
          <a:xfrm>
            <a:off x="8020934" y="5184648"/>
            <a:ext cx="1609893" cy="91440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Aliqua ut enim ad minim veniam.</a:t>
            </a:r>
            <a:endParaRPr lang="en-US" sz="1150" dirty="0"/>
          </a:p>
        </p:txBody>
      </p:sp>
      <p:sp>
        <p:nvSpPr>
          <p:cNvPr id="69" name="Shape 67"/>
          <p:cNvSpPr/>
          <p:nvPr/>
        </p:nvSpPr>
        <p:spPr>
          <a:xfrm>
            <a:off x="9868571" y="5074920"/>
            <a:ext cx="1865925" cy="1097280"/>
          </a:xfrm>
          <a:prstGeom prst="roundRect">
            <a:avLst>
              <a:gd name="adj" fmla="val 6667"/>
            </a:avLst>
          </a:prstGeom>
          <a:solidFill>
            <a:srgbClr val="E5F7EC"/>
          </a:solidFill>
          <a:ln w="9525">
            <a:solidFill>
              <a:srgbClr val="E5F7EC"/>
            </a:solidFill>
            <a:prstDash val="solid"/>
          </a:ln>
        </p:spPr>
      </p:sp>
      <p:sp>
        <p:nvSpPr>
          <p:cNvPr id="70" name="Text 68"/>
          <p:cNvSpPr txBox="1"/>
          <p:nvPr/>
        </p:nvSpPr>
        <p:spPr>
          <a:xfrm>
            <a:off x="9996587" y="5184648"/>
            <a:ext cx="1609893" cy="91440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Nostrud exercitation ullamco laboris nisi 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KEY TOUCHPOINTS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Ex ea commodo consequat duis aute irure dolor in</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SLD-MESSAGING-01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09 / 13</a:t>
            </a:r>
            <a:endParaRPr lang="en-US" sz="1050" dirty="0"/>
          </a:p>
        </p:txBody>
      </p:sp>
      <p:sp>
        <p:nvSpPr>
          <p:cNvPr id="7" name="Shape 5"/>
          <p:cNvSpPr/>
          <p:nvPr/>
        </p:nvSpPr>
        <p:spPr>
          <a:xfrm>
            <a:off x="8442655" y="384048"/>
            <a:ext cx="3291840" cy="310896"/>
          </a:xfrm>
          <a:prstGeom prst="roundRect">
            <a:avLst>
              <a:gd name="adj" fmla="val 23529"/>
            </a:avLst>
          </a:prstGeom>
          <a:solidFill>
            <a:srgbClr val="FFF0E5"/>
          </a:solidFill>
          <a:ln w="9525">
            <a:solidFill>
              <a:srgbClr val="FFF0E5"/>
            </a:solidFill>
            <a:prstDash val="solid"/>
          </a:ln>
        </p:spPr>
      </p:sp>
      <p:sp>
        <p:nvSpPr>
          <p:cNvPr id="8" name="Text 6"/>
          <p:cNvSpPr txBox="1"/>
          <p:nvPr/>
        </p:nvSpPr>
        <p:spPr>
          <a:xfrm>
            <a:off x="8442655" y="384048"/>
            <a:ext cx="3291840" cy="310896"/>
          </a:xfrm>
          <a:prstGeom prst="rect">
            <a:avLst/>
          </a:prstGeom>
          <a:noFill/>
          <a:ln/>
        </p:spPr>
        <p:txBody>
          <a:bodyPr wrap="square" lIns="0" tIns="0" rIns="0" bIns="0" rtlCol="0" anchor="ctr"/>
          <a:lstStyle/>
          <a:p>
            <a:pPr algn="ctr" indent="0" marL="0">
              <a:buNone/>
            </a:pPr>
            <a:r>
              <a:rPr lang="en-US" sz="1050" b="1" dirty="0">
                <a:solidFill>
                  <a:srgbClr val="A84600"/>
                </a:solidFill>
                <a:latin typeface="Hanken Grotesk" pitchFamily="34" charset="0"/>
                <a:ea typeface="Hanken Grotesk" pitchFamily="34" charset="-122"/>
                <a:cs typeface="Hanken Grotesk" pitchFamily="34" charset="-120"/>
              </a:rPr>
              <a:t>Restricted pattern · approval needed</a:t>
            </a:r>
            <a:endParaRPr lang="en-US" sz="1050" dirty="0"/>
          </a:p>
        </p:txBody>
      </p:sp>
      <p:sp>
        <p:nvSpPr>
          <p:cNvPr id="9" name="Shape 7"/>
          <p:cNvSpPr/>
          <p:nvPr/>
        </p:nvSpPr>
        <p:spPr>
          <a:xfrm>
            <a:off x="1301198" y="1790313"/>
            <a:ext cx="2041579" cy="4328482"/>
          </a:xfrm>
          <a:prstGeom prst="roundRect">
            <a:avLst>
              <a:gd name="adj" fmla="val 13437"/>
            </a:avLst>
          </a:prstGeom>
          <a:solidFill>
            <a:srgbClr val="ECECEA"/>
          </a:solidFill>
          <a:ln w="9525">
            <a:solidFill>
              <a:srgbClr val="ECECEA"/>
            </a:solidFill>
            <a:prstDash val="solid"/>
          </a:ln>
        </p:spPr>
      </p:sp>
      <p:sp>
        <p:nvSpPr>
          <p:cNvPr id="10" name="Text 8"/>
          <p:cNvSpPr txBox="1"/>
          <p:nvPr/>
        </p:nvSpPr>
        <p:spPr>
          <a:xfrm>
            <a:off x="1392638" y="3680234"/>
            <a:ext cx="1858699"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Message mockup</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1" name="Image 0" descr="preencoded.png">    </p:cNvPr>
          <p:cNvPicPr>
            <a:picLocks noChangeAspect="1"/>
          </p:cNvPicPr>
          <p:nvPr/>
        </p:nvPicPr>
        <p:blipFill>
          <a:blip r:embed="rId1"/>
          <a:stretch>
            <a:fillRect/>
          </a:stretch>
        </p:blipFill>
        <p:spPr>
          <a:xfrm>
            <a:off x="1188720" y="1691640"/>
            <a:ext cx="2263140" cy="4526280"/>
          </a:xfrm>
          <a:prstGeom prst="rect">
            <a:avLst/>
          </a:prstGeom>
        </p:spPr>
      </p:pic>
      <p:sp>
        <p:nvSpPr>
          <p:cNvPr id="12" name="Text 9"/>
          <p:cNvSpPr txBox="1"/>
          <p:nvPr/>
        </p:nvSpPr>
        <p:spPr>
          <a:xfrm>
            <a:off x="4549140" y="1737360"/>
            <a:ext cx="4572000" cy="274320"/>
          </a:xfrm>
          <a:prstGeom prst="rect">
            <a:avLst/>
          </a:prstGeom>
          <a:noFill/>
          <a:ln/>
        </p:spPr>
        <p:txBody>
          <a:bodyPr wrap="square" lIns="0" tIns="0" rIns="0" bIns="0" rtlCol="0" anchor="t"/>
          <a:lstStyle/>
          <a:p>
            <a:pPr indent="0" marL="0">
              <a:buNone/>
            </a:pPr>
            <a:r>
              <a:rPr lang="en-US" sz="1050" b="1" spc="100" kern="0" dirty="0">
                <a:solidFill>
                  <a:srgbClr val="009CDE"/>
                </a:solidFill>
                <a:latin typeface="Hanken Grotesk" pitchFamily="34" charset="0"/>
                <a:ea typeface="Hanken Grotesk" pitchFamily="34" charset="-122"/>
                <a:cs typeface="Hanken Grotesk" pitchFamily="34" charset="-120"/>
              </a:rPr>
              <a:t>SMS · T–30 DAYS</a:t>
            </a:r>
            <a:endParaRPr lang="en-US" sz="1050" dirty="0"/>
          </a:p>
        </p:txBody>
      </p:sp>
      <p:sp>
        <p:nvSpPr>
          <p:cNvPr id="13" name="Shape 10"/>
          <p:cNvSpPr/>
          <p:nvPr/>
        </p:nvSpPr>
        <p:spPr>
          <a:xfrm>
            <a:off x="4549140" y="2194560"/>
            <a:ext cx="329184" cy="329184"/>
          </a:xfrm>
          <a:prstGeom prst="ellipse">
            <a:avLst/>
          </a:prstGeom>
          <a:solidFill>
            <a:srgbClr val="009CDE"/>
          </a:solidFill>
          <a:ln w="12700">
            <a:solidFill>
              <a:srgbClr val="009CDE"/>
            </a:solidFill>
            <a:prstDash val="solid"/>
          </a:ln>
        </p:spPr>
      </p:sp>
      <p:sp>
        <p:nvSpPr>
          <p:cNvPr id="14" name="Text 11"/>
          <p:cNvSpPr txBox="1"/>
          <p:nvPr/>
        </p:nvSpPr>
        <p:spPr>
          <a:xfrm>
            <a:off x="4549140" y="219456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1</a:t>
            </a:r>
            <a:endParaRPr lang="en-US" sz="1050" dirty="0"/>
          </a:p>
        </p:txBody>
      </p:sp>
      <p:sp>
        <p:nvSpPr>
          <p:cNvPr id="15" name="Text 12"/>
          <p:cNvSpPr txBox="1"/>
          <p:nvPr/>
        </p:nvSpPr>
        <p:spPr>
          <a:xfrm>
            <a:off x="5024628" y="2176272"/>
            <a:ext cx="6709867"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Labore et dolore</a:t>
            </a:r>
            <a:endParaRPr lang="en-US" sz="1500" dirty="0"/>
          </a:p>
        </p:txBody>
      </p:sp>
      <p:sp>
        <p:nvSpPr>
          <p:cNvPr id="16" name="Text 13"/>
          <p:cNvSpPr txBox="1"/>
          <p:nvPr/>
        </p:nvSpPr>
        <p:spPr>
          <a:xfrm>
            <a:off x="5024628" y="2505456"/>
            <a:ext cx="6709867" cy="685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Deserunt mollit anim id est laborum curabitur pretium tincidunt lacus nulla gravida orci a odio.</a:t>
            </a:r>
            <a:endParaRPr lang="en-US" sz="1350" dirty="0"/>
          </a:p>
        </p:txBody>
      </p:sp>
      <p:sp>
        <p:nvSpPr>
          <p:cNvPr id="17" name="Shape 14"/>
          <p:cNvSpPr/>
          <p:nvPr/>
        </p:nvSpPr>
        <p:spPr>
          <a:xfrm>
            <a:off x="4549140" y="3520440"/>
            <a:ext cx="329184" cy="329184"/>
          </a:xfrm>
          <a:prstGeom prst="ellipse">
            <a:avLst/>
          </a:prstGeom>
          <a:solidFill>
            <a:srgbClr val="009CDE"/>
          </a:solidFill>
          <a:ln w="12700">
            <a:solidFill>
              <a:srgbClr val="009CDE"/>
            </a:solidFill>
            <a:prstDash val="solid"/>
          </a:ln>
        </p:spPr>
      </p:sp>
      <p:sp>
        <p:nvSpPr>
          <p:cNvPr id="18" name="Text 15"/>
          <p:cNvSpPr txBox="1"/>
          <p:nvPr/>
        </p:nvSpPr>
        <p:spPr>
          <a:xfrm>
            <a:off x="4549140" y="352044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2</a:t>
            </a:r>
            <a:endParaRPr lang="en-US" sz="1050" dirty="0"/>
          </a:p>
        </p:txBody>
      </p:sp>
      <p:sp>
        <p:nvSpPr>
          <p:cNvPr id="19" name="Text 16"/>
          <p:cNvSpPr txBox="1"/>
          <p:nvPr/>
        </p:nvSpPr>
        <p:spPr>
          <a:xfrm>
            <a:off x="5024628" y="3502152"/>
            <a:ext cx="6709867"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Fugiat nulla pariatur</a:t>
            </a:r>
            <a:endParaRPr lang="en-US" sz="1500" dirty="0"/>
          </a:p>
        </p:txBody>
      </p:sp>
      <p:sp>
        <p:nvSpPr>
          <p:cNvPr id="20" name="Text 17"/>
          <p:cNvSpPr txBox="1"/>
          <p:nvPr/>
        </p:nvSpPr>
        <p:spPr>
          <a:xfrm>
            <a:off x="5024628" y="3831336"/>
            <a:ext cx="6709867" cy="685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Amet consectetur adipiscing elit sed do eiusmod tempor incididunt ut labore et dolore magna aliqua.</a:t>
            </a:r>
            <a:endParaRPr lang="en-US" sz="1350" dirty="0"/>
          </a:p>
        </p:txBody>
      </p:sp>
      <p:sp>
        <p:nvSpPr>
          <p:cNvPr id="21" name="Shape 18"/>
          <p:cNvSpPr/>
          <p:nvPr/>
        </p:nvSpPr>
        <p:spPr>
          <a:xfrm>
            <a:off x="4549140" y="4846320"/>
            <a:ext cx="329184" cy="329184"/>
          </a:xfrm>
          <a:prstGeom prst="ellipse">
            <a:avLst/>
          </a:prstGeom>
          <a:solidFill>
            <a:srgbClr val="009CDE"/>
          </a:solidFill>
          <a:ln w="12700">
            <a:solidFill>
              <a:srgbClr val="009CDE"/>
            </a:solidFill>
            <a:prstDash val="solid"/>
          </a:ln>
        </p:spPr>
      </p:sp>
      <p:sp>
        <p:nvSpPr>
          <p:cNvPr id="22" name="Text 19"/>
          <p:cNvSpPr txBox="1"/>
          <p:nvPr/>
        </p:nvSpPr>
        <p:spPr>
          <a:xfrm>
            <a:off x="4549140" y="484632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3</a:t>
            </a:r>
            <a:endParaRPr lang="en-US" sz="1050" dirty="0"/>
          </a:p>
        </p:txBody>
      </p:sp>
      <p:sp>
        <p:nvSpPr>
          <p:cNvPr id="23" name="Text 20"/>
          <p:cNvSpPr txBox="1"/>
          <p:nvPr/>
        </p:nvSpPr>
        <p:spPr>
          <a:xfrm>
            <a:off x="5024628" y="4828032"/>
            <a:ext cx="6709867"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Est eros bibendum</a:t>
            </a:r>
            <a:endParaRPr lang="en-US" sz="1500" dirty="0"/>
          </a:p>
        </p:txBody>
      </p:sp>
      <p:sp>
        <p:nvSpPr>
          <p:cNvPr id="24" name="Text 21"/>
          <p:cNvSpPr txBox="1"/>
          <p:nvPr/>
        </p:nvSpPr>
        <p:spPr>
          <a:xfrm>
            <a:off x="5024628" y="5157216"/>
            <a:ext cx="6709867" cy="685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Cillum dolore eu fugiat nulla pariatur excepteur sint occaecat cupidatat non proident sunt in culpa.</a:t>
            </a:r>
            <a:endParaRPr lang="en-US" sz="1350" dirty="0"/>
          </a:p>
        </p:txBody>
      </p:sp>
      <p:sp>
        <p:nvSpPr>
          <p:cNvPr id="25" name="Text 22"/>
          <p:cNvSpPr txBox="1"/>
          <p:nvPr/>
        </p:nvSpPr>
        <p:spPr>
          <a:xfrm>
            <a:off x="4549140" y="5989320"/>
            <a:ext cx="7185355"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Message copy comes from the owner. Uses MSG-SMS-01 (proposed), which needs approval for each deck.</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CREATIVE DIRECTION</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Sint occaecat cupidatat non proident sunt in culpa qui officia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SLD-DEVICE-TRIO-01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10 / 13</a:t>
            </a:r>
            <a:endParaRPr lang="en-US" sz="1050" dirty="0"/>
          </a:p>
        </p:txBody>
      </p:sp>
      <p:sp>
        <p:nvSpPr>
          <p:cNvPr id="7" name="Shape 5"/>
          <p:cNvSpPr/>
          <p:nvPr/>
        </p:nvSpPr>
        <p:spPr>
          <a:xfrm>
            <a:off x="991658" y="2353775"/>
            <a:ext cx="1402296" cy="2973098"/>
          </a:xfrm>
          <a:prstGeom prst="roundRect">
            <a:avLst>
              <a:gd name="adj" fmla="val 14000"/>
            </a:avLst>
          </a:prstGeom>
          <a:solidFill>
            <a:srgbClr val="ECECEA"/>
          </a:solidFill>
          <a:ln w="9525">
            <a:solidFill>
              <a:srgbClr val="ECECEA"/>
            </a:solidFill>
            <a:prstDash val="solid"/>
          </a:ln>
        </p:spPr>
      </p:sp>
      <p:sp>
        <p:nvSpPr>
          <p:cNvPr id="8" name="Text 6"/>
          <p:cNvSpPr txBox="1"/>
          <p:nvPr/>
        </p:nvSpPr>
        <p:spPr>
          <a:xfrm>
            <a:off x="1083098" y="3566005"/>
            <a:ext cx="1219416"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Phone</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9" name="Image 0" descr="preencoded.png">    </p:cNvPr>
          <p:cNvPicPr>
            <a:picLocks noChangeAspect="1"/>
          </p:cNvPicPr>
          <p:nvPr/>
        </p:nvPicPr>
        <p:blipFill>
          <a:blip r:embed="rId1"/>
          <a:stretch>
            <a:fillRect/>
          </a:stretch>
        </p:blipFill>
        <p:spPr>
          <a:xfrm>
            <a:off x="914400" y="2286000"/>
            <a:ext cx="1554480" cy="3108960"/>
          </a:xfrm>
          <a:prstGeom prst="rect">
            <a:avLst/>
          </a:prstGeom>
        </p:spPr>
      </p:pic>
      <p:sp>
        <p:nvSpPr>
          <p:cNvPr id="10" name="Shape 7"/>
          <p:cNvSpPr/>
          <p:nvPr/>
        </p:nvSpPr>
        <p:spPr>
          <a:xfrm>
            <a:off x="3041395" y="1945413"/>
            <a:ext cx="2500594" cy="3335786"/>
          </a:xfrm>
          <a:prstGeom prst="roundRect">
            <a:avLst>
              <a:gd name="adj" fmla="val 10970"/>
            </a:avLst>
          </a:prstGeom>
          <a:solidFill>
            <a:srgbClr val="ECECEA"/>
          </a:solidFill>
          <a:ln w="9525">
            <a:solidFill>
              <a:srgbClr val="ECECEA"/>
            </a:solidFill>
            <a:prstDash val="solid"/>
          </a:ln>
        </p:spPr>
      </p:sp>
      <p:sp>
        <p:nvSpPr>
          <p:cNvPr id="11" name="Text 8"/>
          <p:cNvSpPr txBox="1"/>
          <p:nvPr/>
        </p:nvSpPr>
        <p:spPr>
          <a:xfrm>
            <a:off x="3132835" y="3338986"/>
            <a:ext cx="2317714"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Tablet</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2" name="Image 1" descr="preencoded.png">    </p:cNvPr>
          <p:cNvPicPr>
            <a:picLocks noChangeAspect="1"/>
          </p:cNvPicPr>
          <p:nvPr/>
        </p:nvPicPr>
        <p:blipFill>
          <a:blip r:embed="rId2"/>
          <a:stretch>
            <a:fillRect/>
          </a:stretch>
        </p:blipFill>
        <p:spPr>
          <a:xfrm>
            <a:off x="2926080" y="1828800"/>
            <a:ext cx="2732591" cy="3566160"/>
          </a:xfrm>
          <a:prstGeom prst="rect">
            <a:avLst/>
          </a:prstGeom>
        </p:spPr>
      </p:pic>
      <p:sp>
        <p:nvSpPr>
          <p:cNvPr id="13" name="Shape 9"/>
          <p:cNvSpPr/>
          <p:nvPr/>
        </p:nvSpPr>
        <p:spPr>
          <a:xfrm>
            <a:off x="6571976" y="2288908"/>
            <a:ext cx="4418381" cy="2774969"/>
          </a:xfrm>
          <a:prstGeom prst="roundRect">
            <a:avLst>
              <a:gd name="adj" fmla="val 1318"/>
            </a:avLst>
          </a:prstGeom>
          <a:solidFill>
            <a:srgbClr val="ECECEA"/>
          </a:solidFill>
          <a:ln w="9525">
            <a:solidFill>
              <a:srgbClr val="ECECEA"/>
            </a:solidFill>
            <a:prstDash val="solid"/>
          </a:ln>
        </p:spPr>
      </p:sp>
      <p:sp>
        <p:nvSpPr>
          <p:cNvPr id="14" name="Text 10"/>
          <p:cNvSpPr txBox="1"/>
          <p:nvPr/>
        </p:nvSpPr>
        <p:spPr>
          <a:xfrm>
            <a:off x="6663416" y="3402072"/>
            <a:ext cx="4235501"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Laptop</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5" name="Image 2" descr="preencoded.png">    </p:cNvPr>
          <p:cNvPicPr>
            <a:picLocks noChangeAspect="1"/>
          </p:cNvPicPr>
          <p:nvPr/>
        </p:nvPicPr>
        <p:blipFill>
          <a:blip r:embed="rId3"/>
          <a:stretch>
            <a:fillRect/>
          </a:stretch>
        </p:blipFill>
        <p:spPr>
          <a:xfrm>
            <a:off x="5852160" y="2097314"/>
            <a:ext cx="5852160" cy="3297646"/>
          </a:xfrm>
          <a:prstGeom prst="rect">
            <a:avLst/>
          </a:prstGeom>
        </p:spPr>
      </p:pic>
      <p:sp>
        <p:nvSpPr>
          <p:cNvPr id="16" name="Text 11"/>
          <p:cNvSpPr txBox="1"/>
          <p:nvPr/>
        </p:nvSpPr>
        <p:spPr>
          <a:xfrm>
            <a:off x="914400" y="5532120"/>
            <a:ext cx="1554480" cy="274320"/>
          </a:xfrm>
          <a:prstGeom prst="rect">
            <a:avLst/>
          </a:prstGeom>
          <a:noFill/>
          <a:ln/>
        </p:spPr>
        <p:txBody>
          <a:bodyPr wrap="square" lIns="0" tIns="0" rIns="0" bIns="0" rtlCol="0" anchor="t"/>
          <a:lstStyle/>
          <a:p>
            <a:pPr algn="ctr" indent="0" marL="0">
              <a:buNone/>
            </a:pPr>
            <a:r>
              <a:rPr lang="en-US" sz="1050" b="1" dirty="0">
                <a:solidFill>
                  <a:srgbClr val="63666A"/>
                </a:solidFill>
                <a:latin typeface="Hanken Grotesk" pitchFamily="34" charset="0"/>
                <a:ea typeface="Hanken Grotesk" pitchFamily="34" charset="-122"/>
                <a:cs typeface="Hanken Grotesk" pitchFamily="34" charset="-120"/>
              </a:rPr>
              <a:t>Phone</a:t>
            </a:r>
            <a:endParaRPr lang="en-US" sz="1050" dirty="0"/>
          </a:p>
        </p:txBody>
      </p:sp>
      <p:sp>
        <p:nvSpPr>
          <p:cNvPr id="17" name="Text 12"/>
          <p:cNvSpPr txBox="1"/>
          <p:nvPr/>
        </p:nvSpPr>
        <p:spPr>
          <a:xfrm>
            <a:off x="2926080" y="5532120"/>
            <a:ext cx="2732591" cy="274320"/>
          </a:xfrm>
          <a:prstGeom prst="rect">
            <a:avLst/>
          </a:prstGeom>
          <a:noFill/>
          <a:ln/>
        </p:spPr>
        <p:txBody>
          <a:bodyPr wrap="square" lIns="0" tIns="0" rIns="0" bIns="0" rtlCol="0" anchor="t"/>
          <a:lstStyle/>
          <a:p>
            <a:pPr algn="ctr" indent="0" marL="0">
              <a:buNone/>
            </a:pPr>
            <a:r>
              <a:rPr lang="en-US" sz="1050" b="1" dirty="0">
                <a:solidFill>
                  <a:srgbClr val="63666A"/>
                </a:solidFill>
                <a:latin typeface="Hanken Grotesk" pitchFamily="34" charset="0"/>
                <a:ea typeface="Hanken Grotesk" pitchFamily="34" charset="-122"/>
                <a:cs typeface="Hanken Grotesk" pitchFamily="34" charset="-120"/>
              </a:rPr>
              <a:t>Tablet</a:t>
            </a:r>
            <a:endParaRPr lang="en-US" sz="1050" dirty="0"/>
          </a:p>
        </p:txBody>
      </p:sp>
      <p:sp>
        <p:nvSpPr>
          <p:cNvPr id="18" name="Text 13"/>
          <p:cNvSpPr txBox="1"/>
          <p:nvPr/>
        </p:nvSpPr>
        <p:spPr>
          <a:xfrm>
            <a:off x="5852160" y="5532120"/>
            <a:ext cx="5852160" cy="274320"/>
          </a:xfrm>
          <a:prstGeom prst="rect">
            <a:avLst/>
          </a:prstGeom>
          <a:noFill/>
          <a:ln/>
        </p:spPr>
        <p:txBody>
          <a:bodyPr wrap="square" lIns="0" tIns="0" rIns="0" bIns="0" rtlCol="0" anchor="t"/>
          <a:lstStyle/>
          <a:p>
            <a:pPr algn="ctr" indent="0" marL="0">
              <a:buNone/>
            </a:pPr>
            <a:r>
              <a:rPr lang="en-US" sz="1050" b="1" dirty="0">
                <a:solidFill>
                  <a:srgbClr val="63666A"/>
                </a:solidFill>
                <a:latin typeface="Hanken Grotesk" pitchFamily="34" charset="0"/>
                <a:ea typeface="Hanken Grotesk" pitchFamily="34" charset="-122"/>
                <a:cs typeface="Hanken Grotesk" pitchFamily="34" charset="-120"/>
              </a:rPr>
              <a:t>Laptop</a:t>
            </a:r>
            <a:endParaRPr lang="en-US" sz="1050" dirty="0"/>
          </a:p>
        </p:txBody>
      </p:sp>
      <p:sp>
        <p:nvSpPr>
          <p:cNvPr id="19" name="Text 14"/>
          <p:cNvSpPr txBox="1"/>
          <p:nvPr/>
        </p:nvSpPr>
        <p:spPr>
          <a:xfrm>
            <a:off x="457200" y="5943600"/>
            <a:ext cx="11277295" cy="36576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Est eros bibendum elit nec luctus magna felis sollicitudin mauris integer in mauris eu nibh euismod gravida lorem ipsum dolor.</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SUPPORTING EVIDENCE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Gravida orci a odio nullam varius turpis et commodo pharetra est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SLD-2COL-01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11 / 13</a:t>
            </a:r>
            <a:endParaRPr lang="en-US" sz="1050" dirty="0"/>
          </a:p>
        </p:txBody>
      </p:sp>
      <p:sp>
        <p:nvSpPr>
          <p:cNvPr id="7" name="Shape 5"/>
          <p:cNvSpPr/>
          <p:nvPr/>
        </p:nvSpPr>
        <p:spPr>
          <a:xfrm>
            <a:off x="457200" y="1783080"/>
            <a:ext cx="5486400" cy="4343400"/>
          </a:xfrm>
          <a:prstGeom prst="roundRect">
            <a:avLst>
              <a:gd name="adj" fmla="val 2526"/>
            </a:avLst>
          </a:prstGeom>
          <a:solidFill>
            <a:srgbClr val="FFFFFF"/>
          </a:solidFill>
          <a:ln w="9525">
            <a:solidFill>
              <a:srgbClr val="D9D9D6"/>
            </a:solidFill>
            <a:prstDash val="solid"/>
          </a:ln>
        </p:spPr>
      </p:sp>
      <p:sp>
        <p:nvSpPr>
          <p:cNvPr id="8" name="Text 6"/>
          <p:cNvSpPr txBox="1"/>
          <p:nvPr/>
        </p:nvSpPr>
        <p:spPr>
          <a:xfrm>
            <a:off x="77724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MESSAGE</a:t>
            </a:r>
            <a:endParaRPr lang="en-US" sz="1050" dirty="0"/>
          </a:p>
        </p:txBody>
      </p:sp>
      <p:sp>
        <p:nvSpPr>
          <p:cNvPr id="9" name="Text 7"/>
          <p:cNvSpPr txBox="1"/>
          <p:nvPr/>
        </p:nvSpPr>
        <p:spPr>
          <a:xfrm>
            <a:off x="777240" y="2423160"/>
            <a:ext cx="4846320" cy="11887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Fugiat nulla pariatur excepteur sint occaecat cupidatat non proident sunt in culpa.</a:t>
            </a:r>
            <a:endParaRPr lang="en-US" sz="2000" dirty="0"/>
          </a:p>
        </p:txBody>
      </p:sp>
      <p:sp>
        <p:nvSpPr>
          <p:cNvPr id="10" name="Text 8"/>
          <p:cNvSpPr txBox="1"/>
          <p:nvPr/>
        </p:nvSpPr>
        <p:spPr>
          <a:xfrm>
            <a:off x="777240" y="3749040"/>
            <a:ext cx="4846320" cy="210312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Amet consectetur adipiscing elit sed do eiusmod tempor incididunt ut labore et dolore magna aliqua ut enim ad minim veniam quis nostrud exercitation ullamco laboris nisi ut aliquip ex ea commodo consequat duis aute irure dolor in reprehenderit in voluptate.</a:t>
            </a:r>
            <a:endParaRPr lang="en-US" sz="1350" dirty="0"/>
          </a:p>
        </p:txBody>
      </p:sp>
      <p:sp>
        <p:nvSpPr>
          <p:cNvPr id="11" name="Shape 9"/>
          <p:cNvSpPr/>
          <p:nvPr/>
        </p:nvSpPr>
        <p:spPr>
          <a:xfrm>
            <a:off x="6263640" y="1783080"/>
            <a:ext cx="5470855" cy="4343400"/>
          </a:xfrm>
          <a:prstGeom prst="roundRect">
            <a:avLst>
              <a:gd name="adj" fmla="val 2526"/>
            </a:avLst>
          </a:prstGeom>
          <a:solidFill>
            <a:srgbClr val="FFFFFF"/>
          </a:solidFill>
          <a:ln w="9525">
            <a:solidFill>
              <a:srgbClr val="D9D9D6"/>
            </a:solidFill>
            <a:prstDash val="solid"/>
          </a:ln>
        </p:spPr>
      </p:sp>
      <p:sp>
        <p:nvSpPr>
          <p:cNvPr id="12" name="Text 10"/>
          <p:cNvSpPr txBox="1"/>
          <p:nvPr/>
        </p:nvSpPr>
        <p:spPr>
          <a:xfrm>
            <a:off x="658368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EVIDENCE</a:t>
            </a:r>
            <a:endParaRPr lang="en-US" sz="1050" dirty="0"/>
          </a:p>
        </p:txBody>
      </p:sp>
      <p:graphicFrame>
        <p:nvGraphicFramePr>
          <p:cNvPr id="13" name="Chart 0" descr=""/>
          <p:cNvGraphicFramePr/>
          <p:nvPr/>
        </p:nvGraphicFramePr>
        <p:xfrm>
          <a:off x="6492240" y="2468880"/>
          <a:ext cx="4967935" cy="25603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6583680" y="5257800"/>
            <a:ext cx="457200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Source: [placeholder] · method · n = 1,200</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EXPECTED IMPACT</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In mauris eu nibh euismod gravida lorem ipsum dolor</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SLD-KPI-GRID-01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12 / 13</a:t>
            </a:r>
            <a:endParaRPr lang="en-US" sz="1050" dirty="0"/>
          </a:p>
        </p:txBody>
      </p:sp>
      <p:sp>
        <p:nvSpPr>
          <p:cNvPr id="7" name="Shape 5"/>
          <p:cNvSpPr/>
          <p:nvPr/>
        </p:nvSpPr>
        <p:spPr>
          <a:xfrm>
            <a:off x="457200" y="1783080"/>
            <a:ext cx="2613584" cy="3108960"/>
          </a:xfrm>
          <a:prstGeom prst="roundRect">
            <a:avLst>
              <a:gd name="adj" fmla="val 4198"/>
            </a:avLst>
          </a:prstGeom>
          <a:solidFill>
            <a:srgbClr val="FFFFFF"/>
          </a:solidFill>
          <a:ln w="9525">
            <a:solidFill>
              <a:srgbClr val="D9D9D6"/>
            </a:solidFill>
            <a:prstDash val="solid"/>
          </a:ln>
        </p:spPr>
      </p:sp>
      <p:sp>
        <p:nvSpPr>
          <p:cNvPr id="8" name="Text 6"/>
          <p:cNvSpPr txBox="1"/>
          <p:nvPr/>
        </p:nvSpPr>
        <p:spPr>
          <a:xfrm>
            <a:off x="731520" y="2057400"/>
            <a:ext cx="2064944" cy="548640"/>
          </a:xfrm>
          <a:prstGeom prst="rect">
            <a:avLst/>
          </a:prstGeom>
          <a:noFill/>
          <a:ln/>
        </p:spPr>
        <p:txBody>
          <a:bodyPr wrap="square" lIns="0" tIns="0" rIns="0" bIns="0" rtlCol="0" anchor="t"/>
          <a:lstStyle/>
          <a:p>
            <a:pPr indent="0" marL="0">
              <a:buNone/>
            </a:pPr>
            <a:r>
              <a:rPr lang="en-US" sz="1350" b="1" dirty="0">
                <a:solidFill>
                  <a:srgbClr val="63666A"/>
                </a:solidFill>
                <a:latin typeface="Hanken Grotesk" pitchFamily="34" charset="0"/>
                <a:ea typeface="Hanken Grotesk" pitchFamily="34" charset="-122"/>
                <a:cs typeface="Hanken Grotesk" pitchFamily="34" charset="-120"/>
              </a:rPr>
              <a:t>Lorem ipsum rate</a:t>
            </a:r>
            <a:endParaRPr lang="en-US" sz="1350" dirty="0"/>
          </a:p>
        </p:txBody>
      </p:sp>
      <p:sp>
        <p:nvSpPr>
          <p:cNvPr id="9" name="Text 7"/>
          <p:cNvSpPr txBox="1"/>
          <p:nvPr/>
        </p:nvSpPr>
        <p:spPr>
          <a:xfrm>
            <a:off x="731520" y="2697480"/>
            <a:ext cx="2064944" cy="77724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46%</a:t>
            </a:r>
            <a:endParaRPr lang="en-US" sz="3200" dirty="0"/>
          </a:p>
        </p:txBody>
      </p:sp>
      <p:sp>
        <p:nvSpPr>
          <p:cNvPr id="10" name="Shape 8"/>
          <p:cNvSpPr/>
          <p:nvPr/>
        </p:nvSpPr>
        <p:spPr>
          <a:xfrm>
            <a:off x="731520" y="3593592"/>
            <a:ext cx="1737360" cy="347472"/>
          </a:xfrm>
          <a:prstGeom prst="roundRect">
            <a:avLst>
              <a:gd name="adj" fmla="val 21053"/>
            </a:avLst>
          </a:prstGeom>
          <a:solidFill>
            <a:srgbClr val="E5F7EC"/>
          </a:solidFill>
          <a:ln w="9525">
            <a:solidFill>
              <a:srgbClr val="E5F7EC"/>
            </a:solidFill>
            <a:prstDash val="solid"/>
          </a:ln>
        </p:spPr>
      </p:sp>
      <p:pic>
        <p:nvPicPr>
          <p:cNvPr id="11" name="Image 0" descr="preencoded.png">    </p:cNvPr>
          <p:cNvPicPr>
            <a:picLocks noChangeAspect="1"/>
          </p:cNvPicPr>
          <p:nvPr/>
        </p:nvPicPr>
        <p:blipFill>
          <a:blip r:embed="rId1"/>
          <a:stretch>
            <a:fillRect/>
          </a:stretch>
        </p:blipFill>
        <p:spPr>
          <a:xfrm>
            <a:off x="822960" y="3657600"/>
            <a:ext cx="219456" cy="219456"/>
          </a:xfrm>
          <a:prstGeom prst="rect">
            <a:avLst/>
          </a:prstGeom>
        </p:spPr>
      </p:pic>
      <p:sp>
        <p:nvSpPr>
          <p:cNvPr id="12" name="Text 9"/>
          <p:cNvSpPr txBox="1"/>
          <p:nvPr/>
        </p:nvSpPr>
        <p:spPr>
          <a:xfrm>
            <a:off x="1115568" y="3593592"/>
            <a:ext cx="1325880" cy="347472"/>
          </a:xfrm>
          <a:prstGeom prst="rect">
            <a:avLst/>
          </a:prstGeom>
          <a:noFill/>
          <a:ln/>
        </p:spPr>
        <p:txBody>
          <a:bodyPr wrap="square" lIns="0" tIns="0" rIns="0" bIns="0" rtlCol="0" anchor="ctr"/>
          <a:lstStyle/>
          <a:p>
            <a:pPr indent="0" marL="0">
              <a:buNone/>
            </a:pPr>
            <a:r>
              <a:rPr lang="en-US" sz="1050" b="1" dirty="0">
                <a:solidFill>
                  <a:srgbClr val="007A2C"/>
                </a:solidFill>
                <a:latin typeface="Hanken Grotesk" pitchFamily="34" charset="0"/>
                <a:ea typeface="Hanken Grotesk" pitchFamily="34" charset="-122"/>
                <a:cs typeface="Hanken Grotesk" pitchFamily="34" charset="-120"/>
              </a:rPr>
              <a:t>Up</a:t>
            </a:r>
            <a:endParaRPr lang="en-US" sz="1050" dirty="0"/>
          </a:p>
        </p:txBody>
      </p:sp>
      <p:sp>
        <p:nvSpPr>
          <p:cNvPr id="13" name="Text 10"/>
          <p:cNvSpPr txBox="1"/>
          <p:nvPr/>
        </p:nvSpPr>
        <p:spPr>
          <a:xfrm>
            <a:off x="731520" y="4069080"/>
            <a:ext cx="2064944" cy="685800"/>
          </a:xfrm>
          <a:prstGeom prst="rect">
            <a:avLst/>
          </a:prstGeom>
          <a:noFill/>
          <a:ln/>
        </p:spPr>
        <p:txBody>
          <a:bodyPr wrap="square" lIns="0" tIns="0" rIns="0" bIns="0" rtlCol="0" anchor="t"/>
          <a:lstStyle/>
          <a:p>
            <a:pPr indent="0" marL="0">
              <a:buNone/>
            </a:pPr>
            <a:r>
              <a:rPr lang="en-US" sz="1150" dirty="0">
                <a:solidFill>
                  <a:srgbClr val="63666A"/>
                </a:solidFill>
                <a:latin typeface="Hanken Grotesk" pitchFamily="34" charset="0"/>
                <a:ea typeface="Hanken Grotesk" pitchFamily="34" charset="-122"/>
                <a:cs typeface="Hanken Grotesk" pitchFamily="34" charset="-120"/>
              </a:rPr>
              <a:t>34% → 46% vs baseline</a:t>
            </a:r>
            <a:endParaRPr lang="en-US" sz="1150" dirty="0"/>
          </a:p>
        </p:txBody>
      </p:sp>
      <p:sp>
        <p:nvSpPr>
          <p:cNvPr id="14" name="Shape 11"/>
          <p:cNvSpPr/>
          <p:nvPr/>
        </p:nvSpPr>
        <p:spPr>
          <a:xfrm>
            <a:off x="3345104" y="1783080"/>
            <a:ext cx="2613584" cy="3108960"/>
          </a:xfrm>
          <a:prstGeom prst="roundRect">
            <a:avLst>
              <a:gd name="adj" fmla="val 4198"/>
            </a:avLst>
          </a:prstGeom>
          <a:solidFill>
            <a:srgbClr val="FFFFFF"/>
          </a:solidFill>
          <a:ln w="9525">
            <a:solidFill>
              <a:srgbClr val="D9D9D6"/>
            </a:solidFill>
            <a:prstDash val="solid"/>
          </a:ln>
        </p:spPr>
      </p:sp>
      <p:sp>
        <p:nvSpPr>
          <p:cNvPr id="15" name="Text 12"/>
          <p:cNvSpPr txBox="1"/>
          <p:nvPr/>
        </p:nvSpPr>
        <p:spPr>
          <a:xfrm>
            <a:off x="3619424" y="2057400"/>
            <a:ext cx="2064944" cy="548640"/>
          </a:xfrm>
          <a:prstGeom prst="rect">
            <a:avLst/>
          </a:prstGeom>
          <a:noFill/>
          <a:ln/>
        </p:spPr>
        <p:txBody>
          <a:bodyPr wrap="square" lIns="0" tIns="0" rIns="0" bIns="0" rtlCol="0" anchor="t"/>
          <a:lstStyle/>
          <a:p>
            <a:pPr indent="0" marL="0">
              <a:buNone/>
            </a:pPr>
            <a:r>
              <a:rPr lang="en-US" sz="1350" b="1" dirty="0">
                <a:solidFill>
                  <a:srgbClr val="63666A"/>
                </a:solidFill>
                <a:latin typeface="Hanken Grotesk" pitchFamily="34" charset="0"/>
                <a:ea typeface="Hanken Grotesk" pitchFamily="34" charset="-122"/>
                <a:cs typeface="Hanken Grotesk" pitchFamily="34" charset="-120"/>
              </a:rPr>
              <a:t>Dolor sit time</a:t>
            </a:r>
            <a:endParaRPr lang="en-US" sz="1350" dirty="0"/>
          </a:p>
        </p:txBody>
      </p:sp>
      <p:sp>
        <p:nvSpPr>
          <p:cNvPr id="16" name="Text 13"/>
          <p:cNvSpPr txBox="1"/>
          <p:nvPr/>
        </p:nvSpPr>
        <p:spPr>
          <a:xfrm>
            <a:off x="3619424" y="2697480"/>
            <a:ext cx="2064944" cy="77724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–18 days</a:t>
            </a:r>
            <a:endParaRPr lang="en-US" sz="3200" dirty="0"/>
          </a:p>
        </p:txBody>
      </p:sp>
      <p:sp>
        <p:nvSpPr>
          <p:cNvPr id="17" name="Shape 14"/>
          <p:cNvSpPr/>
          <p:nvPr/>
        </p:nvSpPr>
        <p:spPr>
          <a:xfrm>
            <a:off x="3619424" y="3593592"/>
            <a:ext cx="1737360" cy="347472"/>
          </a:xfrm>
          <a:prstGeom prst="roundRect">
            <a:avLst>
              <a:gd name="adj" fmla="val 21053"/>
            </a:avLst>
          </a:prstGeom>
          <a:solidFill>
            <a:srgbClr val="E5F7EC"/>
          </a:solidFill>
          <a:ln w="9525">
            <a:solidFill>
              <a:srgbClr val="E5F7EC"/>
            </a:solidFill>
            <a:prstDash val="solid"/>
          </a:ln>
        </p:spPr>
      </p:sp>
      <p:pic>
        <p:nvPicPr>
          <p:cNvPr id="18" name="Image 1" descr="preencoded.png">    </p:cNvPr>
          <p:cNvPicPr>
            <a:picLocks noChangeAspect="1"/>
          </p:cNvPicPr>
          <p:nvPr/>
        </p:nvPicPr>
        <p:blipFill>
          <a:blip r:embed="rId2"/>
          <a:stretch>
            <a:fillRect/>
          </a:stretch>
        </p:blipFill>
        <p:spPr>
          <a:xfrm>
            <a:off x="3710864" y="3657600"/>
            <a:ext cx="219456" cy="219456"/>
          </a:xfrm>
          <a:prstGeom prst="rect">
            <a:avLst/>
          </a:prstGeom>
        </p:spPr>
      </p:pic>
      <p:sp>
        <p:nvSpPr>
          <p:cNvPr id="19" name="Text 15"/>
          <p:cNvSpPr txBox="1"/>
          <p:nvPr/>
        </p:nvSpPr>
        <p:spPr>
          <a:xfrm>
            <a:off x="4003472" y="3593592"/>
            <a:ext cx="1325880" cy="347472"/>
          </a:xfrm>
          <a:prstGeom prst="rect">
            <a:avLst/>
          </a:prstGeom>
          <a:noFill/>
          <a:ln/>
        </p:spPr>
        <p:txBody>
          <a:bodyPr wrap="square" lIns="0" tIns="0" rIns="0" bIns="0" rtlCol="0" anchor="ctr"/>
          <a:lstStyle/>
          <a:p>
            <a:pPr indent="0" marL="0">
              <a:buNone/>
            </a:pPr>
            <a:r>
              <a:rPr lang="en-US" sz="1050" b="1" dirty="0">
                <a:solidFill>
                  <a:srgbClr val="007A2C"/>
                </a:solidFill>
                <a:latin typeface="Hanken Grotesk" pitchFamily="34" charset="0"/>
                <a:ea typeface="Hanken Grotesk" pitchFamily="34" charset="-122"/>
                <a:cs typeface="Hanken Grotesk" pitchFamily="34" charset="-120"/>
              </a:rPr>
              <a:t>Down (better)</a:t>
            </a:r>
            <a:endParaRPr lang="en-US" sz="1050" dirty="0"/>
          </a:p>
        </p:txBody>
      </p:sp>
      <p:sp>
        <p:nvSpPr>
          <p:cNvPr id="20" name="Text 16"/>
          <p:cNvSpPr txBox="1"/>
          <p:nvPr/>
        </p:nvSpPr>
        <p:spPr>
          <a:xfrm>
            <a:off x="3619424" y="4069080"/>
            <a:ext cx="2064944" cy="685800"/>
          </a:xfrm>
          <a:prstGeom prst="rect">
            <a:avLst/>
          </a:prstGeom>
          <a:noFill/>
          <a:ln/>
        </p:spPr>
        <p:txBody>
          <a:bodyPr wrap="square" lIns="0" tIns="0" rIns="0" bIns="0" rtlCol="0" anchor="t"/>
          <a:lstStyle/>
          <a:p>
            <a:pPr indent="0" marL="0">
              <a:buNone/>
            </a:pPr>
            <a:r>
              <a:rPr lang="en-US" sz="1150" dirty="0">
                <a:solidFill>
                  <a:srgbClr val="63666A"/>
                </a:solidFill>
                <a:latin typeface="Hanken Grotesk" pitchFamily="34" charset="0"/>
                <a:ea typeface="Hanken Grotesk" pitchFamily="34" charset="-122"/>
                <a:cs typeface="Hanken Grotesk" pitchFamily="34" charset="-120"/>
              </a:rPr>
              <a:t>41 → 23 days, median</a:t>
            </a:r>
            <a:endParaRPr lang="en-US" sz="1150" dirty="0"/>
          </a:p>
        </p:txBody>
      </p:sp>
      <p:sp>
        <p:nvSpPr>
          <p:cNvPr id="21" name="Shape 17"/>
          <p:cNvSpPr/>
          <p:nvPr/>
        </p:nvSpPr>
        <p:spPr>
          <a:xfrm>
            <a:off x="6233008" y="1783080"/>
            <a:ext cx="2613584" cy="3108960"/>
          </a:xfrm>
          <a:prstGeom prst="roundRect">
            <a:avLst>
              <a:gd name="adj" fmla="val 4198"/>
            </a:avLst>
          </a:prstGeom>
          <a:solidFill>
            <a:srgbClr val="FFFFFF"/>
          </a:solidFill>
          <a:ln w="9525">
            <a:solidFill>
              <a:srgbClr val="D9D9D6"/>
            </a:solidFill>
            <a:prstDash val="solid"/>
          </a:ln>
        </p:spPr>
      </p:sp>
      <p:sp>
        <p:nvSpPr>
          <p:cNvPr id="22" name="Text 18"/>
          <p:cNvSpPr txBox="1"/>
          <p:nvPr/>
        </p:nvSpPr>
        <p:spPr>
          <a:xfrm>
            <a:off x="6507328" y="2057400"/>
            <a:ext cx="2064944" cy="548640"/>
          </a:xfrm>
          <a:prstGeom prst="rect">
            <a:avLst/>
          </a:prstGeom>
          <a:noFill/>
          <a:ln/>
        </p:spPr>
        <p:txBody>
          <a:bodyPr wrap="square" lIns="0" tIns="0" rIns="0" bIns="0" rtlCol="0" anchor="t"/>
          <a:lstStyle/>
          <a:p>
            <a:pPr indent="0" marL="0">
              <a:buNone/>
            </a:pPr>
            <a:r>
              <a:rPr lang="en-US" sz="1350" b="1" dirty="0">
                <a:solidFill>
                  <a:srgbClr val="63666A"/>
                </a:solidFill>
                <a:latin typeface="Hanken Grotesk" pitchFamily="34" charset="0"/>
                <a:ea typeface="Hanken Grotesk" pitchFamily="34" charset="-122"/>
                <a:cs typeface="Hanken Grotesk" pitchFamily="34" charset="-120"/>
              </a:rPr>
              <a:t>Amet steps</a:t>
            </a:r>
            <a:endParaRPr lang="en-US" sz="1350" dirty="0"/>
          </a:p>
        </p:txBody>
      </p:sp>
      <p:sp>
        <p:nvSpPr>
          <p:cNvPr id="23" name="Text 19"/>
          <p:cNvSpPr txBox="1"/>
          <p:nvPr/>
        </p:nvSpPr>
        <p:spPr>
          <a:xfrm>
            <a:off x="6507328" y="2697480"/>
            <a:ext cx="2064944" cy="77724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5 → 2</a:t>
            </a:r>
            <a:endParaRPr lang="en-US" sz="3200" dirty="0"/>
          </a:p>
        </p:txBody>
      </p:sp>
      <p:sp>
        <p:nvSpPr>
          <p:cNvPr id="24" name="Shape 20"/>
          <p:cNvSpPr/>
          <p:nvPr/>
        </p:nvSpPr>
        <p:spPr>
          <a:xfrm>
            <a:off x="6507328" y="3593592"/>
            <a:ext cx="1737360" cy="347472"/>
          </a:xfrm>
          <a:prstGeom prst="roundRect">
            <a:avLst>
              <a:gd name="adj" fmla="val 21053"/>
            </a:avLst>
          </a:prstGeom>
          <a:solidFill>
            <a:srgbClr val="E5F7EC"/>
          </a:solidFill>
          <a:ln w="9525">
            <a:solidFill>
              <a:srgbClr val="E5F7EC"/>
            </a:solidFill>
            <a:prstDash val="solid"/>
          </a:ln>
        </p:spPr>
      </p:sp>
      <p:pic>
        <p:nvPicPr>
          <p:cNvPr id="25" name="Image 2" descr="preencoded.png">    </p:cNvPr>
          <p:cNvPicPr>
            <a:picLocks noChangeAspect="1"/>
          </p:cNvPicPr>
          <p:nvPr/>
        </p:nvPicPr>
        <p:blipFill>
          <a:blip r:embed="rId3"/>
          <a:stretch>
            <a:fillRect/>
          </a:stretch>
        </p:blipFill>
        <p:spPr>
          <a:xfrm>
            <a:off x="6598768" y="3657600"/>
            <a:ext cx="219456" cy="219456"/>
          </a:xfrm>
          <a:prstGeom prst="rect">
            <a:avLst/>
          </a:prstGeom>
        </p:spPr>
      </p:pic>
      <p:sp>
        <p:nvSpPr>
          <p:cNvPr id="26" name="Text 21"/>
          <p:cNvSpPr txBox="1"/>
          <p:nvPr/>
        </p:nvSpPr>
        <p:spPr>
          <a:xfrm>
            <a:off x="6891376" y="3593592"/>
            <a:ext cx="1325880" cy="347472"/>
          </a:xfrm>
          <a:prstGeom prst="rect">
            <a:avLst/>
          </a:prstGeom>
          <a:noFill/>
          <a:ln/>
        </p:spPr>
        <p:txBody>
          <a:bodyPr wrap="square" lIns="0" tIns="0" rIns="0" bIns="0" rtlCol="0" anchor="ctr"/>
          <a:lstStyle/>
          <a:p>
            <a:pPr indent="0" marL="0">
              <a:buNone/>
            </a:pPr>
            <a:r>
              <a:rPr lang="en-US" sz="1050" b="1" dirty="0">
                <a:solidFill>
                  <a:srgbClr val="007A2C"/>
                </a:solidFill>
                <a:latin typeface="Hanken Grotesk" pitchFamily="34" charset="0"/>
                <a:ea typeface="Hanken Grotesk" pitchFamily="34" charset="-122"/>
                <a:cs typeface="Hanken Grotesk" pitchFamily="34" charset="-120"/>
              </a:rPr>
              <a:t>Down (better)</a:t>
            </a:r>
            <a:endParaRPr lang="en-US" sz="1050" dirty="0"/>
          </a:p>
        </p:txBody>
      </p:sp>
      <p:sp>
        <p:nvSpPr>
          <p:cNvPr id="27" name="Text 22"/>
          <p:cNvSpPr txBox="1"/>
          <p:nvPr/>
        </p:nvSpPr>
        <p:spPr>
          <a:xfrm>
            <a:off x="6507328" y="4069080"/>
            <a:ext cx="2064944" cy="685800"/>
          </a:xfrm>
          <a:prstGeom prst="rect">
            <a:avLst/>
          </a:prstGeom>
          <a:noFill/>
          <a:ln/>
        </p:spPr>
        <p:txBody>
          <a:bodyPr wrap="square" lIns="0" tIns="0" rIns="0" bIns="0" rtlCol="0" anchor="t"/>
          <a:lstStyle/>
          <a:p>
            <a:pPr indent="0" marL="0">
              <a:buNone/>
            </a:pPr>
            <a:r>
              <a:rPr lang="en-US" sz="1150" dirty="0">
                <a:solidFill>
                  <a:srgbClr val="63666A"/>
                </a:solidFill>
                <a:latin typeface="Hanken Grotesk" pitchFamily="34" charset="0"/>
                <a:ea typeface="Hanken Grotesk" pitchFamily="34" charset="-122"/>
                <a:cs typeface="Hanken Grotesk" pitchFamily="34" charset="-120"/>
              </a:rPr>
              <a:t>Consectetur adipiscing</a:t>
            </a:r>
            <a:endParaRPr lang="en-US" sz="1150" dirty="0"/>
          </a:p>
        </p:txBody>
      </p:sp>
      <p:sp>
        <p:nvSpPr>
          <p:cNvPr id="28" name="Shape 23"/>
          <p:cNvSpPr/>
          <p:nvPr/>
        </p:nvSpPr>
        <p:spPr>
          <a:xfrm>
            <a:off x="9120911" y="1783080"/>
            <a:ext cx="2613584" cy="3108960"/>
          </a:xfrm>
          <a:prstGeom prst="roundRect">
            <a:avLst>
              <a:gd name="adj" fmla="val 4198"/>
            </a:avLst>
          </a:prstGeom>
          <a:solidFill>
            <a:srgbClr val="FFFFFF"/>
          </a:solidFill>
          <a:ln w="9525">
            <a:solidFill>
              <a:srgbClr val="D9D9D6"/>
            </a:solidFill>
            <a:prstDash val="solid"/>
          </a:ln>
        </p:spPr>
      </p:sp>
      <p:sp>
        <p:nvSpPr>
          <p:cNvPr id="29" name="Text 24"/>
          <p:cNvSpPr txBox="1"/>
          <p:nvPr/>
        </p:nvSpPr>
        <p:spPr>
          <a:xfrm>
            <a:off x="9395231" y="2057400"/>
            <a:ext cx="2064944" cy="548640"/>
          </a:xfrm>
          <a:prstGeom prst="rect">
            <a:avLst/>
          </a:prstGeom>
          <a:noFill/>
          <a:ln/>
        </p:spPr>
        <p:txBody>
          <a:bodyPr wrap="square" lIns="0" tIns="0" rIns="0" bIns="0" rtlCol="0" anchor="t"/>
          <a:lstStyle/>
          <a:p>
            <a:pPr indent="0" marL="0">
              <a:buNone/>
            </a:pPr>
            <a:r>
              <a:rPr lang="en-US" sz="1350" b="1" dirty="0">
                <a:solidFill>
                  <a:srgbClr val="63666A"/>
                </a:solidFill>
                <a:latin typeface="Hanken Grotesk" pitchFamily="34" charset="0"/>
                <a:ea typeface="Hanken Grotesk" pitchFamily="34" charset="-122"/>
                <a:cs typeface="Hanken Grotesk" pitchFamily="34" charset="-120"/>
              </a:rPr>
              <a:t>Elit satisfaction</a:t>
            </a:r>
            <a:endParaRPr lang="en-US" sz="1350" dirty="0"/>
          </a:p>
        </p:txBody>
      </p:sp>
      <p:sp>
        <p:nvSpPr>
          <p:cNvPr id="30" name="Text 25"/>
          <p:cNvSpPr txBox="1"/>
          <p:nvPr/>
        </p:nvSpPr>
        <p:spPr>
          <a:xfrm>
            <a:off x="9395231" y="2697480"/>
            <a:ext cx="2064944" cy="77724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4.5</a:t>
            </a:r>
            <a:endParaRPr lang="en-US" sz="3200" dirty="0"/>
          </a:p>
        </p:txBody>
      </p:sp>
      <p:sp>
        <p:nvSpPr>
          <p:cNvPr id="31" name="Shape 26"/>
          <p:cNvSpPr/>
          <p:nvPr/>
        </p:nvSpPr>
        <p:spPr>
          <a:xfrm>
            <a:off x="9395231" y="3593592"/>
            <a:ext cx="1737360" cy="347472"/>
          </a:xfrm>
          <a:prstGeom prst="roundRect">
            <a:avLst>
              <a:gd name="adj" fmla="val 21053"/>
            </a:avLst>
          </a:prstGeom>
          <a:solidFill>
            <a:srgbClr val="E5F7EC"/>
          </a:solidFill>
          <a:ln w="9525">
            <a:solidFill>
              <a:srgbClr val="E5F7EC"/>
            </a:solidFill>
            <a:prstDash val="solid"/>
          </a:ln>
        </p:spPr>
      </p:sp>
      <p:pic>
        <p:nvPicPr>
          <p:cNvPr id="32" name="Image 3" descr="preencoded.png">    </p:cNvPr>
          <p:cNvPicPr>
            <a:picLocks noChangeAspect="1"/>
          </p:cNvPicPr>
          <p:nvPr/>
        </p:nvPicPr>
        <p:blipFill>
          <a:blip r:embed="rId4"/>
          <a:stretch>
            <a:fillRect/>
          </a:stretch>
        </p:blipFill>
        <p:spPr>
          <a:xfrm>
            <a:off x="9486671" y="3657600"/>
            <a:ext cx="219456" cy="219456"/>
          </a:xfrm>
          <a:prstGeom prst="rect">
            <a:avLst/>
          </a:prstGeom>
        </p:spPr>
      </p:pic>
      <p:sp>
        <p:nvSpPr>
          <p:cNvPr id="33" name="Text 27"/>
          <p:cNvSpPr txBox="1"/>
          <p:nvPr/>
        </p:nvSpPr>
        <p:spPr>
          <a:xfrm>
            <a:off x="9779279" y="3593592"/>
            <a:ext cx="1325880" cy="347472"/>
          </a:xfrm>
          <a:prstGeom prst="rect">
            <a:avLst/>
          </a:prstGeom>
          <a:noFill/>
          <a:ln/>
        </p:spPr>
        <p:txBody>
          <a:bodyPr wrap="square" lIns="0" tIns="0" rIns="0" bIns="0" rtlCol="0" anchor="ctr"/>
          <a:lstStyle/>
          <a:p>
            <a:pPr indent="0" marL="0">
              <a:buNone/>
            </a:pPr>
            <a:r>
              <a:rPr lang="en-US" sz="1050" b="1" dirty="0">
                <a:solidFill>
                  <a:srgbClr val="007A2C"/>
                </a:solidFill>
                <a:latin typeface="Hanken Grotesk" pitchFamily="34" charset="0"/>
                <a:ea typeface="Hanken Grotesk" pitchFamily="34" charset="-122"/>
                <a:cs typeface="Hanken Grotesk" pitchFamily="34" charset="-120"/>
              </a:rPr>
              <a:t>Up</a:t>
            </a:r>
            <a:endParaRPr lang="en-US" sz="1050" dirty="0"/>
          </a:p>
        </p:txBody>
      </p:sp>
      <p:sp>
        <p:nvSpPr>
          <p:cNvPr id="34" name="Text 28"/>
          <p:cNvSpPr txBox="1"/>
          <p:nvPr/>
        </p:nvSpPr>
        <p:spPr>
          <a:xfrm>
            <a:off x="9395231" y="4069080"/>
            <a:ext cx="2064944" cy="685800"/>
          </a:xfrm>
          <a:prstGeom prst="rect">
            <a:avLst/>
          </a:prstGeom>
          <a:noFill/>
          <a:ln/>
        </p:spPr>
        <p:txBody>
          <a:bodyPr wrap="square" lIns="0" tIns="0" rIns="0" bIns="0" rtlCol="0" anchor="t"/>
          <a:lstStyle/>
          <a:p>
            <a:pPr indent="0" marL="0">
              <a:buNone/>
            </a:pPr>
            <a:r>
              <a:rPr lang="en-US" sz="1150" dirty="0">
                <a:solidFill>
                  <a:srgbClr val="63666A"/>
                </a:solidFill>
                <a:latin typeface="Hanken Grotesk" pitchFamily="34" charset="0"/>
                <a:ea typeface="Hanken Grotesk" pitchFamily="34" charset="-122"/>
                <a:cs typeface="Hanken Grotesk" pitchFamily="34" charset="-120"/>
              </a:rPr>
              <a:t>3.9 → 4.5 out of 5</a:t>
            </a:r>
            <a:endParaRPr lang="en-US" sz="1150" dirty="0"/>
          </a:p>
        </p:txBody>
      </p:sp>
      <p:sp>
        <p:nvSpPr>
          <p:cNvPr id="35" name="Shape 29"/>
          <p:cNvSpPr/>
          <p:nvPr/>
        </p:nvSpPr>
        <p:spPr>
          <a:xfrm>
            <a:off x="457200" y="5120640"/>
            <a:ext cx="11277295" cy="1005840"/>
          </a:xfrm>
          <a:prstGeom prst="roundRect">
            <a:avLst>
              <a:gd name="adj" fmla="val 10909"/>
            </a:avLst>
          </a:prstGeom>
          <a:solidFill>
            <a:srgbClr val="ECECEA"/>
          </a:solidFill>
          <a:ln w="9525">
            <a:solidFill>
              <a:srgbClr val="ECECEA"/>
            </a:solidFill>
            <a:prstDash val="solid"/>
          </a:ln>
        </p:spPr>
      </p:sp>
      <p:sp>
        <p:nvSpPr>
          <p:cNvPr id="36" name="Text 30"/>
          <p:cNvSpPr txBox="1"/>
          <p:nvPr/>
        </p:nvSpPr>
        <p:spPr>
          <a:xfrm>
            <a:off x="731520" y="5120640"/>
            <a:ext cx="10728655" cy="100584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How we'll measure  </a:t>
            </a:r>
            <a:pPr indent="0" marL="0">
              <a:buNone/>
            </a:pPr>
            <a:r>
              <a:rPr lang="en-US" sz="1350" dirty="0">
                <a:solidFill>
                  <a:srgbClr val="63666A"/>
                </a:solidFill>
                <a:latin typeface="Hanken Grotesk" pitchFamily="34" charset="0"/>
                <a:ea typeface="Hanken Grotesk" pitchFamily="34" charset="-122"/>
                <a:cs typeface="Hanken Grotesk" pitchFamily="34" charset="-120"/>
              </a:rPr>
              <a:t>Nibh euismod gravida lorem ipsum dolor sit amet consectetur adipiscing elit sed do eiusmod tempor incididunt ut labore et dolore magna aliqua ut enim ad minim.</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NEXT STEPS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Et dolore magna aliqua ut enim ad minim veniam quis</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SLD-NEXT-STEPS-01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13 / 13</a:t>
            </a:r>
            <a:endParaRPr lang="en-US" sz="1050" dirty="0"/>
          </a:p>
        </p:txBody>
      </p:sp>
      <p:sp>
        <p:nvSpPr>
          <p:cNvPr id="7" name="Shape 5"/>
          <p:cNvSpPr/>
          <p:nvPr/>
        </p:nvSpPr>
        <p:spPr>
          <a:xfrm>
            <a:off x="457200" y="1783080"/>
            <a:ext cx="3383280" cy="4343400"/>
          </a:xfrm>
          <a:prstGeom prst="roundRect">
            <a:avLst>
              <a:gd name="adj" fmla="val 3243"/>
            </a:avLst>
          </a:prstGeom>
          <a:solidFill>
            <a:srgbClr val="002A3A"/>
          </a:solidFill>
          <a:ln w="9525">
            <a:solidFill>
              <a:srgbClr val="002A3A"/>
            </a:solidFill>
            <a:prstDash val="solid"/>
          </a:ln>
        </p:spPr>
      </p:sp>
      <p:sp>
        <p:nvSpPr>
          <p:cNvPr id="8" name="Shape 6"/>
          <p:cNvSpPr/>
          <p:nvPr/>
        </p:nvSpPr>
        <p:spPr>
          <a:xfrm>
            <a:off x="777240" y="2103120"/>
            <a:ext cx="1828800" cy="365760"/>
          </a:xfrm>
          <a:prstGeom prst="roundRect">
            <a:avLst>
              <a:gd name="adj" fmla="val 20000"/>
            </a:avLst>
          </a:prstGeom>
          <a:solidFill>
            <a:srgbClr val="64CCC9"/>
          </a:solidFill>
          <a:ln w="9525">
            <a:solidFill>
              <a:srgbClr val="64CCC9"/>
            </a:solidFill>
            <a:prstDash val="solid"/>
          </a:ln>
        </p:spPr>
      </p:sp>
      <p:sp>
        <p:nvSpPr>
          <p:cNvPr id="9" name="Text 7"/>
          <p:cNvSpPr txBox="1"/>
          <p:nvPr/>
        </p:nvSpPr>
        <p:spPr>
          <a:xfrm>
            <a:off x="777240" y="2103120"/>
            <a:ext cx="1828800" cy="365760"/>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Decision needed</a:t>
            </a:r>
            <a:endParaRPr lang="en-US" sz="1050" dirty="0"/>
          </a:p>
        </p:txBody>
      </p:sp>
      <p:sp>
        <p:nvSpPr>
          <p:cNvPr id="10" name="Text 8"/>
          <p:cNvSpPr txBox="1"/>
          <p:nvPr/>
        </p:nvSpPr>
        <p:spPr>
          <a:xfrm>
            <a:off x="777240" y="2651760"/>
            <a:ext cx="2743200" cy="1463040"/>
          </a:xfrm>
          <a:prstGeom prst="rect">
            <a:avLst/>
          </a:prstGeom>
          <a:noFill/>
          <a:ln/>
        </p:spPr>
        <p:txBody>
          <a:bodyPr wrap="square" lIns="0" tIns="0" rIns="0" bIns="0" rtlCol="0" anchor="t"/>
          <a:lstStyle/>
          <a:p>
            <a:pPr indent="0" marL="0">
              <a:buNone/>
            </a:pPr>
            <a:r>
              <a:rPr lang="en-US" sz="2000" b="1" dirty="0">
                <a:solidFill>
                  <a:srgbClr val="FFFFFF"/>
                </a:solidFill>
                <a:latin typeface="Bricolage Grotesque" pitchFamily="34" charset="0"/>
                <a:ea typeface="Bricolage Grotesque" pitchFamily="34" charset="-122"/>
                <a:cs typeface="Bricolage Grotesque" pitchFamily="34" charset="-120"/>
              </a:rPr>
              <a:t>Consequat duis aute irure dolor in reprehenderit in.</a:t>
            </a:r>
            <a:endParaRPr lang="en-US" sz="2000" dirty="0"/>
          </a:p>
        </p:txBody>
      </p:sp>
      <p:sp>
        <p:nvSpPr>
          <p:cNvPr id="11" name="Text 9"/>
          <p:cNvSpPr txBox="1"/>
          <p:nvPr/>
        </p:nvSpPr>
        <p:spPr>
          <a:xfrm>
            <a:off x="777240" y="4297680"/>
            <a:ext cx="2743200" cy="1645920"/>
          </a:xfrm>
          <a:prstGeom prst="rect">
            <a:avLst/>
          </a:prstGeom>
          <a:noFill/>
          <a:ln/>
        </p:spPr>
        <p:txBody>
          <a:bodyPr wrap="square" lIns="0" tIns="0" rIns="0" bIns="0" rtlCol="0" anchor="t"/>
          <a:lstStyle/>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Scope: [lorem ipsum]</a:t>
            </a:r>
            <a:endParaRPr lang="en-US" sz="1350" dirty="0"/>
          </a:p>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Owner: [role]</a:t>
            </a:r>
            <a:endParaRPr lang="en-US" sz="1350" dirty="0"/>
          </a:p>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Resources: [dolor sit]</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0" y="1783080"/>
          <a:ext cx="7619695" cy="914400"/>
        </p:xfrm>
        <a:graphic>
          <a:graphicData uri="http://schemas.openxmlformats.org/drawingml/2006/table">
            <a:tbl>
              <a:tblPr/>
              <a:tblGrid>
                <a:gridCol w="731520"/>
                <a:gridCol w="3687775"/>
                <a:gridCol w="2011680"/>
                <a:gridCol w="1188720"/>
              </a:tblGrid>
              <a:tr h="457200">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STEP</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ACTION</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OWNER</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DATE</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1</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Leadership</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Oct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2</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Fugiat nulla pariatur excepteur sint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Design</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Nov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3</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Odio nullam varius turpis et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Product · Eng</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Dec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4</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Amet consectetur adipiscing elit sed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Ops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Jan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5</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Ex ea commodo consequat duis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Analytics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Mar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Campaign / Concept — template</dc:title>
  <dc:subject>PptxGenJS Presentation</dc:subject>
  <dc:creator>CX Presentation System</dc:creator>
  <cp:lastModifiedBy>CX Presentation System</cp:lastModifiedBy>
  <cp:revision>1</cp:revision>
  <dcterms:created xsi:type="dcterms:W3CDTF">2026-09-26T00:59:38Z</dcterms:created>
  <dcterms:modified xsi:type="dcterms:W3CDTF">2026-09-26T00:59:38Z</dcterms:modified>
</cp:coreProperties>
</file>