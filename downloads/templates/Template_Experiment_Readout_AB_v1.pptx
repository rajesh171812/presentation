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Conversion</c:v>
                </c:pt>
              </c:strCache>
            </c:strRef>
          </c:tx>
          <c:spPr>
            <a:solidFill>
              <a:srgbClr val="004F71"/>
            </a:solidFill>
            <a:effectLst/>
          </c:spPr>
          <c:invertIfNegative val="0"/>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Sheet1!$A$2:$A$4</c:f>
              <c:multiLvlStrCache>
                <c:ptCount val="3"/>
                <c:lvl>
                  <c:pt idx="0">
                    <c:v>Control</c:v>
                  </c:pt>
                  <c:pt idx="1">
                    <c:v>Variant A</c:v>
                  </c:pt>
                  <c:pt idx="2">
                    <c:v>Variant B</c:v>
                  </c:pt>
                </c:lvl>
              </c:multiLvlStrCache>
            </c:multiLvlStrRef>
          </c:cat>
          <c:val>
            <c:numRef>
              <c:f>Sheet1!$B$2:$B$4</c:f>
              <c:numCache>
                <c:formatCode>General</c:formatCode>
                <c:ptCount val="3"/>
                <c:pt idx="0">
                  <c:v>10.2</c:v>
                </c:pt>
                <c:pt idx="1">
                  <c:v>11.6</c:v>
                </c:pt>
                <c:pt idx="2">
                  <c:v>12.9</c:v>
                </c:pt>
              </c:numCache>
            </c:numRef>
          </c:val>
        </c:ser>
        <c:dLbls>
          <c:numFmt formatCode="0.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6350" cap="flat">
              <a:solidFill>
                <a:srgbClr val="D9D9D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004F71"/>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A3A"/>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64CCC9"/>
          </a:solidFill>
          <a:ln w="9525">
            <a:solidFill>
              <a:srgbClr val="64CCC9"/>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Quantitative / A-B</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CCEBF8"/>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CCEBF8"/>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CCEBF8"/>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Quantitative / A-B.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Quantitative A/B</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2A3A"/>
          </a:solidFill>
          <a:ln w="9525">
            <a:solidFill>
              <a:srgbClr val="002A3A"/>
            </a:solidFill>
            <a:prstDash val="solid"/>
          </a:ln>
        </p:spPr>
      </p:sp>
      <p:sp>
        <p:nvSpPr>
          <p:cNvPr id="26" name="Shape 21"/>
          <p:cNvSpPr/>
          <p:nvPr/>
        </p:nvSpPr>
        <p:spPr>
          <a:xfrm>
            <a:off x="731520" y="5230368"/>
            <a:ext cx="1188720" cy="457200"/>
          </a:xfrm>
          <a:prstGeom prst="roundRect">
            <a:avLst>
              <a:gd name="adj" fmla="val 16000"/>
            </a:avLst>
          </a:prstGeom>
          <a:solidFill>
            <a:srgbClr val="64CCC9"/>
          </a:solidFill>
          <a:ln w="9525">
            <a:solidFill>
              <a:srgbClr val="64CCC9"/>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004F71"/>
          </a:solidFill>
          <a:ln w="9525">
            <a:solidFill>
              <a:srgbClr val="004F71"/>
            </a:solidFill>
            <a:prstDash val="solid"/>
          </a:ln>
        </p:spPr>
      </p:sp>
      <p:sp>
        <p:nvSpPr>
          <p:cNvPr id="8" name="Shape 6"/>
          <p:cNvSpPr/>
          <p:nvPr/>
        </p:nvSpPr>
        <p:spPr>
          <a:xfrm>
            <a:off x="822960" y="2148840"/>
            <a:ext cx="548640" cy="54864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004F71"/>
          </a:solidFill>
          <a:ln w="9525">
            <a:solidFill>
              <a:srgbClr val="004F71"/>
            </a:solidFill>
            <a:prstDash val="solid"/>
          </a:ln>
        </p:spPr>
      </p:sp>
      <p:sp>
        <p:nvSpPr>
          <p:cNvPr id="8" name="Shape 6"/>
          <p:cNvSpPr/>
          <p:nvPr/>
        </p:nvSpPr>
        <p:spPr>
          <a:xfrm>
            <a:off x="868680" y="2148840"/>
            <a:ext cx="1554480" cy="310896"/>
          </a:xfrm>
          <a:prstGeom prst="roundRect">
            <a:avLst>
              <a:gd name="adj" fmla="val 23529"/>
            </a:avLst>
          </a:prstGeom>
          <a:solidFill>
            <a:srgbClr val="64CCC9"/>
          </a:solidFill>
          <a:ln w="9525">
            <a:solidFill>
              <a:srgbClr val="64CCC9"/>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004F71"/>
          </a:solidFill>
          <a:ln w="12700">
            <a:solidFill>
              <a:srgbClr val="004F71"/>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004F71"/>
          </a:solidFill>
          <a:ln w="12700">
            <a:solidFill>
              <a:srgbClr val="004F71"/>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004F71"/>
          </a:solidFill>
          <a:ln w="12700">
            <a:solidFill>
              <a:srgbClr val="004F71"/>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004F71"/>
          </a:solidFill>
          <a:ln w="12700">
            <a:solidFill>
              <a:srgbClr val="004F71"/>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004F71"/>
          </a:solidFill>
          <a:ln w="12700">
            <a:solidFill>
              <a:srgbClr val="004F71"/>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004F71"/>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004F71"/>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77A8"/>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77A8"/>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RESULTS · QUANTITATIVE A/B</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VIZ-VARIANTS-01 · VIZ-KPI-01 · VIZ-BAR-01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3291840" cy="1298448"/>
          </a:xfrm>
          <a:prstGeom prst="roundRect">
            <a:avLst>
              <a:gd name="adj" fmla="val 8451"/>
            </a:avLst>
          </a:prstGeom>
          <a:solidFill>
            <a:srgbClr val="FFFFFF"/>
          </a:solidFill>
          <a:ln w="9525">
            <a:solidFill>
              <a:srgbClr val="D9D9D6"/>
            </a:solidFill>
            <a:prstDash val="solid"/>
          </a:ln>
        </p:spPr>
      </p:sp>
      <p:sp>
        <p:nvSpPr>
          <p:cNvPr id="8" name="Text 6"/>
          <p:cNvSpPr txBox="1"/>
          <p:nvPr/>
        </p:nvSpPr>
        <p:spPr>
          <a:xfrm>
            <a:off x="731520" y="1965960"/>
            <a:ext cx="27432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Text 7"/>
          <p:cNvSpPr txBox="1"/>
          <p:nvPr/>
        </p:nvSpPr>
        <p:spPr>
          <a:xfrm>
            <a:off x="731520" y="2240280"/>
            <a:ext cx="1645920" cy="640080"/>
          </a:xfrm>
          <a:prstGeom prst="rect">
            <a:avLst/>
          </a:prstGeom>
          <a:noFill/>
          <a:ln/>
        </p:spPr>
        <p:txBody>
          <a:bodyPr wrap="square" lIns="0" tIns="0" rIns="0" bIns="0" rtlCol="0" anchor="t"/>
          <a:lstStyle/>
          <a:p>
            <a:pPr indent="0" marL="0">
              <a:buNone/>
            </a:pPr>
            <a:r>
              <a:rPr lang="en-US" sz="2800" b="1" dirty="0">
                <a:solidFill>
                  <a:srgbClr val="222731"/>
                </a:solidFill>
                <a:latin typeface="Bricolage Grotesque" pitchFamily="34" charset="0"/>
                <a:ea typeface="Bricolage Grotesque" pitchFamily="34" charset="-122"/>
                <a:cs typeface="Bricolage Grotesque" pitchFamily="34" charset="-120"/>
              </a:rPr>
              <a:t>10.2%</a:t>
            </a:r>
            <a:endParaRPr lang="en-US" sz="2800" dirty="0"/>
          </a:p>
        </p:txBody>
      </p:sp>
      <p:sp>
        <p:nvSpPr>
          <p:cNvPr id="10" name="Text 8"/>
          <p:cNvSpPr txBox="1"/>
          <p:nvPr/>
        </p:nvSpPr>
        <p:spPr>
          <a:xfrm>
            <a:off x="2286000" y="2350008"/>
            <a:ext cx="1371600" cy="36576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1" name="Shape 9"/>
          <p:cNvSpPr/>
          <p:nvPr/>
        </p:nvSpPr>
        <p:spPr>
          <a:xfrm>
            <a:off x="457200" y="3246120"/>
            <a:ext cx="3291840" cy="1298448"/>
          </a:xfrm>
          <a:prstGeom prst="roundRect">
            <a:avLst>
              <a:gd name="adj" fmla="val 8451"/>
            </a:avLst>
          </a:prstGeom>
          <a:solidFill>
            <a:srgbClr val="FFFFFF"/>
          </a:solidFill>
          <a:ln w="9525">
            <a:solidFill>
              <a:srgbClr val="D9D9D6"/>
            </a:solidFill>
            <a:prstDash val="solid"/>
          </a:ln>
        </p:spPr>
      </p:sp>
      <p:sp>
        <p:nvSpPr>
          <p:cNvPr id="12" name="Text 10"/>
          <p:cNvSpPr txBox="1"/>
          <p:nvPr/>
        </p:nvSpPr>
        <p:spPr>
          <a:xfrm>
            <a:off x="731520" y="3429000"/>
            <a:ext cx="274320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VARIANT A</a:t>
            </a:r>
            <a:endParaRPr lang="en-US" sz="1050" dirty="0"/>
          </a:p>
        </p:txBody>
      </p:sp>
      <p:sp>
        <p:nvSpPr>
          <p:cNvPr id="13" name="Text 11"/>
          <p:cNvSpPr txBox="1"/>
          <p:nvPr/>
        </p:nvSpPr>
        <p:spPr>
          <a:xfrm>
            <a:off x="731520" y="3703320"/>
            <a:ext cx="1645920" cy="640080"/>
          </a:xfrm>
          <a:prstGeom prst="rect">
            <a:avLst/>
          </a:prstGeom>
          <a:noFill/>
          <a:ln/>
        </p:spPr>
        <p:txBody>
          <a:bodyPr wrap="square" lIns="0" tIns="0" rIns="0" bIns="0" rtlCol="0" anchor="t"/>
          <a:lstStyle/>
          <a:p>
            <a:pPr indent="0" marL="0">
              <a:buNone/>
            </a:pPr>
            <a:r>
              <a:rPr lang="en-US" sz="2800" b="1" dirty="0">
                <a:solidFill>
                  <a:srgbClr val="222731"/>
                </a:solidFill>
                <a:latin typeface="Bricolage Grotesque" pitchFamily="34" charset="0"/>
                <a:ea typeface="Bricolage Grotesque" pitchFamily="34" charset="-122"/>
                <a:cs typeface="Bricolage Grotesque" pitchFamily="34" charset="-120"/>
              </a:rPr>
              <a:t>11.6%</a:t>
            </a:r>
            <a:endParaRPr lang="en-US" sz="2800" dirty="0"/>
          </a:p>
        </p:txBody>
      </p:sp>
      <p:sp>
        <p:nvSpPr>
          <p:cNvPr id="14" name="Text 12"/>
          <p:cNvSpPr txBox="1"/>
          <p:nvPr/>
        </p:nvSpPr>
        <p:spPr>
          <a:xfrm>
            <a:off x="2286000" y="3813048"/>
            <a:ext cx="1371600" cy="36576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+1.4 pts</a:t>
            </a:r>
            <a:endParaRPr lang="en-US" sz="1050" dirty="0"/>
          </a:p>
        </p:txBody>
      </p:sp>
      <p:sp>
        <p:nvSpPr>
          <p:cNvPr id="15" name="Shape 13"/>
          <p:cNvSpPr/>
          <p:nvPr/>
        </p:nvSpPr>
        <p:spPr>
          <a:xfrm>
            <a:off x="457200" y="4709160"/>
            <a:ext cx="3291840" cy="1298448"/>
          </a:xfrm>
          <a:prstGeom prst="roundRect">
            <a:avLst>
              <a:gd name="adj" fmla="val 8451"/>
            </a:avLst>
          </a:prstGeom>
          <a:solidFill>
            <a:srgbClr val="FFFFFF"/>
          </a:solidFill>
          <a:ln w="9525">
            <a:solidFill>
              <a:srgbClr val="D9D9D6"/>
            </a:solidFill>
            <a:prstDash val="solid"/>
          </a:ln>
        </p:spPr>
      </p:sp>
      <p:sp>
        <p:nvSpPr>
          <p:cNvPr id="16" name="Text 14"/>
          <p:cNvSpPr txBox="1"/>
          <p:nvPr/>
        </p:nvSpPr>
        <p:spPr>
          <a:xfrm>
            <a:off x="731520" y="4892040"/>
            <a:ext cx="2743200" cy="274320"/>
          </a:xfrm>
          <a:prstGeom prst="rect">
            <a:avLst/>
          </a:prstGeom>
          <a:noFill/>
          <a:ln/>
        </p:spPr>
        <p:txBody>
          <a:bodyPr wrap="square" lIns="0" tIns="0" rIns="0" bIns="0" rtlCol="0" anchor="t"/>
          <a:lstStyle/>
          <a:p>
            <a:pPr indent="0" marL="0">
              <a:buNone/>
            </a:pPr>
            <a:r>
              <a:rPr lang="en-US" sz="1050" b="1" spc="100" kern="0" dirty="0">
                <a:solidFill>
                  <a:srgbClr val="0077A8"/>
                </a:solidFill>
                <a:latin typeface="Hanken Grotesk" pitchFamily="34" charset="0"/>
                <a:ea typeface="Hanken Grotesk" pitchFamily="34" charset="-122"/>
                <a:cs typeface="Hanken Grotesk" pitchFamily="34" charset="-120"/>
              </a:rPr>
              <a:t>VARIANT B</a:t>
            </a:r>
            <a:endParaRPr lang="en-US" sz="1050" dirty="0"/>
          </a:p>
        </p:txBody>
      </p:sp>
      <p:sp>
        <p:nvSpPr>
          <p:cNvPr id="17" name="Text 15"/>
          <p:cNvSpPr txBox="1"/>
          <p:nvPr/>
        </p:nvSpPr>
        <p:spPr>
          <a:xfrm>
            <a:off x="731520" y="5166360"/>
            <a:ext cx="1645920" cy="640080"/>
          </a:xfrm>
          <a:prstGeom prst="rect">
            <a:avLst/>
          </a:prstGeom>
          <a:noFill/>
          <a:ln/>
        </p:spPr>
        <p:txBody>
          <a:bodyPr wrap="square" lIns="0" tIns="0" rIns="0" bIns="0" rtlCol="0" anchor="t"/>
          <a:lstStyle/>
          <a:p>
            <a:pPr indent="0" marL="0">
              <a:buNone/>
            </a:pPr>
            <a:r>
              <a:rPr lang="en-US" sz="2800" b="1" dirty="0">
                <a:solidFill>
                  <a:srgbClr val="222731"/>
                </a:solidFill>
                <a:latin typeface="Bricolage Grotesque" pitchFamily="34" charset="0"/>
                <a:ea typeface="Bricolage Grotesque" pitchFamily="34" charset="-122"/>
                <a:cs typeface="Bricolage Grotesque" pitchFamily="34" charset="-120"/>
              </a:rPr>
              <a:t>12.9%</a:t>
            </a:r>
            <a:endParaRPr lang="en-US" sz="2800" dirty="0"/>
          </a:p>
        </p:txBody>
      </p:sp>
      <p:sp>
        <p:nvSpPr>
          <p:cNvPr id="18" name="Text 16"/>
          <p:cNvSpPr txBox="1"/>
          <p:nvPr/>
        </p:nvSpPr>
        <p:spPr>
          <a:xfrm>
            <a:off x="2286000" y="5276088"/>
            <a:ext cx="1371600" cy="365760"/>
          </a:xfrm>
          <a:prstGeom prst="rect">
            <a:avLst/>
          </a:prstGeom>
          <a:noFill/>
          <a:ln/>
        </p:spPr>
        <p:txBody>
          <a:bodyPr wrap="square" lIns="0" tIns="0" rIns="0" bIns="0" rtlCol="0" anchor="t"/>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+2.7 pts · winner</a:t>
            </a:r>
            <a:endParaRPr lang="en-US" sz="1050" dirty="0"/>
          </a:p>
        </p:txBody>
      </p:sp>
      <p:sp>
        <p:nvSpPr>
          <p:cNvPr id="19" name="Shape 17"/>
          <p:cNvSpPr/>
          <p:nvPr/>
        </p:nvSpPr>
        <p:spPr>
          <a:xfrm>
            <a:off x="4023360" y="1783080"/>
            <a:ext cx="7711135" cy="3383280"/>
          </a:xfrm>
          <a:prstGeom prst="roundRect">
            <a:avLst>
              <a:gd name="adj" fmla="val 3243"/>
            </a:avLst>
          </a:prstGeom>
          <a:solidFill>
            <a:srgbClr val="FFFFFF"/>
          </a:solidFill>
          <a:ln w="9525">
            <a:solidFill>
              <a:srgbClr val="D9D9D6"/>
            </a:solidFill>
            <a:prstDash val="solid"/>
          </a:ln>
        </p:spPr>
      </p:sp>
      <p:sp>
        <p:nvSpPr>
          <p:cNvPr id="20" name="Text 18"/>
          <p:cNvSpPr txBox="1"/>
          <p:nvPr/>
        </p:nvSpPr>
        <p:spPr>
          <a:xfrm>
            <a:off x="4297680" y="1965960"/>
            <a:ext cx="5486400" cy="27432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Conversion by variant, %</a:t>
            </a:r>
            <a:endParaRPr lang="en-US" sz="1050" dirty="0"/>
          </a:p>
        </p:txBody>
      </p:sp>
      <p:graphicFrame>
        <p:nvGraphicFramePr>
          <p:cNvPr id="21" name="Chart 0" descr=""/>
          <p:cNvGraphicFramePr/>
          <p:nvPr/>
        </p:nvGraphicFramePr>
        <p:xfrm>
          <a:off x="4206240" y="2240280"/>
          <a:ext cx="7345375" cy="2834640"/>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4023360" y="5349240"/>
            <a:ext cx="7711135" cy="777240"/>
          </a:xfrm>
          <a:prstGeom prst="roundRect">
            <a:avLst>
              <a:gd name="adj" fmla="val 14118"/>
            </a:avLst>
          </a:prstGeom>
          <a:solidFill>
            <a:srgbClr val="ECECEA"/>
          </a:solidFill>
          <a:ln w="9525">
            <a:solidFill>
              <a:srgbClr val="ECECEA"/>
            </a:solidFill>
            <a:prstDash val="solid"/>
          </a:ln>
        </p:spPr>
      </p:sp>
      <p:sp>
        <p:nvSpPr>
          <p:cNvPr id="23" name="Text 20"/>
          <p:cNvSpPr txBox="1"/>
          <p:nvPr/>
        </p:nvSpPr>
        <p:spPr>
          <a:xfrm>
            <a:off x="4297680" y="5349240"/>
            <a:ext cx="7162495" cy="77724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Significance  </a:t>
            </a:r>
            <a:pPr indent="0" marL="0">
              <a:buNone/>
            </a:pPr>
            <a:r>
              <a:rPr lang="en-US" sz="1350" dirty="0">
                <a:solidFill>
                  <a:srgbClr val="63666A"/>
                </a:solidFill>
                <a:latin typeface="Hanken Grotesk" pitchFamily="34" charset="0"/>
                <a:ea typeface="Hanken Grotesk" pitchFamily="34" charset="-122"/>
                <a:cs typeface="Hanken Grotesk" pitchFamily="34" charset="-120"/>
              </a:rPr>
              <a:t>p = 0.01 · 95% CI +1.1 to +4.3 pts · n = 12,000 · Ad minim veniam quis nostrud exercitation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Quantitative / A-B</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2A3A"/>
          </a:solidFill>
          <a:ln w="9525">
            <a:solidFill>
              <a:srgbClr val="002A3A"/>
            </a:solidFill>
            <a:prstDash val="solid"/>
          </a:ln>
        </p:spPr>
      </p:sp>
      <p:sp>
        <p:nvSpPr>
          <p:cNvPr id="8" name="Shape 6"/>
          <p:cNvSpPr/>
          <p:nvPr/>
        </p:nvSpPr>
        <p:spPr>
          <a:xfrm>
            <a:off x="777240" y="2103120"/>
            <a:ext cx="1828800" cy="365760"/>
          </a:xfrm>
          <a:prstGeom prst="roundRect">
            <a:avLst>
              <a:gd name="adj" fmla="val 20000"/>
            </a:avLst>
          </a:prstGeom>
          <a:solidFill>
            <a:srgbClr val="64CCC9"/>
          </a:solidFill>
          <a:ln w="9525">
            <a:solidFill>
              <a:srgbClr val="64CCC9"/>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Quantitative / A-B — template</dc:title>
  <dc:subject>PptxGenJS Presentation</dc:subject>
  <dc:creator>CX Presentation System</dc:creator>
  <cp:lastModifiedBy>CX Presentation System</cp:lastModifiedBy>
  <cp:revision>1</cp:revision>
  <dcterms:created xsi:type="dcterms:W3CDTF">2026-09-26T00:59:38Z</dcterms:created>
  <dcterms:modified xsi:type="dcterms:W3CDTF">2026-09-26T00:59:38Z</dcterms:modified>
</cp:coreProperties>
</file>