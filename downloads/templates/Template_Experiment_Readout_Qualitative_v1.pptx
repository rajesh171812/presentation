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004F71"/>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A3A"/>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64CCC9"/>
          </a:solidFill>
          <a:ln w="9525">
            <a:solidFill>
              <a:srgbClr val="64CCC9"/>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Experiment Readout · Qualitative / feedback</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CCEBF8"/>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CCEBF8"/>
                </a:solidFill>
                <a:latin typeface="IBM Plex Mono" pitchFamily="34" charset="0"/>
                <a:ea typeface="IBM Plex Mono" pitchFamily="34" charset="-122"/>
                <a:cs typeface="IBM Plex Mono" pitchFamily="34" charset="-120"/>
              </a:rPr>
              <a:t>TPL-EXPERIMENT-01 · STORY-EXP-01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CCEBF8"/>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11</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TPL-EXPERIMENT-01 with STORY-EXP-01, evidence mode Qualitative / feedback.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overview</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SLD-EXEC-SUMMARY-01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Problem / 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Hypothesis</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SLD-STATEMENT-01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design</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SLD-PROCESS-01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Variants / experience</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SLD-VARIANTS-01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Results · Qualitative</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SLD-KPI-TREND-01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What we learned</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SLD-3COL-01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Implications</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SLD-2COL-01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SLD-NEXT-STEPS-01</a:t>
            </a:r>
            <a:endParaRPr lang="en-US" sz="1000" dirty="0"/>
          </a:p>
        </p:txBody>
      </p:sp>
      <p:sp>
        <p:nvSpPr>
          <p:cNvPr id="51" name="Text 49"/>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EXPERIMENT OVERVIEW</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SLD-EXEC-SUMMARY-01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11</a:t>
            </a:r>
            <a:endParaRPr lang="en-US" sz="1050" dirty="0"/>
          </a:p>
        </p:txBody>
      </p:sp>
      <p:sp>
        <p:nvSpPr>
          <p:cNvPr id="7" name="Shape 5"/>
          <p:cNvSpPr/>
          <p:nvPr/>
        </p:nvSpPr>
        <p:spPr>
          <a:xfrm>
            <a:off x="457200" y="1783080"/>
            <a:ext cx="3576218" cy="2788920"/>
          </a:xfrm>
          <a:prstGeom prst="roundRect">
            <a:avLst>
              <a:gd name="adj" fmla="val 3934"/>
            </a:avLst>
          </a:prstGeom>
          <a:solidFill>
            <a:srgbClr val="FFFFFF"/>
          </a:solidFill>
          <a:ln w="9525">
            <a:solidFill>
              <a:srgbClr val="D9D9D6"/>
            </a:solidFill>
            <a:prstDash val="solid"/>
          </a:ln>
        </p:spPr>
      </p:sp>
      <p:sp>
        <p:nvSpPr>
          <p:cNvPr id="8" name="Shape 6"/>
          <p:cNvSpPr/>
          <p:nvPr/>
        </p:nvSpPr>
        <p:spPr>
          <a:xfrm>
            <a:off x="731520" y="2002536"/>
            <a:ext cx="457200" cy="45720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822960" y="2093976"/>
            <a:ext cx="274320" cy="274320"/>
          </a:xfrm>
          <a:prstGeom prst="rect">
            <a:avLst/>
          </a:prstGeom>
        </p:spPr>
      </p:pic>
      <p:sp>
        <p:nvSpPr>
          <p:cNvPr id="10" name="Text 7"/>
          <p:cNvSpPr txBox="1"/>
          <p:nvPr/>
        </p:nvSpPr>
        <p:spPr>
          <a:xfrm>
            <a:off x="1325880"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CONTEXT</a:t>
            </a:r>
            <a:endParaRPr lang="en-US" sz="1050" dirty="0"/>
          </a:p>
        </p:txBody>
      </p:sp>
      <p:sp>
        <p:nvSpPr>
          <p:cNvPr id="11" name="Text 8"/>
          <p:cNvSpPr txBox="1"/>
          <p:nvPr/>
        </p:nvSpPr>
        <p:spPr>
          <a:xfrm>
            <a:off x="731520"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42%</a:t>
            </a:r>
            <a:endParaRPr lang="en-US" sz="4200" dirty="0"/>
          </a:p>
        </p:txBody>
      </p:sp>
      <p:sp>
        <p:nvSpPr>
          <p:cNvPr id="12" name="Text 9"/>
          <p:cNvSpPr txBox="1"/>
          <p:nvPr/>
        </p:nvSpPr>
        <p:spPr>
          <a:xfrm>
            <a:off x="731520"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Labore et dolore magna aliqua ut enim ad minim veniam quis nostrud exercitation ullamco laboris nisi.</a:t>
            </a:r>
            <a:endParaRPr lang="en-US" sz="1350" dirty="0"/>
          </a:p>
        </p:txBody>
      </p:sp>
      <p:sp>
        <p:nvSpPr>
          <p:cNvPr id="13" name="Shape 10"/>
          <p:cNvSpPr/>
          <p:nvPr/>
        </p:nvSpPr>
        <p:spPr>
          <a:xfrm>
            <a:off x="4307738" y="1783080"/>
            <a:ext cx="3576218" cy="2788920"/>
          </a:xfrm>
          <a:prstGeom prst="roundRect">
            <a:avLst>
              <a:gd name="adj" fmla="val 3934"/>
            </a:avLst>
          </a:prstGeom>
          <a:solidFill>
            <a:srgbClr val="FFFFFF"/>
          </a:solidFill>
          <a:ln w="9525">
            <a:solidFill>
              <a:srgbClr val="D9D9D6"/>
            </a:solidFill>
            <a:prstDash val="solid"/>
          </a:ln>
        </p:spPr>
      </p:sp>
      <p:sp>
        <p:nvSpPr>
          <p:cNvPr id="14" name="Shape 11"/>
          <p:cNvSpPr/>
          <p:nvPr/>
        </p:nvSpPr>
        <p:spPr>
          <a:xfrm>
            <a:off x="4582058" y="2002536"/>
            <a:ext cx="457200" cy="457200"/>
          </a:xfrm>
          <a:prstGeom prst="roundRect">
            <a:avLst>
              <a:gd name="adj" fmla="val 30000"/>
            </a:avLst>
          </a:prstGeom>
          <a:solidFill>
            <a:srgbClr val="E5F5FC"/>
          </a:solidFill>
          <a:ln w="9525">
            <a:solidFill>
              <a:srgbClr val="E5F5FC"/>
            </a:solidFill>
            <a:prstDash val="solid"/>
          </a:ln>
        </p:spPr>
      </p:sp>
      <p:pic>
        <p:nvPicPr>
          <p:cNvPr id="15" name="Image 1" descr="preencoded.png">    </p:cNvPr>
          <p:cNvPicPr>
            <a:picLocks noChangeAspect="1"/>
          </p:cNvPicPr>
          <p:nvPr/>
        </p:nvPicPr>
        <p:blipFill>
          <a:blip r:embed="rId2"/>
          <a:stretch>
            <a:fillRect/>
          </a:stretch>
        </p:blipFill>
        <p:spPr>
          <a:xfrm>
            <a:off x="4673498" y="2093976"/>
            <a:ext cx="274320" cy="274320"/>
          </a:xfrm>
          <a:prstGeom prst="rect">
            <a:avLst/>
          </a:prstGeom>
        </p:spPr>
      </p:pic>
      <p:sp>
        <p:nvSpPr>
          <p:cNvPr id="16" name="Text 12"/>
          <p:cNvSpPr txBox="1"/>
          <p:nvPr/>
        </p:nvSpPr>
        <p:spPr>
          <a:xfrm>
            <a:off x="5176418"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FINDING</a:t>
            </a:r>
            <a:endParaRPr lang="en-US" sz="1050" dirty="0"/>
          </a:p>
        </p:txBody>
      </p:sp>
      <p:sp>
        <p:nvSpPr>
          <p:cNvPr id="17" name="Text 13"/>
          <p:cNvSpPr txBox="1"/>
          <p:nvPr/>
        </p:nvSpPr>
        <p:spPr>
          <a:xfrm>
            <a:off x="4582058"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3 of 5</a:t>
            </a:r>
            <a:endParaRPr lang="en-US" sz="4200" dirty="0"/>
          </a:p>
        </p:txBody>
      </p:sp>
      <p:sp>
        <p:nvSpPr>
          <p:cNvPr id="18" name="Text 14"/>
          <p:cNvSpPr txBox="1"/>
          <p:nvPr/>
        </p:nvSpPr>
        <p:spPr>
          <a:xfrm>
            <a:off x="4582058"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 exercitation ullamco laboris nisi ut aliquip ex ea commodo consequat duis.</a:t>
            </a:r>
            <a:endParaRPr lang="en-US" sz="1350" dirty="0"/>
          </a:p>
        </p:txBody>
      </p:sp>
      <p:sp>
        <p:nvSpPr>
          <p:cNvPr id="19" name="Shape 15"/>
          <p:cNvSpPr/>
          <p:nvPr/>
        </p:nvSpPr>
        <p:spPr>
          <a:xfrm>
            <a:off x="8158277" y="1783080"/>
            <a:ext cx="3576218" cy="2788920"/>
          </a:xfrm>
          <a:prstGeom prst="roundRect">
            <a:avLst>
              <a:gd name="adj" fmla="val 3934"/>
            </a:avLst>
          </a:prstGeom>
          <a:solidFill>
            <a:srgbClr val="FFFFFF"/>
          </a:solidFill>
          <a:ln w="9525">
            <a:solidFill>
              <a:srgbClr val="D9D9D6"/>
            </a:solidFill>
            <a:prstDash val="solid"/>
          </a:ln>
        </p:spPr>
      </p:sp>
      <p:sp>
        <p:nvSpPr>
          <p:cNvPr id="20" name="Shape 16"/>
          <p:cNvSpPr/>
          <p:nvPr/>
        </p:nvSpPr>
        <p:spPr>
          <a:xfrm>
            <a:off x="8432597" y="2002536"/>
            <a:ext cx="457200" cy="457200"/>
          </a:xfrm>
          <a:prstGeom prst="roundRect">
            <a:avLst>
              <a:gd name="adj" fmla="val 30000"/>
            </a:avLst>
          </a:prstGeom>
          <a:solidFill>
            <a:srgbClr val="E5F5FC"/>
          </a:solidFill>
          <a:ln w="9525">
            <a:solidFill>
              <a:srgbClr val="E5F5FC"/>
            </a:solidFill>
            <a:prstDash val="solid"/>
          </a:ln>
        </p:spPr>
      </p:sp>
      <p:pic>
        <p:nvPicPr>
          <p:cNvPr id="21" name="Image 2" descr="preencoded.png">    </p:cNvPr>
          <p:cNvPicPr>
            <a:picLocks noChangeAspect="1"/>
          </p:cNvPicPr>
          <p:nvPr/>
        </p:nvPicPr>
        <p:blipFill>
          <a:blip r:embed="rId3"/>
          <a:stretch>
            <a:fillRect/>
          </a:stretch>
        </p:blipFill>
        <p:spPr>
          <a:xfrm>
            <a:off x="8524037" y="2093976"/>
            <a:ext cx="274320" cy="274320"/>
          </a:xfrm>
          <a:prstGeom prst="rect">
            <a:avLst/>
          </a:prstGeom>
        </p:spPr>
      </p:pic>
      <p:sp>
        <p:nvSpPr>
          <p:cNvPr id="22" name="Text 17"/>
          <p:cNvSpPr txBox="1"/>
          <p:nvPr/>
        </p:nvSpPr>
        <p:spPr>
          <a:xfrm>
            <a:off x="9026957"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IMPACT</a:t>
            </a:r>
            <a:endParaRPr lang="en-US" sz="1050" dirty="0"/>
          </a:p>
        </p:txBody>
      </p:sp>
      <p:sp>
        <p:nvSpPr>
          <p:cNvPr id="23" name="Text 18"/>
          <p:cNvSpPr txBox="1"/>
          <p:nvPr/>
        </p:nvSpPr>
        <p:spPr>
          <a:xfrm>
            <a:off x="8432597"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+18 pts</a:t>
            </a:r>
            <a:endParaRPr lang="en-US" sz="4200" dirty="0"/>
          </a:p>
        </p:txBody>
      </p:sp>
      <p:sp>
        <p:nvSpPr>
          <p:cNvPr id="24" name="Text 19"/>
          <p:cNvSpPr txBox="1"/>
          <p:nvPr/>
        </p:nvSpPr>
        <p:spPr>
          <a:xfrm>
            <a:off x="8432597"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 in voluptate.</a:t>
            </a:r>
            <a:endParaRPr lang="en-US" sz="1350" dirty="0"/>
          </a:p>
        </p:txBody>
      </p:sp>
      <p:sp>
        <p:nvSpPr>
          <p:cNvPr id="25" name="Shape 20"/>
          <p:cNvSpPr/>
          <p:nvPr/>
        </p:nvSpPr>
        <p:spPr>
          <a:xfrm>
            <a:off x="457200" y="4846320"/>
            <a:ext cx="11277295" cy="1234440"/>
          </a:xfrm>
          <a:prstGeom prst="roundRect">
            <a:avLst>
              <a:gd name="adj" fmla="val 7407"/>
            </a:avLst>
          </a:prstGeom>
          <a:solidFill>
            <a:srgbClr val="002A3A"/>
          </a:solidFill>
          <a:ln w="9525">
            <a:solidFill>
              <a:srgbClr val="002A3A"/>
            </a:solidFill>
            <a:prstDash val="solid"/>
          </a:ln>
        </p:spPr>
      </p:sp>
      <p:sp>
        <p:nvSpPr>
          <p:cNvPr id="26" name="Shape 21"/>
          <p:cNvSpPr/>
          <p:nvPr/>
        </p:nvSpPr>
        <p:spPr>
          <a:xfrm>
            <a:off x="731520" y="5230368"/>
            <a:ext cx="1188720" cy="457200"/>
          </a:xfrm>
          <a:prstGeom prst="roundRect">
            <a:avLst>
              <a:gd name="adj" fmla="val 16000"/>
            </a:avLst>
          </a:prstGeom>
          <a:solidFill>
            <a:srgbClr val="64CCC9"/>
          </a:solidFill>
          <a:ln w="9525">
            <a:solidFill>
              <a:srgbClr val="64CCC9"/>
            </a:solidFill>
            <a:prstDash val="solid"/>
          </a:ln>
        </p:spPr>
      </p:sp>
      <p:sp>
        <p:nvSpPr>
          <p:cNvPr id="27" name="Text 22"/>
          <p:cNvSpPr txBox="1"/>
          <p:nvPr/>
        </p:nvSpPr>
        <p:spPr>
          <a:xfrm>
            <a:off x="731520" y="5230368"/>
            <a:ext cx="1188720" cy="45720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THE ASK</a:t>
            </a:r>
            <a:endParaRPr lang="en-US" sz="1050" dirty="0"/>
          </a:p>
        </p:txBody>
      </p:sp>
      <p:sp>
        <p:nvSpPr>
          <p:cNvPr id="28" name="Text 23"/>
          <p:cNvSpPr txBox="1"/>
          <p:nvPr/>
        </p:nvSpPr>
        <p:spPr>
          <a:xfrm>
            <a:off x="2194560" y="4846320"/>
            <a:ext cx="9052560" cy="1234440"/>
          </a:xfrm>
          <a:prstGeom prst="rect">
            <a:avLst/>
          </a:prstGeom>
          <a:noFill/>
          <a:ln/>
        </p:spPr>
        <p:txBody>
          <a:bodyPr wrap="square" lIns="0" tIns="0" rIns="0" bIns="0" rtlCol="0" anchor="ctr"/>
          <a:lstStyle/>
          <a:p>
            <a:pPr indent="0" marL="0">
              <a:buNone/>
            </a:pPr>
            <a:r>
              <a:rPr lang="en-US" sz="1600" dirty="0">
                <a:solidFill>
                  <a:srgbClr val="FFFFFF"/>
                </a:solidFill>
                <a:latin typeface="Hanken Grotesk" pitchFamily="34" charset="0"/>
                <a:ea typeface="Hanken Grotesk" pitchFamily="34" charset="-122"/>
                <a:cs typeface="Hanken Grotesk" pitchFamily="34" charset="-120"/>
              </a:rPr>
              <a:t>Deserunt mollit anim id est laborum curabitur pretium tincidunt lacus nulla gravida orci a odio nullam varius turpis et commodo pharetra est.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PROBLEM / 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11</a:t>
            </a:r>
            <a:endParaRPr lang="en-US" sz="1050" dirty="0"/>
          </a:p>
        </p:txBody>
      </p:sp>
      <p:sp>
        <p:nvSpPr>
          <p:cNvPr id="7" name="Shape 5"/>
          <p:cNvSpPr/>
          <p:nvPr/>
        </p:nvSpPr>
        <p:spPr>
          <a:xfrm>
            <a:off x="457200" y="1783080"/>
            <a:ext cx="5120640" cy="4343400"/>
          </a:xfrm>
          <a:prstGeom prst="roundRect">
            <a:avLst>
              <a:gd name="adj" fmla="val 2526"/>
            </a:avLst>
          </a:prstGeom>
          <a:solidFill>
            <a:srgbClr val="004F71"/>
          </a:solidFill>
          <a:ln w="9525">
            <a:solidFill>
              <a:srgbClr val="004F71"/>
            </a:solidFill>
            <a:prstDash val="solid"/>
          </a:ln>
        </p:spPr>
      </p:sp>
      <p:sp>
        <p:nvSpPr>
          <p:cNvPr id="8" name="Shape 6"/>
          <p:cNvSpPr/>
          <p:nvPr/>
        </p:nvSpPr>
        <p:spPr>
          <a:xfrm>
            <a:off x="822960" y="2148840"/>
            <a:ext cx="548640" cy="54864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HYPOTHESIS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Lorem ipsum hypothesis stated as one testable sentence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11</a:t>
            </a:r>
            <a:endParaRPr lang="en-US" sz="1050" dirty="0"/>
          </a:p>
        </p:txBody>
      </p:sp>
      <p:sp>
        <p:nvSpPr>
          <p:cNvPr id="7" name="Shape 5"/>
          <p:cNvSpPr/>
          <p:nvPr/>
        </p:nvSpPr>
        <p:spPr>
          <a:xfrm>
            <a:off x="457200" y="1783080"/>
            <a:ext cx="11277295" cy="3291840"/>
          </a:xfrm>
          <a:prstGeom prst="roundRect">
            <a:avLst>
              <a:gd name="adj" fmla="val 3889"/>
            </a:avLst>
          </a:prstGeom>
          <a:solidFill>
            <a:srgbClr val="004F71"/>
          </a:solidFill>
          <a:ln w="9525">
            <a:solidFill>
              <a:srgbClr val="004F71"/>
            </a:solidFill>
            <a:prstDash val="solid"/>
          </a:ln>
        </p:spPr>
      </p:sp>
      <p:sp>
        <p:nvSpPr>
          <p:cNvPr id="8" name="Shape 6"/>
          <p:cNvSpPr/>
          <p:nvPr/>
        </p:nvSpPr>
        <p:spPr>
          <a:xfrm>
            <a:off x="868680" y="2148840"/>
            <a:ext cx="1554480" cy="310896"/>
          </a:xfrm>
          <a:prstGeom prst="roundRect">
            <a:avLst>
              <a:gd name="adj" fmla="val 23529"/>
            </a:avLst>
          </a:prstGeom>
          <a:solidFill>
            <a:srgbClr val="64CCC9"/>
          </a:solidFill>
          <a:ln w="9525">
            <a:solidFill>
              <a:srgbClr val="64CCC9"/>
            </a:solidFill>
            <a:prstDash val="solid"/>
          </a:ln>
        </p:spPr>
      </p:sp>
      <p:sp>
        <p:nvSpPr>
          <p:cNvPr id="9" name="Text 7"/>
          <p:cNvSpPr txBox="1"/>
          <p:nvPr/>
        </p:nvSpPr>
        <p:spPr>
          <a:xfrm>
            <a:off x="868680" y="2148840"/>
            <a:ext cx="1554480" cy="310896"/>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HYPOTHESIS</a:t>
            </a:r>
            <a:endParaRPr lang="en-US" sz="1050" dirty="0"/>
          </a:p>
        </p:txBody>
      </p:sp>
      <p:sp>
        <p:nvSpPr>
          <p:cNvPr id="10" name="Text 8"/>
          <p:cNvSpPr txBox="1"/>
          <p:nvPr/>
        </p:nvSpPr>
        <p:spPr>
          <a:xfrm>
            <a:off x="868680" y="26517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We believe that laboris nisi ut aliquip ex ea commodo consequat duis aute will est eros bibendum elit nec luctus magna felis.</a:t>
            </a:r>
            <a:endParaRPr lang="en-US" sz="3000" dirty="0"/>
          </a:p>
        </p:txBody>
      </p:sp>
      <p:sp>
        <p:nvSpPr>
          <p:cNvPr id="11" name="Text 9"/>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WE'LL KNOW IT WORKED WHEN</a:t>
            </a:r>
            <a:endParaRPr lang="en-US" sz="1050" dirty="0"/>
          </a:p>
        </p:txBody>
      </p:sp>
      <p:sp>
        <p:nvSpPr>
          <p:cNvPr id="12" name="Text 10"/>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3" name="Text 11"/>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14" name="Text 12"/>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Lorem ipsum rate, +2 pts or more</a:t>
            </a:r>
            <a:endParaRPr lang="en-US" sz="1350" dirty="0"/>
          </a:p>
        </p:txBody>
      </p:sp>
      <p:sp>
        <p:nvSpPr>
          <p:cNvPr id="15" name="Text 13"/>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16" name="Text 14"/>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Sed do eiusmod tempor incididunt ut labore et.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EXPERIMENT DESIGN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SLD-PROCESS-01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11</a:t>
            </a:r>
            <a:endParaRPr lang="en-US" sz="1050" dirty="0"/>
          </a:p>
        </p:txBody>
      </p:sp>
      <p:sp>
        <p:nvSpPr>
          <p:cNvPr id="7" name="Shape 5"/>
          <p:cNvSpPr/>
          <p:nvPr/>
        </p:nvSpPr>
        <p:spPr>
          <a:xfrm>
            <a:off x="1188720" y="2514600"/>
            <a:ext cx="9814255" cy="0"/>
          </a:xfrm>
          <a:prstGeom prst="line">
            <a:avLst/>
          </a:prstGeom>
          <a:noFill/>
          <a:ln w="25400">
            <a:solidFill>
              <a:srgbClr val="D9D9D6"/>
            </a:solidFill>
            <a:prstDash val="solid"/>
          </a:ln>
        </p:spPr>
      </p:sp>
      <p:sp>
        <p:nvSpPr>
          <p:cNvPr id="8" name="Shape 6"/>
          <p:cNvSpPr/>
          <p:nvPr/>
        </p:nvSpPr>
        <p:spPr>
          <a:xfrm>
            <a:off x="914400" y="2240280"/>
            <a:ext cx="548640" cy="548640"/>
          </a:xfrm>
          <a:prstGeom prst="ellipse">
            <a:avLst/>
          </a:prstGeom>
          <a:solidFill>
            <a:srgbClr val="004F71"/>
          </a:solidFill>
          <a:ln w="12700">
            <a:solidFill>
              <a:srgbClr val="004F71"/>
            </a:solidFill>
            <a:prstDash val="solid"/>
          </a:ln>
        </p:spPr>
      </p:sp>
      <p:sp>
        <p:nvSpPr>
          <p:cNvPr id="9" name="Text 7"/>
          <p:cNvSpPr txBox="1"/>
          <p:nvPr/>
        </p:nvSpPr>
        <p:spPr>
          <a:xfrm>
            <a:off x="914400"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0" name="Text 8"/>
          <p:cNvSpPr txBox="1"/>
          <p:nvPr/>
        </p:nvSpPr>
        <p:spPr>
          <a:xfrm>
            <a:off x="182880"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Recruit</a:t>
            </a:r>
            <a:endParaRPr lang="en-US" sz="1500" dirty="0"/>
          </a:p>
        </p:txBody>
      </p:sp>
      <p:sp>
        <p:nvSpPr>
          <p:cNvPr id="11" name="Text 9"/>
          <p:cNvSpPr txBox="1"/>
          <p:nvPr/>
        </p:nvSpPr>
        <p:spPr>
          <a:xfrm>
            <a:off x="182880"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Consequat duis aute irure dolor in reprehenderit in voluptate.</a:t>
            </a:r>
            <a:endParaRPr lang="en-US" sz="1150" dirty="0"/>
          </a:p>
        </p:txBody>
      </p:sp>
      <p:sp>
        <p:nvSpPr>
          <p:cNvPr id="12" name="Shape 10"/>
          <p:cNvSpPr/>
          <p:nvPr/>
        </p:nvSpPr>
        <p:spPr>
          <a:xfrm>
            <a:off x="3367964" y="2240280"/>
            <a:ext cx="548640" cy="548640"/>
          </a:xfrm>
          <a:prstGeom prst="ellipse">
            <a:avLst/>
          </a:prstGeom>
          <a:solidFill>
            <a:srgbClr val="004F71"/>
          </a:solidFill>
          <a:ln w="12700">
            <a:solidFill>
              <a:srgbClr val="004F71"/>
            </a:solidFill>
            <a:prstDash val="solid"/>
          </a:ln>
        </p:spPr>
      </p:sp>
      <p:sp>
        <p:nvSpPr>
          <p:cNvPr id="13" name="Text 11"/>
          <p:cNvSpPr txBox="1"/>
          <p:nvPr/>
        </p:nvSpPr>
        <p:spPr>
          <a:xfrm>
            <a:off x="3367964"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4" name="Text 12"/>
          <p:cNvSpPr txBox="1"/>
          <p:nvPr/>
        </p:nvSpPr>
        <p:spPr>
          <a:xfrm>
            <a:off x="2636444"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Randomize</a:t>
            </a:r>
            <a:endParaRPr lang="en-US" sz="1500" dirty="0"/>
          </a:p>
        </p:txBody>
      </p:sp>
      <p:sp>
        <p:nvSpPr>
          <p:cNvPr id="15" name="Text 13"/>
          <p:cNvSpPr txBox="1"/>
          <p:nvPr/>
        </p:nvSpPr>
        <p:spPr>
          <a:xfrm>
            <a:off x="2636444"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Non proident sunt in culpa qui officia deserunt mollit.</a:t>
            </a:r>
            <a:endParaRPr lang="en-US" sz="1150" dirty="0"/>
          </a:p>
        </p:txBody>
      </p:sp>
      <p:sp>
        <p:nvSpPr>
          <p:cNvPr id="16" name="Shape 14"/>
          <p:cNvSpPr/>
          <p:nvPr/>
        </p:nvSpPr>
        <p:spPr>
          <a:xfrm>
            <a:off x="5821528" y="2240280"/>
            <a:ext cx="548640" cy="548640"/>
          </a:xfrm>
          <a:prstGeom prst="ellipse">
            <a:avLst/>
          </a:prstGeom>
          <a:solidFill>
            <a:srgbClr val="004F71"/>
          </a:solidFill>
          <a:ln w="12700">
            <a:solidFill>
              <a:srgbClr val="004F71"/>
            </a:solidFill>
            <a:prstDash val="solid"/>
          </a:ln>
        </p:spPr>
      </p:sp>
      <p:sp>
        <p:nvSpPr>
          <p:cNvPr id="17" name="Text 15"/>
          <p:cNvSpPr txBox="1"/>
          <p:nvPr/>
        </p:nvSpPr>
        <p:spPr>
          <a:xfrm>
            <a:off x="5821528"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18" name="Text 16"/>
          <p:cNvSpPr txBox="1"/>
          <p:nvPr/>
        </p:nvSpPr>
        <p:spPr>
          <a:xfrm>
            <a:off x="5090008"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Expose</a:t>
            </a:r>
            <a:endParaRPr lang="en-US" sz="1500" dirty="0"/>
          </a:p>
        </p:txBody>
      </p:sp>
      <p:sp>
        <p:nvSpPr>
          <p:cNvPr id="19" name="Text 17"/>
          <p:cNvSpPr txBox="1"/>
          <p:nvPr/>
        </p:nvSpPr>
        <p:spPr>
          <a:xfrm>
            <a:off x="5090008"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Odio nullam varius turpis et commodo pharetra est eros.</a:t>
            </a:r>
            <a:endParaRPr lang="en-US" sz="1150" dirty="0"/>
          </a:p>
        </p:txBody>
      </p:sp>
      <p:sp>
        <p:nvSpPr>
          <p:cNvPr id="20" name="Shape 18"/>
          <p:cNvSpPr/>
          <p:nvPr/>
        </p:nvSpPr>
        <p:spPr>
          <a:xfrm>
            <a:off x="8275091" y="2240280"/>
            <a:ext cx="548640" cy="548640"/>
          </a:xfrm>
          <a:prstGeom prst="ellipse">
            <a:avLst/>
          </a:prstGeom>
          <a:solidFill>
            <a:srgbClr val="004F71"/>
          </a:solidFill>
          <a:ln w="12700">
            <a:solidFill>
              <a:srgbClr val="004F71"/>
            </a:solidFill>
            <a:prstDash val="solid"/>
          </a:ln>
        </p:spPr>
      </p:sp>
      <p:sp>
        <p:nvSpPr>
          <p:cNvPr id="21" name="Text 19"/>
          <p:cNvSpPr txBox="1"/>
          <p:nvPr/>
        </p:nvSpPr>
        <p:spPr>
          <a:xfrm>
            <a:off x="8275091"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4</a:t>
            </a:r>
            <a:endParaRPr lang="en-US" sz="1050" dirty="0"/>
          </a:p>
        </p:txBody>
      </p:sp>
      <p:sp>
        <p:nvSpPr>
          <p:cNvPr id="22" name="Text 20"/>
          <p:cNvSpPr txBox="1"/>
          <p:nvPr/>
        </p:nvSpPr>
        <p:spPr>
          <a:xfrm>
            <a:off x="7543571"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Measure</a:t>
            </a:r>
            <a:endParaRPr lang="en-US" sz="1500" dirty="0"/>
          </a:p>
        </p:txBody>
      </p:sp>
      <p:sp>
        <p:nvSpPr>
          <p:cNvPr id="23" name="Text 21"/>
          <p:cNvSpPr txBox="1"/>
          <p:nvPr/>
        </p:nvSpPr>
        <p:spPr>
          <a:xfrm>
            <a:off x="7543571"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Nibh euismod gravida lorem ipsum dolor sit amet consectetur.</a:t>
            </a:r>
            <a:endParaRPr lang="en-US" sz="1150" dirty="0"/>
          </a:p>
        </p:txBody>
      </p:sp>
      <p:sp>
        <p:nvSpPr>
          <p:cNvPr id="24" name="Shape 22"/>
          <p:cNvSpPr/>
          <p:nvPr/>
        </p:nvSpPr>
        <p:spPr>
          <a:xfrm>
            <a:off x="10728655" y="2240280"/>
            <a:ext cx="548640" cy="548640"/>
          </a:xfrm>
          <a:prstGeom prst="ellipse">
            <a:avLst/>
          </a:prstGeom>
          <a:solidFill>
            <a:srgbClr val="004F71"/>
          </a:solidFill>
          <a:ln w="12700">
            <a:solidFill>
              <a:srgbClr val="004F71"/>
            </a:solidFill>
            <a:prstDash val="solid"/>
          </a:ln>
        </p:spPr>
      </p:sp>
      <p:sp>
        <p:nvSpPr>
          <p:cNvPr id="25" name="Text 23"/>
          <p:cNvSpPr txBox="1"/>
          <p:nvPr/>
        </p:nvSpPr>
        <p:spPr>
          <a:xfrm>
            <a:off x="10728655"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5</a:t>
            </a:r>
            <a:endParaRPr lang="en-US" sz="1050" dirty="0"/>
          </a:p>
        </p:txBody>
      </p:sp>
      <p:sp>
        <p:nvSpPr>
          <p:cNvPr id="26" name="Text 24"/>
          <p:cNvSpPr txBox="1"/>
          <p:nvPr/>
        </p:nvSpPr>
        <p:spPr>
          <a:xfrm>
            <a:off x="9997135"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Decide</a:t>
            </a:r>
            <a:endParaRPr lang="en-US" sz="1500" dirty="0"/>
          </a:p>
        </p:txBody>
      </p:sp>
      <p:sp>
        <p:nvSpPr>
          <p:cNvPr id="27" name="Text 25"/>
          <p:cNvSpPr txBox="1"/>
          <p:nvPr/>
        </p:nvSpPr>
        <p:spPr>
          <a:xfrm>
            <a:off x="9997135"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Aliqua ut enim ad minim veniam quis nostrud exercitation.</a:t>
            </a:r>
            <a:endParaRPr lang="en-US" sz="1150" dirty="0"/>
          </a:p>
        </p:txBody>
      </p:sp>
      <p:sp>
        <p:nvSpPr>
          <p:cNvPr id="28" name="Shape 26"/>
          <p:cNvSpPr/>
          <p:nvPr/>
        </p:nvSpPr>
        <p:spPr>
          <a:xfrm>
            <a:off x="457200" y="4617720"/>
            <a:ext cx="11277295" cy="1508760"/>
          </a:xfrm>
          <a:prstGeom prst="roundRect">
            <a:avLst>
              <a:gd name="adj" fmla="val 7273"/>
            </a:avLst>
          </a:prstGeom>
          <a:solidFill>
            <a:srgbClr val="ECECEA"/>
          </a:solidFill>
          <a:ln w="9525">
            <a:solidFill>
              <a:srgbClr val="ECECEA"/>
            </a:solidFill>
            <a:prstDash val="solid"/>
          </a:ln>
        </p:spPr>
      </p:sp>
      <p:sp>
        <p:nvSpPr>
          <p:cNvPr id="29" name="Text 27"/>
          <p:cNvSpPr txBox="1"/>
          <p:nvPr/>
        </p:nvSpPr>
        <p:spPr>
          <a:xfrm>
            <a:off x="731520"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AUDIENCE</a:t>
            </a:r>
            <a:endParaRPr lang="en-US" sz="1050" dirty="0"/>
          </a:p>
        </p:txBody>
      </p:sp>
      <p:sp>
        <p:nvSpPr>
          <p:cNvPr id="30" name="Text 28"/>
          <p:cNvSpPr txBox="1"/>
          <p:nvPr/>
        </p:nvSpPr>
        <p:spPr>
          <a:xfrm>
            <a:off x="731520"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n = 12,000</a:t>
            </a:r>
            <a:endParaRPr lang="en-US" sz="1700" dirty="0"/>
          </a:p>
        </p:txBody>
      </p:sp>
      <p:sp>
        <p:nvSpPr>
          <p:cNvPr id="31" name="Text 29"/>
          <p:cNvSpPr txBox="1"/>
          <p:nvPr/>
        </p:nvSpPr>
        <p:spPr>
          <a:xfrm>
            <a:off x="2877251"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SPLIT</a:t>
            </a:r>
            <a:endParaRPr lang="en-US" sz="1050" dirty="0"/>
          </a:p>
        </p:txBody>
      </p:sp>
      <p:sp>
        <p:nvSpPr>
          <p:cNvPr id="32" name="Text 30"/>
          <p:cNvSpPr txBox="1"/>
          <p:nvPr/>
        </p:nvSpPr>
        <p:spPr>
          <a:xfrm>
            <a:off x="2877251"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50 / 50</a:t>
            </a:r>
            <a:endParaRPr lang="en-US" sz="1700" dirty="0"/>
          </a:p>
        </p:txBody>
      </p:sp>
      <p:sp>
        <p:nvSpPr>
          <p:cNvPr id="33" name="Text 31"/>
          <p:cNvSpPr txBox="1"/>
          <p:nvPr/>
        </p:nvSpPr>
        <p:spPr>
          <a:xfrm>
            <a:off x="5022982"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DURATION</a:t>
            </a:r>
            <a:endParaRPr lang="en-US" sz="1050" dirty="0"/>
          </a:p>
        </p:txBody>
      </p:sp>
      <p:sp>
        <p:nvSpPr>
          <p:cNvPr id="34" name="Text 32"/>
          <p:cNvSpPr txBox="1"/>
          <p:nvPr/>
        </p:nvSpPr>
        <p:spPr>
          <a:xfrm>
            <a:off x="5022982"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4 weeks</a:t>
            </a:r>
            <a:endParaRPr lang="en-US" sz="1700" dirty="0"/>
          </a:p>
        </p:txBody>
      </p:sp>
      <p:sp>
        <p:nvSpPr>
          <p:cNvPr id="35" name="Text 33"/>
          <p:cNvSpPr txBox="1"/>
          <p:nvPr/>
        </p:nvSpPr>
        <p:spPr>
          <a:xfrm>
            <a:off x="7168713"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36" name="Text 34"/>
          <p:cNvSpPr txBox="1"/>
          <p:nvPr/>
        </p:nvSpPr>
        <p:spPr>
          <a:xfrm>
            <a:off x="7168713"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Lorem ipsum rate</a:t>
            </a:r>
            <a:endParaRPr lang="en-US" sz="1700" dirty="0"/>
          </a:p>
        </p:txBody>
      </p:sp>
      <p:sp>
        <p:nvSpPr>
          <p:cNvPr id="37" name="Text 35"/>
          <p:cNvSpPr txBox="1"/>
          <p:nvPr/>
        </p:nvSpPr>
        <p:spPr>
          <a:xfrm>
            <a:off x="9314444"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38" name="Text 36"/>
          <p:cNvSpPr txBox="1"/>
          <p:nvPr/>
        </p:nvSpPr>
        <p:spPr>
          <a:xfrm>
            <a:off x="9314444"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Dolor opt-out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VARIANTS / EXPERIENCE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SLD-VARIANTS-01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11</a:t>
            </a:r>
            <a:endParaRPr lang="en-US" sz="1050" dirty="0"/>
          </a:p>
        </p:txBody>
      </p:sp>
      <p:sp>
        <p:nvSpPr>
          <p:cNvPr id="7" name="Shape 5"/>
          <p:cNvSpPr/>
          <p:nvPr/>
        </p:nvSpPr>
        <p:spPr>
          <a:xfrm>
            <a:off x="640080" y="1737360"/>
            <a:ext cx="1463040" cy="310896"/>
          </a:xfrm>
          <a:prstGeom prst="roundRect">
            <a:avLst>
              <a:gd name="adj" fmla="val 23529"/>
            </a:avLst>
          </a:prstGeom>
          <a:solidFill>
            <a:srgbClr val="FFFFFF"/>
          </a:solidFill>
          <a:ln w="9525">
            <a:solidFill>
              <a:srgbClr val="FFFFFF"/>
            </a:solidFill>
            <a:prstDash val="solid"/>
          </a:ln>
        </p:spPr>
      </p:sp>
      <p:sp>
        <p:nvSpPr>
          <p:cNvPr id="8" name="Text 6"/>
          <p:cNvSpPr txBox="1"/>
          <p:nvPr/>
        </p:nvSpPr>
        <p:spPr>
          <a:xfrm>
            <a:off x="640080" y="1737360"/>
            <a:ext cx="1463040" cy="310896"/>
          </a:xfrm>
          <a:prstGeom prst="rect">
            <a:avLst/>
          </a:prstGeom>
          <a:noFill/>
          <a:ln/>
        </p:spPr>
        <p:txBody>
          <a:bodyPr wrap="square" lIns="0" tIns="0" rIns="0" bIns="0" rtlCol="0" anchor="ctr"/>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Shape 7"/>
          <p:cNvSpPr/>
          <p:nvPr/>
        </p:nvSpPr>
        <p:spPr>
          <a:xfrm>
            <a:off x="766466" y="2219605"/>
            <a:ext cx="1464162" cy="3104265"/>
          </a:xfrm>
          <a:prstGeom prst="roundRect">
            <a:avLst>
              <a:gd name="adj" fmla="val 14000"/>
            </a:avLst>
          </a:prstGeom>
          <a:solidFill>
            <a:srgbClr val="ECECEA"/>
          </a:solidFill>
          <a:ln w="9525">
            <a:solidFill>
              <a:srgbClr val="ECECEA"/>
            </a:solidFill>
            <a:prstDash val="solid"/>
          </a:ln>
        </p:spPr>
      </p:sp>
      <p:sp>
        <p:nvSpPr>
          <p:cNvPr id="10" name="Text 8"/>
          <p:cNvSpPr txBox="1"/>
          <p:nvPr/>
        </p:nvSpPr>
        <p:spPr>
          <a:xfrm>
            <a:off x="857906"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Control</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685800" y="2148840"/>
            <a:ext cx="1623060" cy="3246120"/>
          </a:xfrm>
          <a:prstGeom prst="rect">
            <a:avLst/>
          </a:prstGeom>
        </p:spPr>
      </p:pic>
      <p:sp>
        <p:nvSpPr>
          <p:cNvPr id="12" name="Text 9"/>
          <p:cNvSpPr txBox="1"/>
          <p:nvPr/>
        </p:nvSpPr>
        <p:spPr>
          <a:xfrm>
            <a:off x="2537460"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Ad minim veniam quis nostrud exercitation ullamco laboris.</a:t>
            </a:r>
            <a:endParaRPr lang="en-US" sz="1350" dirty="0"/>
          </a:p>
        </p:txBody>
      </p:sp>
      <p:sp>
        <p:nvSpPr>
          <p:cNvPr id="13" name="Text 10"/>
          <p:cNvSpPr txBox="1"/>
          <p:nvPr/>
        </p:nvSpPr>
        <p:spPr>
          <a:xfrm>
            <a:off x="2537460" y="3886200"/>
            <a:ext cx="1404518" cy="548640"/>
          </a:xfrm>
          <a:prstGeom prst="rect">
            <a:avLst/>
          </a:prstGeom>
          <a:noFill/>
          <a:ln/>
        </p:spPr>
        <p:txBody>
          <a:bodyPr wrap="square" lIns="0" tIns="0" rIns="0" bIns="0" rtlCol="0" anchor="t"/>
          <a:lstStyle/>
          <a:p>
            <a:pPr indent="0" marL="0">
              <a:buNone/>
            </a:pPr>
            <a:r>
              <a:rPr lang="en-US" sz="2600" b="1" dirty="0">
                <a:solidFill>
                  <a:srgbClr val="63666A"/>
                </a:solidFill>
                <a:latin typeface="Bricolage Grotesque" pitchFamily="34" charset="0"/>
                <a:ea typeface="Bricolage Grotesque" pitchFamily="34" charset="-122"/>
                <a:cs typeface="Bricolage Grotesque" pitchFamily="34" charset="-120"/>
              </a:rPr>
              <a:t>10.2%</a:t>
            </a:r>
            <a:endParaRPr lang="en-US" sz="2600" dirty="0"/>
          </a:p>
        </p:txBody>
      </p:sp>
      <p:sp>
        <p:nvSpPr>
          <p:cNvPr id="14" name="Text 11"/>
          <p:cNvSpPr txBox="1"/>
          <p:nvPr/>
        </p:nvSpPr>
        <p:spPr>
          <a:xfrm>
            <a:off x="2537460"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5" name="Shape 12"/>
          <p:cNvSpPr/>
          <p:nvPr/>
        </p:nvSpPr>
        <p:spPr>
          <a:xfrm>
            <a:off x="4399178" y="1737360"/>
            <a:ext cx="1463040" cy="310896"/>
          </a:xfrm>
          <a:prstGeom prst="roundRect">
            <a:avLst>
              <a:gd name="adj" fmla="val 23529"/>
            </a:avLst>
          </a:prstGeom>
          <a:solidFill>
            <a:srgbClr val="FFFFFF"/>
          </a:solidFill>
          <a:ln w="9525">
            <a:solidFill>
              <a:srgbClr val="FFFFFF"/>
            </a:solidFill>
            <a:prstDash val="solid"/>
          </a:ln>
        </p:spPr>
      </p:sp>
      <p:sp>
        <p:nvSpPr>
          <p:cNvPr id="16" name="Text 13"/>
          <p:cNvSpPr txBox="1"/>
          <p:nvPr/>
        </p:nvSpPr>
        <p:spPr>
          <a:xfrm>
            <a:off x="4399178" y="1737360"/>
            <a:ext cx="1463040" cy="310896"/>
          </a:xfrm>
          <a:prstGeom prst="rect">
            <a:avLst/>
          </a:prstGeom>
          <a:noFill/>
          <a:ln/>
        </p:spPr>
        <p:txBody>
          <a:bodyPr wrap="square" lIns="0" tIns="0" rIns="0" bIns="0" rtlCol="0" anchor="ctr"/>
          <a:lstStyle/>
          <a:p>
            <a:pPr algn="ctr" indent="0" marL="0">
              <a:buNone/>
            </a:pPr>
            <a:r>
              <a:rPr lang="en-US" sz="1050" b="1" dirty="0">
                <a:solidFill>
                  <a:srgbClr val="004F71"/>
                </a:solidFill>
                <a:latin typeface="Hanken Grotesk" pitchFamily="34" charset="0"/>
                <a:ea typeface="Hanken Grotesk" pitchFamily="34" charset="-122"/>
                <a:cs typeface="Hanken Grotesk" pitchFamily="34" charset="-120"/>
              </a:rPr>
              <a:t>Variant A</a:t>
            </a:r>
            <a:endParaRPr lang="en-US" sz="1050" dirty="0"/>
          </a:p>
        </p:txBody>
      </p:sp>
      <p:sp>
        <p:nvSpPr>
          <p:cNvPr id="17" name="Shape 14"/>
          <p:cNvSpPr/>
          <p:nvPr/>
        </p:nvSpPr>
        <p:spPr>
          <a:xfrm>
            <a:off x="4525564" y="2219605"/>
            <a:ext cx="1464162" cy="3104265"/>
          </a:xfrm>
          <a:prstGeom prst="roundRect">
            <a:avLst>
              <a:gd name="adj" fmla="val 14000"/>
            </a:avLst>
          </a:prstGeom>
          <a:solidFill>
            <a:srgbClr val="ECECEA"/>
          </a:solidFill>
          <a:ln w="9525">
            <a:solidFill>
              <a:srgbClr val="ECECEA"/>
            </a:solidFill>
            <a:prstDash val="solid"/>
          </a:ln>
        </p:spPr>
      </p:sp>
      <p:sp>
        <p:nvSpPr>
          <p:cNvPr id="18" name="Text 15"/>
          <p:cNvSpPr txBox="1"/>
          <p:nvPr/>
        </p:nvSpPr>
        <p:spPr>
          <a:xfrm>
            <a:off x="4617004"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A</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9" name="Image 1" descr="preencoded.png">    </p:cNvPr>
          <p:cNvPicPr>
            <a:picLocks noChangeAspect="1"/>
          </p:cNvPicPr>
          <p:nvPr/>
        </p:nvPicPr>
        <p:blipFill>
          <a:blip r:embed="rId2"/>
          <a:stretch>
            <a:fillRect/>
          </a:stretch>
        </p:blipFill>
        <p:spPr>
          <a:xfrm>
            <a:off x="4444898" y="2148840"/>
            <a:ext cx="1623060" cy="3246120"/>
          </a:xfrm>
          <a:prstGeom prst="rect">
            <a:avLst/>
          </a:prstGeom>
        </p:spPr>
      </p:pic>
      <p:sp>
        <p:nvSpPr>
          <p:cNvPr id="20" name="Text 16"/>
          <p:cNvSpPr txBox="1"/>
          <p:nvPr/>
        </p:nvSpPr>
        <p:spPr>
          <a:xfrm>
            <a:off x="6296558"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Fugiat nulla pariatur excepteur sint occaecat cupidatat non.</a:t>
            </a:r>
            <a:endParaRPr lang="en-US" sz="1350" dirty="0"/>
          </a:p>
        </p:txBody>
      </p:sp>
      <p:sp>
        <p:nvSpPr>
          <p:cNvPr id="21" name="Text 17"/>
          <p:cNvSpPr txBox="1"/>
          <p:nvPr/>
        </p:nvSpPr>
        <p:spPr>
          <a:xfrm>
            <a:off x="6296558" y="3886200"/>
            <a:ext cx="1404518" cy="548640"/>
          </a:xfrm>
          <a:prstGeom prst="rect">
            <a:avLst/>
          </a:prstGeom>
          <a:noFill/>
          <a:ln/>
        </p:spPr>
        <p:txBody>
          <a:bodyPr wrap="square" lIns="0" tIns="0" rIns="0" bIns="0" rtlCol="0" anchor="t"/>
          <a:lstStyle/>
          <a:p>
            <a:pPr indent="0" marL="0">
              <a:buNone/>
            </a:pPr>
            <a:r>
              <a:rPr lang="en-US" sz="2600" b="1" dirty="0">
                <a:solidFill>
                  <a:srgbClr val="004F71"/>
                </a:solidFill>
                <a:latin typeface="Bricolage Grotesque" pitchFamily="34" charset="0"/>
                <a:ea typeface="Bricolage Grotesque" pitchFamily="34" charset="-122"/>
                <a:cs typeface="Bricolage Grotesque" pitchFamily="34" charset="-120"/>
              </a:rPr>
              <a:t>11.6%</a:t>
            </a:r>
            <a:endParaRPr lang="en-US" sz="2600" dirty="0"/>
          </a:p>
        </p:txBody>
      </p:sp>
      <p:sp>
        <p:nvSpPr>
          <p:cNvPr id="22" name="Text 18"/>
          <p:cNvSpPr txBox="1"/>
          <p:nvPr/>
        </p:nvSpPr>
        <p:spPr>
          <a:xfrm>
            <a:off x="6296558"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+1.4 pts vs control</a:t>
            </a:r>
            <a:endParaRPr lang="en-US" sz="1050" dirty="0"/>
          </a:p>
        </p:txBody>
      </p:sp>
      <p:sp>
        <p:nvSpPr>
          <p:cNvPr id="23" name="Shape 19"/>
          <p:cNvSpPr/>
          <p:nvPr/>
        </p:nvSpPr>
        <p:spPr>
          <a:xfrm>
            <a:off x="8158277" y="1737360"/>
            <a:ext cx="1463040" cy="310896"/>
          </a:xfrm>
          <a:prstGeom prst="roundRect">
            <a:avLst>
              <a:gd name="adj" fmla="val 23529"/>
            </a:avLst>
          </a:prstGeom>
          <a:solidFill>
            <a:srgbClr val="FFFFFF"/>
          </a:solidFill>
          <a:ln w="9525">
            <a:solidFill>
              <a:srgbClr val="FFFFFF"/>
            </a:solidFill>
            <a:prstDash val="solid"/>
          </a:ln>
        </p:spPr>
      </p:sp>
      <p:sp>
        <p:nvSpPr>
          <p:cNvPr id="24" name="Text 20"/>
          <p:cNvSpPr txBox="1"/>
          <p:nvPr/>
        </p:nvSpPr>
        <p:spPr>
          <a:xfrm>
            <a:off x="8158277" y="1737360"/>
            <a:ext cx="1463040" cy="310896"/>
          </a:xfrm>
          <a:prstGeom prst="rect">
            <a:avLst/>
          </a:prstGeom>
          <a:noFill/>
          <a:ln/>
        </p:spPr>
        <p:txBody>
          <a:bodyPr wrap="square" lIns="0" tIns="0" rIns="0" bIns="0" rtlCol="0" anchor="ctr"/>
          <a:lstStyle/>
          <a:p>
            <a:pPr algn="ctr" indent="0" marL="0">
              <a:buNone/>
            </a:pPr>
            <a:r>
              <a:rPr lang="en-US" sz="1050" b="1" dirty="0">
                <a:solidFill>
                  <a:srgbClr val="0077A8"/>
                </a:solidFill>
                <a:latin typeface="Hanken Grotesk" pitchFamily="34" charset="0"/>
                <a:ea typeface="Hanken Grotesk" pitchFamily="34" charset="-122"/>
                <a:cs typeface="Hanken Grotesk" pitchFamily="34" charset="-120"/>
              </a:rPr>
              <a:t>Variant B</a:t>
            </a:r>
            <a:endParaRPr lang="en-US" sz="1050" dirty="0"/>
          </a:p>
        </p:txBody>
      </p:sp>
      <p:sp>
        <p:nvSpPr>
          <p:cNvPr id="25" name="Shape 21"/>
          <p:cNvSpPr/>
          <p:nvPr/>
        </p:nvSpPr>
        <p:spPr>
          <a:xfrm>
            <a:off x="8284663" y="2219605"/>
            <a:ext cx="1464162" cy="3104265"/>
          </a:xfrm>
          <a:prstGeom prst="roundRect">
            <a:avLst>
              <a:gd name="adj" fmla="val 14000"/>
            </a:avLst>
          </a:prstGeom>
          <a:solidFill>
            <a:srgbClr val="ECECEA"/>
          </a:solidFill>
          <a:ln w="9525">
            <a:solidFill>
              <a:srgbClr val="ECECEA"/>
            </a:solidFill>
            <a:prstDash val="solid"/>
          </a:ln>
        </p:spPr>
      </p:sp>
      <p:sp>
        <p:nvSpPr>
          <p:cNvPr id="26" name="Text 22"/>
          <p:cNvSpPr txBox="1"/>
          <p:nvPr/>
        </p:nvSpPr>
        <p:spPr>
          <a:xfrm>
            <a:off x="8376103"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B</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27" name="Image 2" descr="preencoded.png">    </p:cNvPr>
          <p:cNvPicPr>
            <a:picLocks noChangeAspect="1"/>
          </p:cNvPicPr>
          <p:nvPr/>
        </p:nvPicPr>
        <p:blipFill>
          <a:blip r:embed="rId3"/>
          <a:stretch>
            <a:fillRect/>
          </a:stretch>
        </p:blipFill>
        <p:spPr>
          <a:xfrm>
            <a:off x="8203997" y="2148840"/>
            <a:ext cx="1623060" cy="3246120"/>
          </a:xfrm>
          <a:prstGeom prst="rect">
            <a:avLst/>
          </a:prstGeom>
        </p:spPr>
      </p:pic>
      <p:sp>
        <p:nvSpPr>
          <p:cNvPr id="28" name="Text 23"/>
          <p:cNvSpPr txBox="1"/>
          <p:nvPr/>
        </p:nvSpPr>
        <p:spPr>
          <a:xfrm>
            <a:off x="10055657"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a:t>
            </a:r>
            <a:endParaRPr lang="en-US" sz="1350" dirty="0"/>
          </a:p>
        </p:txBody>
      </p:sp>
      <p:sp>
        <p:nvSpPr>
          <p:cNvPr id="29" name="Text 24"/>
          <p:cNvSpPr txBox="1"/>
          <p:nvPr/>
        </p:nvSpPr>
        <p:spPr>
          <a:xfrm>
            <a:off x="10055657" y="3886200"/>
            <a:ext cx="1404518" cy="548640"/>
          </a:xfrm>
          <a:prstGeom prst="rect">
            <a:avLst/>
          </a:prstGeom>
          <a:noFill/>
          <a:ln/>
        </p:spPr>
        <p:txBody>
          <a:bodyPr wrap="square" lIns="0" tIns="0" rIns="0" bIns="0" rtlCol="0" anchor="t"/>
          <a:lstStyle/>
          <a:p>
            <a:pPr indent="0" marL="0">
              <a:buNone/>
            </a:pPr>
            <a:r>
              <a:rPr lang="en-US" sz="2600" b="1" dirty="0">
                <a:solidFill>
                  <a:srgbClr val="0077A8"/>
                </a:solidFill>
                <a:latin typeface="Bricolage Grotesque" pitchFamily="34" charset="0"/>
                <a:ea typeface="Bricolage Grotesque" pitchFamily="34" charset="-122"/>
                <a:cs typeface="Bricolage Grotesque" pitchFamily="34" charset="-120"/>
              </a:rPr>
              <a:t>12.9%</a:t>
            </a:r>
            <a:endParaRPr lang="en-US" sz="2600" dirty="0"/>
          </a:p>
        </p:txBody>
      </p:sp>
      <p:sp>
        <p:nvSpPr>
          <p:cNvPr id="30" name="Text 25"/>
          <p:cNvSpPr txBox="1"/>
          <p:nvPr/>
        </p:nvSpPr>
        <p:spPr>
          <a:xfrm>
            <a:off x="10055657"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+2.7 pts vs control</a:t>
            </a:r>
            <a:endParaRPr lang="en-US" sz="1050" dirty="0"/>
          </a:p>
        </p:txBody>
      </p:sp>
      <p:sp>
        <p:nvSpPr>
          <p:cNvPr id="31" name="Shape 26"/>
          <p:cNvSpPr/>
          <p:nvPr/>
        </p:nvSpPr>
        <p:spPr>
          <a:xfrm>
            <a:off x="457200" y="5577840"/>
            <a:ext cx="11277295" cy="640080"/>
          </a:xfrm>
          <a:prstGeom prst="roundRect">
            <a:avLst>
              <a:gd name="adj" fmla="val 17143"/>
            </a:avLst>
          </a:prstGeom>
          <a:solidFill>
            <a:srgbClr val="ECECEA"/>
          </a:solidFill>
          <a:ln w="9525">
            <a:solidFill>
              <a:srgbClr val="ECECEA"/>
            </a:solidFill>
            <a:prstDash val="solid"/>
          </a:ln>
        </p:spPr>
      </p:sp>
      <p:sp>
        <p:nvSpPr>
          <p:cNvPr id="32" name="Text 27"/>
          <p:cNvSpPr txBox="1"/>
          <p:nvPr/>
        </p:nvSpPr>
        <p:spPr>
          <a:xfrm>
            <a:off x="731520" y="5577840"/>
            <a:ext cx="10728655"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What changed  </a:t>
            </a:r>
            <a:pPr indent="0" marL="0">
              <a:buNone/>
            </a:pPr>
            <a:r>
              <a:rPr lang="en-US" sz="1350" dirty="0">
                <a:solidFill>
                  <a:srgbClr val="63666A"/>
                </a:solidFill>
                <a:latin typeface="Hanken Grotesk" pitchFamily="34" charset="0"/>
                <a:ea typeface="Hanken Grotesk" pitchFamily="34" charset="-122"/>
                <a:cs typeface="Hanken Grotesk" pitchFamily="34" charset="-120"/>
              </a:rPr>
              <a:t>Nostrud exercitation ullamco laboris nisi ut aliquip ex ea commodo consequat duis aute irure dolor in reprehenderit in voluptate velit.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RESULTS · QUALITATIVE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SLD-KPI-TREND-01 · CMP-QUOTE-01 · VIZ-CLUSTER-01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Text 6"/>
          <p:cNvSpPr txBox="1"/>
          <p:nvPr/>
        </p:nvSpPr>
        <p:spPr>
          <a:xfrm>
            <a:off x="731520" y="2057400"/>
            <a:ext cx="3027578"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THEME 1 · 14 mentions</a:t>
            </a:r>
            <a:endParaRPr lang="en-US" sz="1050" dirty="0"/>
          </a:p>
        </p:txBody>
      </p:sp>
      <p:sp>
        <p:nvSpPr>
          <p:cNvPr id="9" name="Text 7"/>
          <p:cNvSpPr txBox="1"/>
          <p:nvPr/>
        </p:nvSpPr>
        <p:spPr>
          <a:xfrm>
            <a:off x="731520" y="2377440"/>
            <a:ext cx="3027578" cy="685800"/>
          </a:xfrm>
          <a:prstGeom prst="rect">
            <a:avLst/>
          </a:prstGeom>
          <a:noFill/>
          <a:ln/>
        </p:spPr>
        <p:txBody>
          <a:bodyPr wrap="square" lIns="0" tIns="0" rIns="0" bIns="0" rtlCol="0" anchor="t"/>
          <a:lstStyle/>
          <a:p>
            <a:pPr indent="0" marL="0">
              <a:buNone/>
            </a:pPr>
            <a:r>
              <a:rPr lang="en-US" sz="1800" b="1" dirty="0">
                <a:solidFill>
                  <a:srgbClr val="222731"/>
                </a:solidFill>
                <a:latin typeface="Bricolage Grotesque" pitchFamily="34" charset="0"/>
                <a:ea typeface="Bricolage Grotesque" pitchFamily="34" charset="-122"/>
                <a:cs typeface="Bricolage Grotesque" pitchFamily="34" charset="-120"/>
              </a:rPr>
              <a:t>Labore et dolore magna aliqua</a:t>
            </a:r>
            <a:endParaRPr lang="en-US" sz="1800" dirty="0"/>
          </a:p>
        </p:txBody>
      </p:sp>
      <p:sp>
        <p:nvSpPr>
          <p:cNvPr id="10" name="Shape 8"/>
          <p:cNvSpPr/>
          <p:nvPr/>
        </p:nvSpPr>
        <p:spPr>
          <a:xfrm>
            <a:off x="731520" y="3246120"/>
            <a:ext cx="3027578" cy="1188720"/>
          </a:xfrm>
          <a:prstGeom prst="roundRect">
            <a:avLst>
              <a:gd name="adj" fmla="val 6154"/>
            </a:avLst>
          </a:prstGeom>
          <a:solidFill>
            <a:srgbClr val="ECECEA"/>
          </a:solidFill>
          <a:ln w="9525">
            <a:solidFill>
              <a:srgbClr val="ECECEA"/>
            </a:solidFill>
            <a:prstDash val="solid"/>
          </a:ln>
        </p:spPr>
      </p:sp>
      <p:sp>
        <p:nvSpPr>
          <p:cNvPr id="11" name="Shape 9"/>
          <p:cNvSpPr/>
          <p:nvPr/>
        </p:nvSpPr>
        <p:spPr>
          <a:xfrm>
            <a:off x="841248" y="3355848"/>
            <a:ext cx="310896" cy="310896"/>
          </a:xfrm>
          <a:prstGeom prst="roundRect">
            <a:avLst>
              <a:gd name="adj" fmla="val 30000"/>
            </a:avLst>
          </a:prstGeom>
          <a:solidFill>
            <a:srgbClr val="E5F5FC"/>
          </a:solidFill>
          <a:ln w="9525">
            <a:solidFill>
              <a:srgbClr val="E5F5FC"/>
            </a:solidFill>
            <a:prstDash val="solid"/>
          </a:ln>
        </p:spPr>
      </p:sp>
      <p:pic>
        <p:nvPicPr>
          <p:cNvPr id="12" name="Image 0" descr="preencoded.png">    </p:cNvPr>
          <p:cNvPicPr>
            <a:picLocks noChangeAspect="1"/>
          </p:cNvPicPr>
          <p:nvPr/>
        </p:nvPicPr>
        <p:blipFill>
          <a:blip r:embed="rId1"/>
          <a:stretch>
            <a:fillRect/>
          </a:stretch>
        </p:blipFill>
        <p:spPr>
          <a:xfrm>
            <a:off x="903427" y="3418027"/>
            <a:ext cx="186538" cy="186538"/>
          </a:xfrm>
          <a:prstGeom prst="rect">
            <a:avLst/>
          </a:prstGeom>
        </p:spPr>
      </p:pic>
      <p:sp>
        <p:nvSpPr>
          <p:cNvPr id="13" name="Text 10"/>
          <p:cNvSpPr txBox="1"/>
          <p:nvPr/>
        </p:nvSpPr>
        <p:spPr>
          <a:xfrm>
            <a:off x="1234440" y="33558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“Elit sed do eiusmod tempor incididunt ut labore et dolore magna aliqua ut enim.”</a:t>
            </a:r>
            <a:endParaRPr lang="en-US" sz="1150" dirty="0"/>
          </a:p>
        </p:txBody>
      </p:sp>
      <p:sp>
        <p:nvSpPr>
          <p:cNvPr id="14" name="Text 11"/>
          <p:cNvSpPr txBox="1"/>
          <p:nvPr/>
        </p:nvSpPr>
        <p:spPr>
          <a:xfrm>
            <a:off x="1234440" y="41422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1 · Segment A</a:t>
            </a:r>
            <a:endParaRPr lang="en-US" sz="950" dirty="0"/>
          </a:p>
        </p:txBody>
      </p:sp>
      <p:sp>
        <p:nvSpPr>
          <p:cNvPr id="15" name="Shape 12"/>
          <p:cNvSpPr/>
          <p:nvPr/>
        </p:nvSpPr>
        <p:spPr>
          <a:xfrm>
            <a:off x="731520" y="4617720"/>
            <a:ext cx="3027578" cy="1188720"/>
          </a:xfrm>
          <a:prstGeom prst="roundRect">
            <a:avLst>
              <a:gd name="adj" fmla="val 6154"/>
            </a:avLst>
          </a:prstGeom>
          <a:solidFill>
            <a:srgbClr val="ECECEA"/>
          </a:solidFill>
          <a:ln w="9525">
            <a:solidFill>
              <a:srgbClr val="ECECEA"/>
            </a:solidFill>
            <a:prstDash val="solid"/>
          </a:ln>
        </p:spPr>
      </p:sp>
      <p:sp>
        <p:nvSpPr>
          <p:cNvPr id="16" name="Shape 13"/>
          <p:cNvSpPr/>
          <p:nvPr/>
        </p:nvSpPr>
        <p:spPr>
          <a:xfrm>
            <a:off x="841248" y="4727448"/>
            <a:ext cx="310896" cy="310896"/>
          </a:xfrm>
          <a:prstGeom prst="roundRect">
            <a:avLst>
              <a:gd name="adj" fmla="val 30000"/>
            </a:avLst>
          </a:prstGeom>
          <a:solidFill>
            <a:srgbClr val="E5F5FC"/>
          </a:solidFill>
          <a:ln w="9525">
            <a:solidFill>
              <a:srgbClr val="E5F5FC"/>
            </a:solidFill>
            <a:prstDash val="solid"/>
          </a:ln>
        </p:spPr>
      </p:sp>
      <p:pic>
        <p:nvPicPr>
          <p:cNvPr id="17" name="Image 1" descr="preencoded.png">    </p:cNvPr>
          <p:cNvPicPr>
            <a:picLocks noChangeAspect="1"/>
          </p:cNvPicPr>
          <p:nvPr/>
        </p:nvPicPr>
        <p:blipFill>
          <a:blip r:embed="rId2"/>
          <a:stretch>
            <a:fillRect/>
          </a:stretch>
        </p:blipFill>
        <p:spPr>
          <a:xfrm>
            <a:off x="903427" y="4789627"/>
            <a:ext cx="186538" cy="186538"/>
          </a:xfrm>
          <a:prstGeom prst="rect">
            <a:avLst/>
          </a:prstGeom>
        </p:spPr>
      </p:pic>
      <p:sp>
        <p:nvSpPr>
          <p:cNvPr id="18" name="Text 14"/>
          <p:cNvSpPr txBox="1"/>
          <p:nvPr/>
        </p:nvSpPr>
        <p:spPr>
          <a:xfrm>
            <a:off x="1234440" y="47274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a:t>
            </a:r>
            <a:endParaRPr lang="en-US" sz="1150" dirty="0"/>
          </a:p>
        </p:txBody>
      </p:sp>
      <p:sp>
        <p:nvSpPr>
          <p:cNvPr id="19" name="Text 15"/>
          <p:cNvSpPr txBox="1"/>
          <p:nvPr/>
        </p:nvSpPr>
        <p:spPr>
          <a:xfrm>
            <a:off x="1234440" y="55138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2 · Segment B</a:t>
            </a:r>
            <a:endParaRPr lang="en-US" sz="950" dirty="0"/>
          </a:p>
        </p:txBody>
      </p:sp>
      <p:sp>
        <p:nvSpPr>
          <p:cNvPr id="20" name="Shape 16"/>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21" name="Text 17"/>
          <p:cNvSpPr txBox="1"/>
          <p:nvPr/>
        </p:nvSpPr>
        <p:spPr>
          <a:xfrm>
            <a:off x="4582058" y="2057400"/>
            <a:ext cx="3027578" cy="274320"/>
          </a:xfrm>
          <a:prstGeom prst="rect">
            <a:avLst/>
          </a:prstGeom>
          <a:noFill/>
          <a:ln/>
        </p:spPr>
        <p:txBody>
          <a:bodyPr wrap="square" lIns="0" tIns="0" rIns="0" bIns="0" rtlCol="0" anchor="t"/>
          <a:lstStyle/>
          <a:p>
            <a:pPr indent="0" marL="0">
              <a:buNone/>
            </a:pPr>
            <a:r>
              <a:rPr lang="en-US" sz="1050" b="1" spc="100" kern="0" dirty="0">
                <a:solidFill>
                  <a:srgbClr val="009CDE"/>
                </a:solidFill>
                <a:latin typeface="Hanken Grotesk" pitchFamily="34" charset="0"/>
                <a:ea typeface="Hanken Grotesk" pitchFamily="34" charset="-122"/>
                <a:cs typeface="Hanken Grotesk" pitchFamily="34" charset="-120"/>
              </a:rPr>
              <a:t>THEME 2 · 9 mentions</a:t>
            </a:r>
            <a:endParaRPr lang="en-US" sz="1050" dirty="0"/>
          </a:p>
        </p:txBody>
      </p:sp>
      <p:sp>
        <p:nvSpPr>
          <p:cNvPr id="22" name="Text 18"/>
          <p:cNvSpPr txBox="1"/>
          <p:nvPr/>
        </p:nvSpPr>
        <p:spPr>
          <a:xfrm>
            <a:off x="4582058" y="2377440"/>
            <a:ext cx="3027578" cy="685800"/>
          </a:xfrm>
          <a:prstGeom prst="rect">
            <a:avLst/>
          </a:prstGeom>
          <a:noFill/>
          <a:ln/>
        </p:spPr>
        <p:txBody>
          <a:bodyPr wrap="square" lIns="0" tIns="0" rIns="0" bIns="0" rtlCol="0" anchor="t"/>
          <a:lstStyle/>
          <a:p>
            <a:pPr indent="0" marL="0">
              <a:buNone/>
            </a:pPr>
            <a:r>
              <a:rPr lang="en-US" sz="1800" b="1" dirty="0">
                <a:solidFill>
                  <a:srgbClr val="222731"/>
                </a:solidFill>
                <a:latin typeface="Bricolage Grotesque" pitchFamily="34" charset="0"/>
                <a:ea typeface="Bricolage Grotesque" pitchFamily="34" charset="-122"/>
                <a:cs typeface="Bricolage Grotesque" pitchFamily="34" charset="-120"/>
              </a:rPr>
              <a:t>Non proident sunt in culpa</a:t>
            </a:r>
            <a:endParaRPr lang="en-US" sz="1800" dirty="0"/>
          </a:p>
        </p:txBody>
      </p:sp>
      <p:sp>
        <p:nvSpPr>
          <p:cNvPr id="23" name="Shape 19"/>
          <p:cNvSpPr/>
          <p:nvPr/>
        </p:nvSpPr>
        <p:spPr>
          <a:xfrm>
            <a:off x="4582058" y="3246120"/>
            <a:ext cx="3027578" cy="1188720"/>
          </a:xfrm>
          <a:prstGeom prst="roundRect">
            <a:avLst>
              <a:gd name="adj" fmla="val 6154"/>
            </a:avLst>
          </a:prstGeom>
          <a:solidFill>
            <a:srgbClr val="ECECEA"/>
          </a:solidFill>
          <a:ln w="9525">
            <a:solidFill>
              <a:srgbClr val="ECECEA"/>
            </a:solidFill>
            <a:prstDash val="solid"/>
          </a:ln>
        </p:spPr>
      </p:sp>
      <p:sp>
        <p:nvSpPr>
          <p:cNvPr id="24" name="Shape 20"/>
          <p:cNvSpPr/>
          <p:nvPr/>
        </p:nvSpPr>
        <p:spPr>
          <a:xfrm>
            <a:off x="4691786" y="3355848"/>
            <a:ext cx="310896" cy="310896"/>
          </a:xfrm>
          <a:prstGeom prst="roundRect">
            <a:avLst>
              <a:gd name="adj" fmla="val 30000"/>
            </a:avLst>
          </a:prstGeom>
          <a:solidFill>
            <a:srgbClr val="E5F5FC"/>
          </a:solidFill>
          <a:ln w="9525">
            <a:solidFill>
              <a:srgbClr val="E5F5FC"/>
            </a:solidFill>
            <a:prstDash val="solid"/>
          </a:ln>
        </p:spPr>
      </p:sp>
      <p:pic>
        <p:nvPicPr>
          <p:cNvPr id="25" name="Image 2" descr="preencoded.png">    </p:cNvPr>
          <p:cNvPicPr>
            <a:picLocks noChangeAspect="1"/>
          </p:cNvPicPr>
          <p:nvPr/>
        </p:nvPicPr>
        <p:blipFill>
          <a:blip r:embed="rId3"/>
          <a:stretch>
            <a:fillRect/>
          </a:stretch>
        </p:blipFill>
        <p:spPr>
          <a:xfrm>
            <a:off x="4753966" y="3418027"/>
            <a:ext cx="186538" cy="186538"/>
          </a:xfrm>
          <a:prstGeom prst="rect">
            <a:avLst/>
          </a:prstGeom>
        </p:spPr>
      </p:pic>
      <p:sp>
        <p:nvSpPr>
          <p:cNvPr id="26" name="Text 21"/>
          <p:cNvSpPr txBox="1"/>
          <p:nvPr/>
        </p:nvSpPr>
        <p:spPr>
          <a:xfrm>
            <a:off x="5084978" y="33558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“In voluptate velit esse cillum dolore eu fugiat nulla pariatur excepteur sint occaecat cupidatat.”</a:t>
            </a:r>
            <a:endParaRPr lang="en-US" sz="1150" dirty="0"/>
          </a:p>
        </p:txBody>
      </p:sp>
      <p:sp>
        <p:nvSpPr>
          <p:cNvPr id="27" name="Text 22"/>
          <p:cNvSpPr txBox="1"/>
          <p:nvPr/>
        </p:nvSpPr>
        <p:spPr>
          <a:xfrm>
            <a:off x="5084978" y="41422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3 · Segment B</a:t>
            </a:r>
            <a:endParaRPr lang="en-US" sz="950" dirty="0"/>
          </a:p>
        </p:txBody>
      </p:sp>
      <p:sp>
        <p:nvSpPr>
          <p:cNvPr id="28" name="Shape 23"/>
          <p:cNvSpPr/>
          <p:nvPr/>
        </p:nvSpPr>
        <p:spPr>
          <a:xfrm>
            <a:off x="4582058" y="4617720"/>
            <a:ext cx="3027578" cy="1188720"/>
          </a:xfrm>
          <a:prstGeom prst="roundRect">
            <a:avLst>
              <a:gd name="adj" fmla="val 6154"/>
            </a:avLst>
          </a:prstGeom>
          <a:solidFill>
            <a:srgbClr val="ECECEA"/>
          </a:solidFill>
          <a:ln w="9525">
            <a:solidFill>
              <a:srgbClr val="ECECEA"/>
            </a:solidFill>
            <a:prstDash val="solid"/>
          </a:ln>
        </p:spPr>
      </p:sp>
      <p:sp>
        <p:nvSpPr>
          <p:cNvPr id="29" name="Shape 24"/>
          <p:cNvSpPr/>
          <p:nvPr/>
        </p:nvSpPr>
        <p:spPr>
          <a:xfrm>
            <a:off x="4691786" y="4727448"/>
            <a:ext cx="310896" cy="310896"/>
          </a:xfrm>
          <a:prstGeom prst="roundRect">
            <a:avLst>
              <a:gd name="adj" fmla="val 30000"/>
            </a:avLst>
          </a:prstGeom>
          <a:solidFill>
            <a:srgbClr val="E5F5FC"/>
          </a:solidFill>
          <a:ln w="9525">
            <a:solidFill>
              <a:srgbClr val="E5F5FC"/>
            </a:solidFill>
            <a:prstDash val="solid"/>
          </a:ln>
        </p:spPr>
      </p:sp>
      <p:pic>
        <p:nvPicPr>
          <p:cNvPr id="30" name="Image 3" descr="preencoded.png">    </p:cNvPr>
          <p:cNvPicPr>
            <a:picLocks noChangeAspect="1"/>
          </p:cNvPicPr>
          <p:nvPr/>
        </p:nvPicPr>
        <p:blipFill>
          <a:blip r:embed="rId4"/>
          <a:stretch>
            <a:fillRect/>
          </a:stretch>
        </p:blipFill>
        <p:spPr>
          <a:xfrm>
            <a:off x="4753966" y="4789627"/>
            <a:ext cx="186538" cy="186538"/>
          </a:xfrm>
          <a:prstGeom prst="rect">
            <a:avLst/>
          </a:prstGeom>
        </p:spPr>
      </p:pic>
      <p:sp>
        <p:nvSpPr>
          <p:cNvPr id="31" name="Text 25"/>
          <p:cNvSpPr txBox="1"/>
          <p:nvPr/>
        </p:nvSpPr>
        <p:spPr>
          <a:xfrm>
            <a:off x="5084978" y="47274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“Deserunt mollit anim id est laborum curabitur pretium tincidunt lacus nulla gravida orci a.”</a:t>
            </a:r>
            <a:endParaRPr lang="en-US" sz="1150" dirty="0"/>
          </a:p>
        </p:txBody>
      </p:sp>
      <p:sp>
        <p:nvSpPr>
          <p:cNvPr id="32" name="Text 26"/>
          <p:cNvSpPr txBox="1"/>
          <p:nvPr/>
        </p:nvSpPr>
        <p:spPr>
          <a:xfrm>
            <a:off x="5084978" y="55138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4 · Segment C</a:t>
            </a:r>
            <a:endParaRPr lang="en-US" sz="950" dirty="0"/>
          </a:p>
        </p:txBody>
      </p:sp>
      <p:sp>
        <p:nvSpPr>
          <p:cNvPr id="33" name="Shape 27"/>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34" name="Text 28"/>
          <p:cNvSpPr txBox="1"/>
          <p:nvPr/>
        </p:nvSpPr>
        <p:spPr>
          <a:xfrm>
            <a:off x="8432597" y="2057400"/>
            <a:ext cx="3027578" cy="274320"/>
          </a:xfrm>
          <a:prstGeom prst="rect">
            <a:avLst/>
          </a:prstGeom>
          <a:noFill/>
          <a:ln/>
        </p:spPr>
        <p:txBody>
          <a:bodyPr wrap="square" lIns="0" tIns="0" rIns="0" bIns="0" rtlCol="0" anchor="t"/>
          <a:lstStyle/>
          <a:p>
            <a:pPr indent="0" marL="0">
              <a:buNone/>
            </a:pPr>
            <a:r>
              <a:rPr lang="en-US" sz="1050" b="1" spc="100" kern="0" dirty="0">
                <a:solidFill>
                  <a:srgbClr val="E56A54"/>
                </a:solidFill>
                <a:latin typeface="Hanken Grotesk" pitchFamily="34" charset="0"/>
                <a:ea typeface="Hanken Grotesk" pitchFamily="34" charset="-122"/>
                <a:cs typeface="Hanken Grotesk" pitchFamily="34" charset="-120"/>
              </a:rPr>
              <a:t>THEME 3 · 6 mentions</a:t>
            </a:r>
            <a:endParaRPr lang="en-US" sz="1050" dirty="0"/>
          </a:p>
        </p:txBody>
      </p:sp>
      <p:sp>
        <p:nvSpPr>
          <p:cNvPr id="35" name="Text 29"/>
          <p:cNvSpPr txBox="1"/>
          <p:nvPr/>
        </p:nvSpPr>
        <p:spPr>
          <a:xfrm>
            <a:off x="8432597" y="2377440"/>
            <a:ext cx="3027578" cy="685800"/>
          </a:xfrm>
          <a:prstGeom prst="rect">
            <a:avLst/>
          </a:prstGeom>
          <a:noFill/>
          <a:ln/>
        </p:spPr>
        <p:txBody>
          <a:bodyPr wrap="square" lIns="0" tIns="0" rIns="0" bIns="0" rtlCol="0" anchor="t"/>
          <a:lstStyle/>
          <a:p>
            <a:pPr indent="0" marL="0">
              <a:buNone/>
            </a:pPr>
            <a:r>
              <a:rPr lang="en-US" sz="1800" b="1" dirty="0">
                <a:solidFill>
                  <a:srgbClr val="222731"/>
                </a:solidFill>
                <a:latin typeface="Bricolage Grotesque" pitchFamily="34" charset="0"/>
                <a:ea typeface="Bricolage Grotesque" pitchFamily="34" charset="-122"/>
                <a:cs typeface="Bricolage Grotesque" pitchFamily="34" charset="-120"/>
              </a:rPr>
              <a:t>Nibh euismod gravida lorem ipsum</a:t>
            </a:r>
            <a:endParaRPr lang="en-US" sz="1800" dirty="0"/>
          </a:p>
        </p:txBody>
      </p:sp>
      <p:sp>
        <p:nvSpPr>
          <p:cNvPr id="36" name="Shape 30"/>
          <p:cNvSpPr/>
          <p:nvPr/>
        </p:nvSpPr>
        <p:spPr>
          <a:xfrm>
            <a:off x="8432597" y="3246120"/>
            <a:ext cx="3027578" cy="1188720"/>
          </a:xfrm>
          <a:prstGeom prst="roundRect">
            <a:avLst>
              <a:gd name="adj" fmla="val 6154"/>
            </a:avLst>
          </a:prstGeom>
          <a:solidFill>
            <a:srgbClr val="ECECEA"/>
          </a:solidFill>
          <a:ln w="9525">
            <a:solidFill>
              <a:srgbClr val="ECECEA"/>
            </a:solidFill>
            <a:prstDash val="solid"/>
          </a:ln>
        </p:spPr>
      </p:sp>
      <p:sp>
        <p:nvSpPr>
          <p:cNvPr id="37" name="Shape 31"/>
          <p:cNvSpPr/>
          <p:nvPr/>
        </p:nvSpPr>
        <p:spPr>
          <a:xfrm>
            <a:off x="8542325" y="3355848"/>
            <a:ext cx="310896" cy="310896"/>
          </a:xfrm>
          <a:prstGeom prst="roundRect">
            <a:avLst>
              <a:gd name="adj" fmla="val 30000"/>
            </a:avLst>
          </a:prstGeom>
          <a:solidFill>
            <a:srgbClr val="E5F5FC"/>
          </a:solidFill>
          <a:ln w="9525">
            <a:solidFill>
              <a:srgbClr val="E5F5FC"/>
            </a:solidFill>
            <a:prstDash val="solid"/>
          </a:ln>
        </p:spPr>
      </p:sp>
      <p:pic>
        <p:nvPicPr>
          <p:cNvPr id="38" name="Image 4" descr="preencoded.png">    </p:cNvPr>
          <p:cNvPicPr>
            <a:picLocks noChangeAspect="1"/>
          </p:cNvPicPr>
          <p:nvPr/>
        </p:nvPicPr>
        <p:blipFill>
          <a:blip r:embed="rId5"/>
          <a:stretch>
            <a:fillRect/>
          </a:stretch>
        </p:blipFill>
        <p:spPr>
          <a:xfrm>
            <a:off x="8604504" y="3418027"/>
            <a:ext cx="186538" cy="186538"/>
          </a:xfrm>
          <a:prstGeom prst="rect">
            <a:avLst/>
          </a:prstGeom>
        </p:spPr>
      </p:pic>
      <p:sp>
        <p:nvSpPr>
          <p:cNvPr id="39" name="Text 32"/>
          <p:cNvSpPr txBox="1"/>
          <p:nvPr/>
        </p:nvSpPr>
        <p:spPr>
          <a:xfrm>
            <a:off x="8935517" y="33558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“Odio nullam varius turpis et commodo pharetra est eros bibendum elit nec luctus magna.”</a:t>
            </a:r>
            <a:endParaRPr lang="en-US" sz="1150" dirty="0"/>
          </a:p>
        </p:txBody>
      </p:sp>
      <p:sp>
        <p:nvSpPr>
          <p:cNvPr id="40" name="Text 33"/>
          <p:cNvSpPr txBox="1"/>
          <p:nvPr/>
        </p:nvSpPr>
        <p:spPr>
          <a:xfrm>
            <a:off x="8935517" y="41422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5 · Segment C</a:t>
            </a:r>
            <a:endParaRPr lang="en-US" sz="950" dirty="0"/>
          </a:p>
        </p:txBody>
      </p:sp>
      <p:sp>
        <p:nvSpPr>
          <p:cNvPr id="41" name="Shape 34"/>
          <p:cNvSpPr/>
          <p:nvPr/>
        </p:nvSpPr>
        <p:spPr>
          <a:xfrm>
            <a:off x="8432597" y="4617720"/>
            <a:ext cx="3027578" cy="1188720"/>
          </a:xfrm>
          <a:prstGeom prst="roundRect">
            <a:avLst>
              <a:gd name="adj" fmla="val 6154"/>
            </a:avLst>
          </a:prstGeom>
          <a:solidFill>
            <a:srgbClr val="ECECEA"/>
          </a:solidFill>
          <a:ln w="9525">
            <a:solidFill>
              <a:srgbClr val="ECECEA"/>
            </a:solidFill>
            <a:prstDash val="solid"/>
          </a:ln>
        </p:spPr>
      </p:sp>
      <p:sp>
        <p:nvSpPr>
          <p:cNvPr id="42" name="Shape 35"/>
          <p:cNvSpPr/>
          <p:nvPr/>
        </p:nvSpPr>
        <p:spPr>
          <a:xfrm>
            <a:off x="8542325" y="4727448"/>
            <a:ext cx="310896" cy="310896"/>
          </a:xfrm>
          <a:prstGeom prst="roundRect">
            <a:avLst>
              <a:gd name="adj" fmla="val 30000"/>
            </a:avLst>
          </a:prstGeom>
          <a:solidFill>
            <a:srgbClr val="E5F5FC"/>
          </a:solidFill>
          <a:ln w="9525">
            <a:solidFill>
              <a:srgbClr val="E5F5FC"/>
            </a:solidFill>
            <a:prstDash val="solid"/>
          </a:ln>
        </p:spPr>
      </p:sp>
      <p:pic>
        <p:nvPicPr>
          <p:cNvPr id="43" name="Image 5" descr="preencoded.png">    </p:cNvPr>
          <p:cNvPicPr>
            <a:picLocks noChangeAspect="1"/>
          </p:cNvPicPr>
          <p:nvPr/>
        </p:nvPicPr>
        <p:blipFill>
          <a:blip r:embed="rId6"/>
          <a:stretch>
            <a:fillRect/>
          </a:stretch>
        </p:blipFill>
        <p:spPr>
          <a:xfrm>
            <a:off x="8604504" y="4789627"/>
            <a:ext cx="186538" cy="186538"/>
          </a:xfrm>
          <a:prstGeom prst="rect">
            <a:avLst/>
          </a:prstGeom>
        </p:spPr>
      </p:pic>
      <p:sp>
        <p:nvSpPr>
          <p:cNvPr id="44" name="Text 36"/>
          <p:cNvSpPr txBox="1"/>
          <p:nvPr/>
        </p:nvSpPr>
        <p:spPr>
          <a:xfrm>
            <a:off x="8935517" y="4727448"/>
            <a:ext cx="2387498" cy="777240"/>
          </a:xfrm>
          <a:prstGeom prst="rect">
            <a:avLst/>
          </a:prstGeom>
          <a:noFill/>
          <a:ln/>
        </p:spPr>
        <p:txBody>
          <a:bodyPr wrap="square" lIns="0" tIns="0" rIns="0" bIns="0" rtlCol="0" anchor="t"/>
          <a:lstStyle/>
          <a:p>
            <a:pPr indent="0" marL="0">
              <a:buNone/>
            </a:pPr>
            <a:r>
              <a:rPr lang="en-US" sz="1150" dirty="0">
                <a:solidFill>
                  <a:srgbClr val="222731"/>
                </a:solidFill>
                <a:latin typeface="Hanken Grotesk" pitchFamily="34" charset="0"/>
                <a:ea typeface="Hanken Grotesk" pitchFamily="34" charset="-122"/>
                <a:cs typeface="Hanken Grotesk" pitchFamily="34" charset="-120"/>
              </a:rPr>
              <a:t>“Nibh euismod gravida lorem ipsum dolor sit amet consectetur adipiscing elit sed do eiusmod.”</a:t>
            </a:r>
            <a:endParaRPr lang="en-US" sz="1150" dirty="0"/>
          </a:p>
        </p:txBody>
      </p:sp>
      <p:sp>
        <p:nvSpPr>
          <p:cNvPr id="45" name="Text 37"/>
          <p:cNvSpPr txBox="1"/>
          <p:nvPr/>
        </p:nvSpPr>
        <p:spPr>
          <a:xfrm>
            <a:off x="8935517" y="5513832"/>
            <a:ext cx="2387498" cy="228600"/>
          </a:xfrm>
          <a:prstGeom prst="rect">
            <a:avLst/>
          </a:prstGeom>
          <a:noFill/>
          <a:ln/>
        </p:spPr>
        <p:txBody>
          <a:bodyPr wrap="square" lIns="0" tIns="0" rIns="0" bIns="0" rtlCol="0" anchor="t"/>
          <a:lstStyle/>
          <a:p>
            <a:pPr indent="0" marL="0">
              <a:buNone/>
            </a:pPr>
            <a:r>
              <a:rPr lang="en-US" sz="950" dirty="0">
                <a:solidFill>
                  <a:srgbClr val="63666A"/>
                </a:solidFill>
                <a:latin typeface="Hanken Grotesk" pitchFamily="34" charset="0"/>
                <a:ea typeface="Hanken Grotesk" pitchFamily="34" charset="-122"/>
                <a:cs typeface="Hanken Grotesk" pitchFamily="34" charset="-120"/>
              </a:rPr>
              <a:t>Participant 6 · Segment C</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WHAT WE LEARNED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SLD-3COL-01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77240" y="2103120"/>
            <a:ext cx="658368" cy="658368"/>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908914" y="2234794"/>
            <a:ext cx="395021" cy="395021"/>
          </a:xfrm>
          <a:prstGeom prst="rect">
            <a:avLst/>
          </a:prstGeom>
        </p:spPr>
      </p:pic>
      <p:sp>
        <p:nvSpPr>
          <p:cNvPr id="10" name="Text 7"/>
          <p:cNvSpPr txBox="1"/>
          <p:nvPr/>
        </p:nvSpPr>
        <p:spPr>
          <a:xfrm>
            <a:off x="777240"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1</a:t>
            </a:r>
            <a:endParaRPr lang="en-US" sz="1050" dirty="0"/>
          </a:p>
        </p:txBody>
      </p:sp>
      <p:sp>
        <p:nvSpPr>
          <p:cNvPr id="11" name="Text 8"/>
          <p:cNvSpPr txBox="1"/>
          <p:nvPr/>
        </p:nvSpPr>
        <p:spPr>
          <a:xfrm>
            <a:off x="777240"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Varius turpis et commodo</a:t>
            </a:r>
            <a:endParaRPr lang="en-US" sz="2000" dirty="0"/>
          </a:p>
        </p:txBody>
      </p:sp>
      <p:sp>
        <p:nvSpPr>
          <p:cNvPr id="12" name="Text 9"/>
          <p:cNvSpPr txBox="1"/>
          <p:nvPr/>
        </p:nvSpPr>
        <p:spPr>
          <a:xfrm>
            <a:off x="777240"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Pharetra est eros bibendum elit nec luctus magna felis sollicitudin mauris integer in mauris eu nibh euismod gravida lorem ipsum dolor sit amet consectetur adipiscing elit sed do eiusmod tempor.</a:t>
            </a:r>
            <a:endParaRPr lang="en-US" sz="1350" dirty="0"/>
          </a:p>
        </p:txBody>
      </p:sp>
      <p:sp>
        <p:nvSpPr>
          <p:cNvPr id="13" name="Shape 10"/>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4" name="Shape 11"/>
          <p:cNvSpPr/>
          <p:nvPr/>
        </p:nvSpPr>
        <p:spPr>
          <a:xfrm>
            <a:off x="4627778" y="2103120"/>
            <a:ext cx="658368" cy="658368"/>
          </a:xfrm>
          <a:prstGeom prst="roundRect">
            <a:avLst>
              <a:gd name="adj" fmla="val 30000"/>
            </a:avLst>
          </a:prstGeom>
          <a:solidFill>
            <a:srgbClr val="E5F5FC"/>
          </a:solidFill>
          <a:ln w="9525">
            <a:solidFill>
              <a:srgbClr val="E5F5FC"/>
            </a:solidFill>
            <a:prstDash val="solid"/>
          </a:ln>
        </p:spPr>
      </p:sp>
      <p:pic>
        <p:nvPicPr>
          <p:cNvPr id="15" name="Image 1" descr="preencoded.png">    </p:cNvPr>
          <p:cNvPicPr>
            <a:picLocks noChangeAspect="1"/>
          </p:cNvPicPr>
          <p:nvPr/>
        </p:nvPicPr>
        <p:blipFill>
          <a:blip r:embed="rId2"/>
          <a:stretch>
            <a:fillRect/>
          </a:stretch>
        </p:blipFill>
        <p:spPr>
          <a:xfrm>
            <a:off x="4759452" y="2234794"/>
            <a:ext cx="395021" cy="395021"/>
          </a:xfrm>
          <a:prstGeom prst="rect">
            <a:avLst/>
          </a:prstGeom>
        </p:spPr>
      </p:pic>
      <p:sp>
        <p:nvSpPr>
          <p:cNvPr id="16" name="Text 12"/>
          <p:cNvSpPr txBox="1"/>
          <p:nvPr/>
        </p:nvSpPr>
        <p:spPr>
          <a:xfrm>
            <a:off x="4627778"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2</a:t>
            </a:r>
            <a:endParaRPr lang="en-US" sz="1050" dirty="0"/>
          </a:p>
        </p:txBody>
      </p:sp>
      <p:sp>
        <p:nvSpPr>
          <p:cNvPr id="17" name="Text 13"/>
          <p:cNvSpPr txBox="1"/>
          <p:nvPr/>
        </p:nvSpPr>
        <p:spPr>
          <a:xfrm>
            <a:off x="4627778"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Ut labore et dolore</a:t>
            </a:r>
            <a:endParaRPr lang="en-US" sz="2000" dirty="0"/>
          </a:p>
        </p:txBody>
      </p:sp>
      <p:sp>
        <p:nvSpPr>
          <p:cNvPr id="18" name="Text 14"/>
          <p:cNvSpPr txBox="1"/>
          <p:nvPr/>
        </p:nvSpPr>
        <p:spPr>
          <a:xfrm>
            <a:off x="4627778"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Eiusmod tempor incididunt ut labore et dolore magna aliqua ut enim ad minim veniam quis nostrud exercitation ullamco laboris nisi ut aliquip ex ea commodo consequat duis aute irure dolor.</a:t>
            </a:r>
            <a:endParaRPr lang="en-US" sz="1350" dirty="0"/>
          </a:p>
        </p:txBody>
      </p:sp>
      <p:sp>
        <p:nvSpPr>
          <p:cNvPr id="19" name="Shape 1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0" name="Shape 16"/>
          <p:cNvSpPr/>
          <p:nvPr/>
        </p:nvSpPr>
        <p:spPr>
          <a:xfrm>
            <a:off x="8478317" y="2103120"/>
            <a:ext cx="658368" cy="658368"/>
          </a:xfrm>
          <a:prstGeom prst="roundRect">
            <a:avLst>
              <a:gd name="adj" fmla="val 30000"/>
            </a:avLst>
          </a:prstGeom>
          <a:solidFill>
            <a:srgbClr val="E5F5FC"/>
          </a:solidFill>
          <a:ln w="9525">
            <a:solidFill>
              <a:srgbClr val="E5F5FC"/>
            </a:solidFill>
            <a:prstDash val="solid"/>
          </a:ln>
        </p:spPr>
      </p:sp>
      <p:pic>
        <p:nvPicPr>
          <p:cNvPr id="21" name="Image 2" descr="preencoded.png">    </p:cNvPr>
          <p:cNvPicPr>
            <a:picLocks noChangeAspect="1"/>
          </p:cNvPicPr>
          <p:nvPr/>
        </p:nvPicPr>
        <p:blipFill>
          <a:blip r:embed="rId3"/>
          <a:stretch>
            <a:fillRect/>
          </a:stretch>
        </p:blipFill>
        <p:spPr>
          <a:xfrm>
            <a:off x="8609990" y="2234794"/>
            <a:ext cx="395021" cy="395021"/>
          </a:xfrm>
          <a:prstGeom prst="rect">
            <a:avLst/>
          </a:prstGeom>
        </p:spPr>
      </p:pic>
      <p:sp>
        <p:nvSpPr>
          <p:cNvPr id="22" name="Text 17"/>
          <p:cNvSpPr txBox="1"/>
          <p:nvPr/>
        </p:nvSpPr>
        <p:spPr>
          <a:xfrm>
            <a:off x="8478317"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3</a:t>
            </a:r>
            <a:endParaRPr lang="en-US" sz="1050" dirty="0"/>
          </a:p>
        </p:txBody>
      </p:sp>
      <p:sp>
        <p:nvSpPr>
          <p:cNvPr id="23" name="Text 18"/>
          <p:cNvSpPr txBox="1"/>
          <p:nvPr/>
        </p:nvSpPr>
        <p:spPr>
          <a:xfrm>
            <a:off x="8478317"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Eu fugiat nulla pariatur</a:t>
            </a:r>
            <a:endParaRPr lang="en-US" sz="2000" dirty="0"/>
          </a:p>
        </p:txBody>
      </p:sp>
      <p:sp>
        <p:nvSpPr>
          <p:cNvPr id="24" name="Text 19"/>
          <p:cNvSpPr txBox="1"/>
          <p:nvPr/>
        </p:nvSpPr>
        <p:spPr>
          <a:xfrm>
            <a:off x="8478317"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Irure dolor in reprehenderit in voluptate velit esse cillum dolore eu fugiat nulla pariatur excepteur sint occaecat cupidatat non proident sunt in culpa qui officia deserunt mollit anim id est.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IMPLICATIONS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Qualitative / feedback</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11</a:t>
            </a:r>
            <a:endParaRPr lang="en-US" sz="1050" dirty="0"/>
          </a:p>
        </p:txBody>
      </p:sp>
      <p:sp>
        <p:nvSpPr>
          <p:cNvPr id="7" name="Shape 5"/>
          <p:cNvSpPr/>
          <p:nvPr/>
        </p:nvSpPr>
        <p:spPr>
          <a:xfrm>
            <a:off x="457200" y="1783080"/>
            <a:ext cx="3383280" cy="4343400"/>
          </a:xfrm>
          <a:prstGeom prst="roundRect">
            <a:avLst>
              <a:gd name="adj" fmla="val 3243"/>
            </a:avLst>
          </a:prstGeom>
          <a:solidFill>
            <a:srgbClr val="002A3A"/>
          </a:solidFill>
          <a:ln w="9525">
            <a:solidFill>
              <a:srgbClr val="002A3A"/>
            </a:solidFill>
            <a:prstDash val="solid"/>
          </a:ln>
        </p:spPr>
      </p:sp>
      <p:sp>
        <p:nvSpPr>
          <p:cNvPr id="8" name="Shape 6"/>
          <p:cNvSpPr/>
          <p:nvPr/>
        </p:nvSpPr>
        <p:spPr>
          <a:xfrm>
            <a:off x="777240" y="2103120"/>
            <a:ext cx="1828800" cy="365760"/>
          </a:xfrm>
          <a:prstGeom prst="roundRect">
            <a:avLst>
              <a:gd name="adj" fmla="val 20000"/>
            </a:avLst>
          </a:prstGeom>
          <a:solidFill>
            <a:srgbClr val="64CCC9"/>
          </a:solidFill>
          <a:ln w="9525">
            <a:solidFill>
              <a:srgbClr val="64CCC9"/>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Readout · Qualitative / feedback — template</dc:title>
  <dc:subject>PptxGenJS Presentation</dc:subject>
  <dc:creator>CX Presentation System</dc:creator>
  <cp:lastModifiedBy>CX Presentation System</cp:lastModifiedBy>
  <cp:revision>1</cp:revision>
  <dcterms:created xsi:type="dcterms:W3CDTF">2026-09-26T00:59:38Z</dcterms:created>
  <dcterms:modified xsi:type="dcterms:W3CDTF">2026-09-26T00:59:38Z</dcterms:modified>
</cp:coreProperties>
</file>